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2" r:id="rId7"/>
    <p:sldId id="261" r:id="rId8"/>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9007" autoAdjust="0"/>
  </p:normalViewPr>
  <p:slideViewPr>
    <p:cSldViewPr snapToGrid="0" snapToObjects="1">
      <p:cViewPr>
        <p:scale>
          <a:sx n="75" d="100"/>
          <a:sy n="75" d="100"/>
        </p:scale>
        <p:origin x="1666" y="-35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7097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dirty="0"/>
              <a:t>Guten Abend. Ich präsentiere meine Modulararbeit II: STT-DB, eine relationale Datenbank für zentrale Bereiche von Swiss Table Tennis. </a:t>
            </a:r>
          </a:p>
          <a:p>
            <a:r>
              <a:rPr lang="de-CH" dirty="0"/>
              <a:t>Der Fokus liegt nicht auf einer Benutzeroberfläche, sondern auf dem Datenbankkern: Datenmodell, Datenintegrität, Geschäftslogik, Tests, Rebuild und Demo. </a:t>
            </a:r>
          </a:p>
          <a:p>
            <a:r>
              <a:rPr lang="de-CH" dirty="0"/>
              <a:t>Der finale Stand umfasst 39 Tabellen, 5 Views, 6 Stored Procedures, 5 Seed-Skripte und 2 Demo-Skripte. </a:t>
            </a:r>
          </a:p>
          <a:p>
            <a:r>
              <a:rPr lang="de-CH" dirty="0"/>
              <a:t>Die Präsentation ist bewusst kurz gehalten, weil Präsentation und Demo zusammen maximal 10 Minuten dauern dürfen.</a:t>
            </a:r>
          </a:p>
        </p:txBody>
      </p:sp>
      <p:sp>
        <p:nvSpPr>
          <p:cNvPr id="4" name="Slide Number Placeholder 3"/>
          <p:cNvSpPr>
            <a:spLocks noGrp="1"/>
          </p:cNvSpPr>
          <p:nvPr>
            <p:ph type="sldNum" sz="quarter" idx="10"/>
          </p:nvPr>
        </p:nvSpPr>
        <p:spPr/>
        <p:txBody>
          <a:bodyPr/>
          <a:lstStyle/>
          <a:p>
            <a:fld id="{F7021451-1387-4CA6-816F-3879F97B5CBC}" type="slidenum">
              <a:rPr lang="de-CH"/>
              <a:t>1</a:t>
            </a:fld>
            <a:endParaRPr lang="de-CH"/>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dirty="0"/>
              <a:t>Das Ziel war ein relationales, getestetes und dokumentiertes Datenbankmodell für zentrale Bereiche von Swiss Table Tennis. </a:t>
            </a:r>
          </a:p>
          <a:p>
            <a:r>
              <a:rPr lang="de-CH" dirty="0"/>
              <a:t>Die Umgebung besteht aus Windows 11, Vagrant und VirtualBox, einer Ubuntu-VM und SQL-Server 2022. </a:t>
            </a:r>
          </a:p>
          <a:p>
            <a:r>
              <a:rPr lang="de-CH" dirty="0"/>
              <a:t>Ich arbeite mit SQL Server Management Studio und verbinde mich über 127.0.0.1,1433. Git und GitHub versionieren den gesamten Stand.</a:t>
            </a:r>
          </a:p>
          <a:p>
            <a:r>
              <a:rPr lang="de-CH" dirty="0"/>
              <a:t>Wichtig ist: Das Projekt ist bewusst ein Datenbankkern und keine vollständige Verbandssoftware mit Oberfläche.</a:t>
            </a:r>
          </a:p>
        </p:txBody>
      </p:sp>
      <p:sp>
        <p:nvSpPr>
          <p:cNvPr id="4" name="Slide Number Placeholder 3"/>
          <p:cNvSpPr>
            <a:spLocks noGrp="1"/>
          </p:cNvSpPr>
          <p:nvPr>
            <p:ph type="sldNum" sz="quarter" idx="10"/>
          </p:nvPr>
        </p:nvSpPr>
        <p:spPr/>
        <p:txBody>
          <a:bodyPr/>
          <a:lstStyle/>
          <a:p>
            <a:fld id="{F7021451-1387-4CA6-816F-3879F97B5CBC}" type="slidenum">
              <a:rPr lang="de-CH"/>
              <a:t>2</a:t>
            </a:fld>
            <a:endParaRPr lang="de-CH"/>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dirty="0"/>
              <a:t>Diese Folie kombiniert Datenmodell und Integrität, weil ich nur 10 Minuten habe. </a:t>
            </a:r>
          </a:p>
          <a:p>
            <a:r>
              <a:rPr lang="de-CH" dirty="0"/>
              <a:t>Links sieht man die fachliche Struktur: Im Zentrum stehen Spieler, Saison und Club. </a:t>
            </a:r>
          </a:p>
          <a:p>
            <a:r>
              <a:rPr lang="de-CH" dirty="0"/>
              <a:t>Darauf bauen Liga und Turniere auf. Beide verwenden gemeinsame Spieltabellen für Einzelspiel, Doppelspiel und Satz. Einzelspiele können zusätzlich in die Elo-Historie einfliessen. </a:t>
            </a:r>
          </a:p>
          <a:p>
            <a:r>
              <a:rPr lang="de-CH" dirty="0"/>
              <a:t>Rechts sieht man drei Schutzebenen: </a:t>
            </a:r>
          </a:p>
          <a:p>
            <a:r>
              <a:rPr lang="de-CH" dirty="0"/>
              <a:t>Fremdschlüssel sichern Beziehungen, UNIQUE-Regeln verhindern Dubletten und CHECK-Constraints blockieren unplausible Werte. </a:t>
            </a:r>
          </a:p>
          <a:p>
            <a:r>
              <a:rPr lang="de-CH" dirty="0"/>
              <a:t>Damit hängt die Datenqualität nicht erst von einer späteren Anwendung ab.
</a:t>
            </a:r>
          </a:p>
        </p:txBody>
      </p:sp>
      <p:sp>
        <p:nvSpPr>
          <p:cNvPr id="4" name="Slide Number Placeholder 3"/>
          <p:cNvSpPr>
            <a:spLocks noGrp="1"/>
          </p:cNvSpPr>
          <p:nvPr>
            <p:ph type="sldNum" sz="quarter" idx="10"/>
          </p:nvPr>
        </p:nvSpPr>
        <p:spPr/>
        <p:txBody>
          <a:bodyPr/>
          <a:lstStyle/>
          <a:p>
            <a:fld id="{F7021451-1387-4CA6-816F-3879F97B5CBC}" type="slidenum">
              <a:rPr lang="de-CH"/>
              <a:t>3</a:t>
            </a:fld>
            <a:endParaRPr lang="de-CH"/>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dirty="0"/>
              <a:t>Hier erkläre ich den Unterschied zwischen Views und Stored Procedures sehr direkt. </a:t>
            </a:r>
          </a:p>
          <a:p>
            <a:r>
              <a:rPr lang="de-CH" dirty="0"/>
              <a:t>Views sind für lesende Auswertungen: aktuelle Spieler, Mannschaften, Begegnungen oder Resultate anzeigen. </a:t>
            </a:r>
          </a:p>
          <a:p>
            <a:r>
              <a:rPr lang="de-CH" dirty="0" err="1"/>
              <a:t>Stored</a:t>
            </a:r>
            <a:r>
              <a:rPr lang="de-CH" dirty="0"/>
              <a:t> Procedures sind für kontrollierte Änderungen: sie prüfen Eingaben und führen Geschäftsabläufe aus. </a:t>
            </a:r>
          </a:p>
          <a:p>
            <a:r>
              <a:rPr lang="de-CH" dirty="0"/>
              <a:t>Ein Beispiel ist die Elo-Verarbeitung: Ein abgeschlossenes Einzelspiel wird durch sp_EloAktualisieren verarbeitet. </a:t>
            </a:r>
          </a:p>
          <a:p>
            <a:r>
              <a:rPr lang="de-CH" dirty="0"/>
              <a:t>Danach wird die Änderung im EloProtokoll nachvollziehbar gespeichert und im SpielerElo als neuer Monatswert historisiert. </a:t>
            </a:r>
          </a:p>
          <a:p>
            <a:r>
              <a:rPr lang="de-CH" dirty="0"/>
              <a:t>Kurz gesagt: Views lese ich, Stored Procedures ändern Daten kontrolliert.</a:t>
            </a:r>
          </a:p>
        </p:txBody>
      </p:sp>
      <p:sp>
        <p:nvSpPr>
          <p:cNvPr id="4" name="Slide Number Placeholder 3"/>
          <p:cNvSpPr>
            <a:spLocks noGrp="1"/>
          </p:cNvSpPr>
          <p:nvPr>
            <p:ph type="sldNum" sz="quarter" idx="10"/>
          </p:nvPr>
        </p:nvSpPr>
        <p:spPr/>
        <p:txBody>
          <a:bodyPr/>
          <a:lstStyle/>
          <a:p>
            <a:fld id="{F7021451-1387-4CA6-816F-3879F97B5CBC}" type="slidenum">
              <a:rPr lang="de-CH"/>
              <a:t>4</a:t>
            </a:fld>
            <a:endParaRPr lang="de-CH"/>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dirty="0"/>
              <a:t>Die Qualitätssicherung ist wichtig, weil sie zeigt, dass das Projekt nicht nur aus einzelnen Skripten besteht. </a:t>
            </a:r>
          </a:p>
          <a:p>
            <a:r>
              <a:rPr lang="de-CH" dirty="0"/>
              <a:t>Der wichtigste technische Nachweis ist der Rebuild-Test. Er erstellt eine separate Testdatenbank neu, bindet Tabellen, Seeds, Views und Stored Procedures ein und prüft die erwarteten Zahlen. </a:t>
            </a:r>
          </a:p>
          <a:p>
            <a:r>
              <a:rPr lang="de-CH" dirty="0"/>
              <a:t>Zusätzlich wurden Procedures mit gültigen und ungültigen Eingaben getestet. </a:t>
            </a:r>
          </a:p>
          <a:p>
            <a:r>
              <a:rPr lang="de-CH" dirty="0"/>
              <a:t>Für die Präsentation ist wichtig: Rebuild und Demo wurden gegen den finalen Stand erfolgreich ausgeführt.</a:t>
            </a:r>
          </a:p>
        </p:txBody>
      </p:sp>
      <p:sp>
        <p:nvSpPr>
          <p:cNvPr id="4" name="Slide Number Placeholder 3"/>
          <p:cNvSpPr>
            <a:spLocks noGrp="1"/>
          </p:cNvSpPr>
          <p:nvPr>
            <p:ph type="sldNum" sz="quarter" idx="10"/>
          </p:nvPr>
        </p:nvSpPr>
        <p:spPr/>
        <p:txBody>
          <a:bodyPr/>
          <a:lstStyle/>
          <a:p>
            <a:fld id="{F7021451-1387-4CA6-816F-3879F97B5CBC}" type="slidenum">
              <a:rPr lang="de-CH"/>
              <a:t>5</a:t>
            </a:fld>
            <a:endParaRPr lang="de-CH"/>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dirty="0"/>
              <a:t>Zum Schluss fasse ich den Stand kurz zusammen. Der finale Stand umfasst 39 Tabellen, 5 Views, 6 Stored Procedures, 5 Seed-Skripte und 2 Demo-Skripte. Der vollständige Rebuild funktioniert, und der Demo-Ablauf wurde erfolgreich getestet. Das Projekt bildet nicht jede Spezialfunktion eines echten Verbandssystems ab, aber die gewählten Kernbereiche sind relational modelliert, technisch abgesichert und reproduzierbar dokumentiert. Danach überleite ich zu Fragen.
</a:t>
            </a:r>
          </a:p>
        </p:txBody>
      </p:sp>
      <p:sp>
        <p:nvSpPr>
          <p:cNvPr id="4" name="Slide Number Placeholder 3"/>
          <p:cNvSpPr>
            <a:spLocks noGrp="1"/>
          </p:cNvSpPr>
          <p:nvPr>
            <p:ph type="sldNum" sz="quarter" idx="10"/>
          </p:nvPr>
        </p:nvSpPr>
        <p:spPr/>
        <p:txBody>
          <a:bodyPr/>
          <a:lstStyle/>
          <a:p>
            <a:fld id="{F7021451-1387-4CA6-816F-3879F97B5CBC}" type="slidenum">
              <a:rPr lang="de-CH"/>
              <a:t>6</a:t>
            </a:fld>
            <a:endParaRPr lang="de-CH"/>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dirty="0"/>
              <a:t>Die Demo muss kurz bleiben. Ich führe nicht alles einzeln aus und erkläre nicht jedes Resultset. Ich zeige den fachlichen Ablauf anhand des vorbereiteten Demo-Skripts. Wichtig sind drei Resultate: die Begegnung wurde abgeschlossen, die Elo-Änderung ist nachvollziehbar und die Turnieranmeldung ist vorhanden. Wenn die Live-Demo aus technischen Gründen nicht funktioniert, zeige ich das GitHub-Repository, die Demo-Skripte und die Dokumentation als Backup.
[Sources]
- Eigene Projektunterlagen und Repository: STT-DB_Modulararbeit2.</a:t>
            </a:r>
          </a:p>
        </p:txBody>
      </p:sp>
      <p:sp>
        <p:nvSpPr>
          <p:cNvPr id="4" name="Slide Number Placeholder 3"/>
          <p:cNvSpPr>
            <a:spLocks noGrp="1"/>
          </p:cNvSpPr>
          <p:nvPr>
            <p:ph type="sldNum" sz="quarter" idx="10"/>
          </p:nvPr>
        </p:nvSpPr>
        <p:spPr/>
        <p:txBody>
          <a:bodyPr/>
          <a:lstStyle/>
          <a:p>
            <a:fld id="{F7021451-1387-4CA6-816F-3879F97B5CBC}" type="slidenum">
              <a:rPr lang="de-CH"/>
              <a:t>7</a:t>
            </a:fld>
            <a:endParaRPr lang="de-CH"/>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https://github.com/19boboy97/STT-DB_Modularbeit2"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mnt/data/stt_presentation_final/stt-logo-wide.png"/>
          <p:cNvPicPr>
            <a:picLocks noChangeAspect="1"/>
          </p:cNvPicPr>
          <p:nvPr/>
        </p:nvPicPr>
        <p:blipFill>
          <a:blip r:embed="rId3"/>
          <a:stretch>
            <a:fillRect/>
          </a:stretch>
        </p:blipFill>
        <p:spPr>
          <a:xfrm>
            <a:off x="502920" y="352217"/>
            <a:ext cx="2468880" cy="621445"/>
          </a:xfrm>
          <a:prstGeom prst="rect">
            <a:avLst/>
          </a:prstGeom>
        </p:spPr>
      </p:pic>
      <p:pic>
        <p:nvPicPr>
          <p:cNvPr id="3" name="Image 1" descr="/mnt/data/stt_presentation_final/stt-logo-round.png"/>
          <p:cNvPicPr>
            <a:picLocks noChangeAspect="1"/>
          </p:cNvPicPr>
          <p:nvPr/>
        </p:nvPicPr>
        <p:blipFill>
          <a:blip r:embed="rId4"/>
          <a:stretch>
            <a:fillRect/>
          </a:stretch>
        </p:blipFill>
        <p:spPr>
          <a:xfrm>
            <a:off x="6720840" y="914400"/>
            <a:ext cx="1600200" cy="1600200"/>
          </a:xfrm>
          <a:prstGeom prst="rect">
            <a:avLst/>
          </a:prstGeom>
        </p:spPr>
      </p:pic>
      <p:sp>
        <p:nvSpPr>
          <p:cNvPr id="4" name="Text 0"/>
          <p:cNvSpPr/>
          <p:nvPr/>
        </p:nvSpPr>
        <p:spPr>
          <a:xfrm>
            <a:off x="685800" y="1600200"/>
            <a:ext cx="4572000" cy="594360"/>
          </a:xfrm>
          <a:prstGeom prst="rect">
            <a:avLst/>
          </a:prstGeom>
          <a:noFill/>
          <a:ln/>
        </p:spPr>
        <p:txBody>
          <a:bodyPr wrap="square" lIns="0" tIns="0" rIns="0" bIns="0" rtlCol="0" anchor="ctr"/>
          <a:lstStyle/>
          <a:p>
            <a:pPr marL="0" indent="0">
              <a:buNone/>
            </a:pPr>
            <a:r>
              <a:rPr lang="de-CH" sz="4400" b="1" dirty="0">
                <a:solidFill>
                  <a:srgbClr val="222222"/>
                </a:solidFill>
                <a:latin typeface="Arial" pitchFamily="34" charset="0"/>
                <a:ea typeface="Arial" pitchFamily="34" charset="-122"/>
                <a:cs typeface="Arial" pitchFamily="34" charset="-120"/>
              </a:rPr>
              <a:t>STT-DB</a:t>
            </a:r>
            <a:endParaRPr lang="de-CH" sz="4400" dirty="0"/>
          </a:p>
        </p:txBody>
      </p:sp>
      <p:sp>
        <p:nvSpPr>
          <p:cNvPr id="5" name="Text 1"/>
          <p:cNvSpPr/>
          <p:nvPr/>
        </p:nvSpPr>
        <p:spPr>
          <a:xfrm>
            <a:off x="713232" y="2331720"/>
            <a:ext cx="5303520" cy="822960"/>
          </a:xfrm>
          <a:prstGeom prst="rect">
            <a:avLst/>
          </a:prstGeom>
          <a:noFill/>
          <a:ln/>
        </p:spPr>
        <p:txBody>
          <a:bodyPr wrap="square" lIns="0" tIns="0" rIns="0" bIns="0" rtlCol="0" anchor="ctr"/>
          <a:lstStyle/>
          <a:p>
            <a:pPr marL="0" indent="0">
              <a:buNone/>
            </a:pPr>
            <a:r>
              <a:rPr lang="de-CH" sz="2500" dirty="0">
                <a:solidFill>
                  <a:srgbClr val="222222"/>
                </a:solidFill>
                <a:latin typeface="Arial" pitchFamily="34" charset="0"/>
                <a:ea typeface="Arial" pitchFamily="34" charset="-122"/>
                <a:cs typeface="Arial" pitchFamily="34" charset="-120"/>
              </a:rPr>
              <a:t>Relationale Datenbank für</a:t>
            </a:r>
            <a:endParaRPr lang="de-CH" sz="2500" dirty="0"/>
          </a:p>
          <a:p>
            <a:pPr marL="0" indent="0">
              <a:buNone/>
            </a:pPr>
            <a:r>
              <a:rPr lang="de-CH" sz="2500" dirty="0">
                <a:solidFill>
                  <a:srgbClr val="222222"/>
                </a:solidFill>
                <a:latin typeface="Arial" pitchFamily="34" charset="0"/>
                <a:ea typeface="Arial" pitchFamily="34" charset="-122"/>
                <a:cs typeface="Arial" pitchFamily="34" charset="-120"/>
              </a:rPr>
              <a:t>Swiss Table Tennis</a:t>
            </a:r>
            <a:endParaRPr lang="de-CH" sz="2500" dirty="0"/>
          </a:p>
        </p:txBody>
      </p:sp>
      <p:sp>
        <p:nvSpPr>
          <p:cNvPr id="6" name="Text 2"/>
          <p:cNvSpPr/>
          <p:nvPr/>
        </p:nvSpPr>
        <p:spPr>
          <a:xfrm>
            <a:off x="731520" y="3703320"/>
            <a:ext cx="5120640" cy="274320"/>
          </a:xfrm>
          <a:prstGeom prst="rect">
            <a:avLst/>
          </a:prstGeom>
          <a:noFill/>
          <a:ln/>
        </p:spPr>
        <p:txBody>
          <a:bodyPr wrap="square" lIns="0" tIns="0" rIns="0" bIns="0" rtlCol="0" anchor="ctr"/>
          <a:lstStyle/>
          <a:p>
            <a:pPr marL="0" indent="0">
              <a:buNone/>
            </a:pPr>
            <a:r>
              <a:rPr lang="de-CH" sz="1500" dirty="0">
                <a:solidFill>
                  <a:srgbClr val="5A5A5A"/>
                </a:solidFill>
                <a:latin typeface="Arial" pitchFamily="34" charset="0"/>
                <a:ea typeface="Arial" pitchFamily="34" charset="-122"/>
                <a:cs typeface="Arial" pitchFamily="34" charset="-120"/>
              </a:rPr>
              <a:t>Modulararbeit II · Datenbanken_und_Big_Data</a:t>
            </a:r>
            <a:endParaRPr lang="de-CH" sz="1500" dirty="0"/>
          </a:p>
        </p:txBody>
      </p:sp>
      <p:sp>
        <p:nvSpPr>
          <p:cNvPr id="7" name="Text 3"/>
          <p:cNvSpPr/>
          <p:nvPr/>
        </p:nvSpPr>
        <p:spPr>
          <a:xfrm>
            <a:off x="731520" y="4041648"/>
            <a:ext cx="5120640" cy="228600"/>
          </a:xfrm>
          <a:prstGeom prst="rect">
            <a:avLst/>
          </a:prstGeom>
          <a:noFill/>
          <a:ln/>
        </p:spPr>
        <p:txBody>
          <a:bodyPr wrap="square" lIns="0" tIns="0" rIns="0" bIns="0" rtlCol="0" anchor="ctr"/>
          <a:lstStyle/>
          <a:p>
            <a:pPr marL="0" indent="0">
              <a:buNone/>
            </a:pPr>
            <a:r>
              <a:rPr lang="de-CH" sz="1350" dirty="0">
                <a:solidFill>
                  <a:srgbClr val="5A5A5A"/>
                </a:solidFill>
                <a:latin typeface="Arial" pitchFamily="34" charset="0"/>
                <a:ea typeface="Arial" pitchFamily="34" charset="-122"/>
                <a:cs typeface="Arial" pitchFamily="34" charset="-120"/>
              </a:rPr>
              <a:t>Christian Abbühl · B-TIP-24-T-a · 21.09.2026</a:t>
            </a:r>
            <a:endParaRPr lang="de-CH" sz="1350" dirty="0"/>
          </a:p>
        </p:txBody>
      </p:sp>
      <p:sp>
        <p:nvSpPr>
          <p:cNvPr id="8" name="Shape 4"/>
          <p:cNvSpPr/>
          <p:nvPr/>
        </p:nvSpPr>
        <p:spPr>
          <a:xfrm>
            <a:off x="731520" y="4663440"/>
            <a:ext cx="5486400" cy="18288"/>
          </a:xfrm>
          <a:prstGeom prst="rect">
            <a:avLst/>
          </a:prstGeom>
          <a:solidFill>
            <a:srgbClr val="E30613"/>
          </a:solidFill>
          <a:ln w="12700">
            <a:solidFill>
              <a:srgbClr val="E30613"/>
            </a:solidFill>
            <a:prstDash val="solid"/>
          </a:ln>
        </p:spPr>
        <p:txBody>
          <a:bodyPr/>
          <a:lstStyle/>
          <a:p>
            <a:endParaRPr lang="de-CH"/>
          </a:p>
        </p:txBody>
      </p:sp>
      <p:sp>
        <p:nvSpPr>
          <p:cNvPr id="9" name="Text 5"/>
          <p:cNvSpPr/>
          <p:nvPr/>
        </p:nvSpPr>
        <p:spPr>
          <a:xfrm>
            <a:off x="731520" y="4892040"/>
            <a:ext cx="6492240" cy="292608"/>
          </a:xfrm>
          <a:prstGeom prst="rect">
            <a:avLst/>
          </a:prstGeom>
          <a:noFill/>
          <a:ln/>
        </p:spPr>
        <p:txBody>
          <a:bodyPr wrap="square" lIns="0" tIns="0" rIns="0" bIns="0" rtlCol="0" anchor="ctr"/>
          <a:lstStyle/>
          <a:p>
            <a:pPr marL="0" indent="0">
              <a:buNone/>
            </a:pPr>
            <a:r>
              <a:rPr lang="de-CH" sz="1700" b="1" dirty="0">
                <a:solidFill>
                  <a:srgbClr val="222222"/>
                </a:solidFill>
                <a:latin typeface="Arial" pitchFamily="34" charset="0"/>
                <a:ea typeface="Arial" pitchFamily="34" charset="-122"/>
                <a:cs typeface="Arial" pitchFamily="34" charset="-120"/>
              </a:rPr>
              <a:t>39 Tabellen · 5 Views · 6 Stored Procedures · 2 Demo-Skripte</a:t>
            </a:r>
            <a:endParaRPr lang="de-CH" sz="1700" dirty="0"/>
          </a:p>
        </p:txBody>
      </p:sp>
      <p:sp>
        <p:nvSpPr>
          <p:cNvPr id="10" name="Shape 6"/>
          <p:cNvSpPr/>
          <p:nvPr/>
        </p:nvSpPr>
        <p:spPr>
          <a:xfrm>
            <a:off x="0" y="6455664"/>
            <a:ext cx="9144000" cy="402336"/>
          </a:xfrm>
          <a:prstGeom prst="rect">
            <a:avLst/>
          </a:prstGeom>
          <a:solidFill>
            <a:srgbClr val="E30613"/>
          </a:solidFill>
          <a:ln w="12700">
            <a:solidFill>
              <a:srgbClr val="E30613"/>
            </a:solidFill>
            <a:prstDash val="solid"/>
          </a:ln>
        </p:spPr>
        <p:txBody>
          <a:bodyPr/>
          <a:lstStyle/>
          <a:p>
            <a:endParaRPr lang="de-CH"/>
          </a:p>
        </p:txBody>
      </p:sp>
      <p:sp>
        <p:nvSpPr>
          <p:cNvPr id="11" name="Text 7"/>
          <p:cNvSpPr/>
          <p:nvPr/>
        </p:nvSpPr>
        <p:spPr>
          <a:xfrm>
            <a:off x="548640" y="6537960"/>
            <a:ext cx="6858000" cy="155448"/>
          </a:xfrm>
          <a:prstGeom prst="rect">
            <a:avLst/>
          </a:prstGeom>
          <a:noFill/>
          <a:ln/>
        </p:spPr>
        <p:txBody>
          <a:bodyPr wrap="square" lIns="0" tIns="0" rIns="0" bIns="0" rtlCol="0" anchor="ctr"/>
          <a:lstStyle/>
          <a:p>
            <a:pPr marL="0" indent="0">
              <a:buNone/>
            </a:pPr>
            <a:r>
              <a:rPr lang="de-CH" sz="950" b="1" dirty="0">
                <a:solidFill>
                  <a:srgbClr val="FFFFFF"/>
                </a:solidFill>
                <a:latin typeface="Arial" pitchFamily="34" charset="0"/>
                <a:ea typeface="Arial" pitchFamily="34" charset="-122"/>
                <a:cs typeface="Arial" pitchFamily="34" charset="-120"/>
              </a:rPr>
              <a:t>Ziel: getesteter und reproduzierbarer Datenbankkern</a:t>
            </a:r>
            <a:endParaRPr lang="de-CH"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mnt/data/stt_presentation_final/stt-logo-wide.png"/>
          <p:cNvPicPr>
            <a:picLocks noChangeAspect="1"/>
          </p:cNvPicPr>
          <p:nvPr/>
        </p:nvPicPr>
        <p:blipFill>
          <a:blip r:embed="rId3"/>
          <a:stretch>
            <a:fillRect/>
          </a:stretch>
        </p:blipFill>
        <p:spPr>
          <a:xfrm>
            <a:off x="335650" y="164592"/>
            <a:ext cx="1889020" cy="475488"/>
          </a:xfrm>
          <a:prstGeom prst="rect">
            <a:avLst/>
          </a:prstGeom>
        </p:spPr>
      </p:pic>
      <p:sp>
        <p:nvSpPr>
          <p:cNvPr id="3" name="Text 0"/>
          <p:cNvSpPr/>
          <p:nvPr/>
        </p:nvSpPr>
        <p:spPr>
          <a:xfrm>
            <a:off x="5669280" y="256032"/>
            <a:ext cx="2468880" cy="201168"/>
          </a:xfrm>
          <a:prstGeom prst="rect">
            <a:avLst/>
          </a:prstGeom>
          <a:noFill/>
          <a:ln/>
        </p:spPr>
        <p:txBody>
          <a:bodyPr wrap="square" lIns="0" tIns="0" rIns="0" bIns="0" rtlCol="0" anchor="ctr"/>
          <a:lstStyle/>
          <a:p>
            <a:pPr marL="0" indent="0" algn="r">
              <a:buNone/>
            </a:pPr>
            <a:r>
              <a:rPr lang="de-CH" sz="850" dirty="0">
                <a:solidFill>
                  <a:srgbClr val="5A5A5A"/>
                </a:solidFill>
                <a:latin typeface="Arial" pitchFamily="34" charset="0"/>
                <a:ea typeface="Arial" pitchFamily="34" charset="-122"/>
                <a:cs typeface="Arial" pitchFamily="34" charset="-120"/>
              </a:rPr>
              <a:t>STT-DB · Modulararbeit II</a:t>
            </a:r>
            <a:endParaRPr lang="de-CH" sz="850" dirty="0"/>
          </a:p>
        </p:txBody>
      </p:sp>
      <p:sp>
        <p:nvSpPr>
          <p:cNvPr id="4" name="Text 1"/>
          <p:cNvSpPr/>
          <p:nvPr/>
        </p:nvSpPr>
        <p:spPr>
          <a:xfrm>
            <a:off x="8394192" y="219456"/>
            <a:ext cx="274320" cy="228600"/>
          </a:xfrm>
          <a:prstGeom prst="rect">
            <a:avLst/>
          </a:prstGeom>
          <a:noFill/>
          <a:ln/>
        </p:spPr>
        <p:txBody>
          <a:bodyPr wrap="square" lIns="0" tIns="0" rIns="0" bIns="0" rtlCol="0" anchor="ctr"/>
          <a:lstStyle/>
          <a:p>
            <a:pPr marL="0" indent="0" algn="ctr">
              <a:buNone/>
            </a:pPr>
            <a:r>
              <a:rPr lang="de-CH" sz="850" dirty="0">
                <a:solidFill>
                  <a:srgbClr val="5A5A5A"/>
                </a:solidFill>
                <a:latin typeface="Arial" pitchFamily="34" charset="0"/>
                <a:ea typeface="Arial" pitchFamily="34" charset="-122"/>
                <a:cs typeface="Arial" pitchFamily="34" charset="-120"/>
              </a:rPr>
              <a:t>2</a:t>
            </a:r>
            <a:endParaRPr lang="de-CH" sz="850" dirty="0"/>
          </a:p>
        </p:txBody>
      </p:sp>
      <p:sp>
        <p:nvSpPr>
          <p:cNvPr id="5" name="Shape 2"/>
          <p:cNvSpPr/>
          <p:nvPr/>
        </p:nvSpPr>
        <p:spPr>
          <a:xfrm>
            <a:off x="320040" y="804672"/>
            <a:ext cx="8275320" cy="0"/>
          </a:xfrm>
          <a:prstGeom prst="line">
            <a:avLst/>
          </a:prstGeom>
          <a:noFill/>
          <a:ln w="12700">
            <a:solidFill>
              <a:srgbClr val="E9E9E9"/>
            </a:solidFill>
            <a:prstDash val="solid"/>
          </a:ln>
        </p:spPr>
        <p:txBody>
          <a:bodyPr/>
          <a:lstStyle/>
          <a:p>
            <a:endParaRPr lang="de-CH"/>
          </a:p>
        </p:txBody>
      </p:sp>
      <p:sp>
        <p:nvSpPr>
          <p:cNvPr id="6" name="Text 3"/>
          <p:cNvSpPr/>
          <p:nvPr/>
        </p:nvSpPr>
        <p:spPr>
          <a:xfrm>
            <a:off x="502920" y="987552"/>
            <a:ext cx="6583680" cy="402336"/>
          </a:xfrm>
          <a:prstGeom prst="rect">
            <a:avLst/>
          </a:prstGeom>
          <a:noFill/>
          <a:ln/>
        </p:spPr>
        <p:txBody>
          <a:bodyPr wrap="square" lIns="0" tIns="0" rIns="0" bIns="0" rtlCol="0" anchor="ctr"/>
          <a:lstStyle/>
          <a:p>
            <a:pPr marL="0" indent="0">
              <a:buNone/>
            </a:pPr>
            <a:r>
              <a:rPr lang="de-CH" sz="2700" b="1" dirty="0">
                <a:solidFill>
                  <a:srgbClr val="222222"/>
                </a:solidFill>
                <a:latin typeface="Arial" pitchFamily="34" charset="0"/>
                <a:ea typeface="Arial" pitchFamily="34" charset="-122"/>
                <a:cs typeface="Arial" pitchFamily="34" charset="-120"/>
              </a:rPr>
              <a:t>Ziel &amp; technische Architektur</a:t>
            </a:r>
            <a:endParaRPr lang="de-CH" sz="2700" dirty="0"/>
          </a:p>
        </p:txBody>
      </p:sp>
      <p:sp>
        <p:nvSpPr>
          <p:cNvPr id="7" name="Shape 4"/>
          <p:cNvSpPr/>
          <p:nvPr/>
        </p:nvSpPr>
        <p:spPr>
          <a:xfrm>
            <a:off x="0" y="6455664"/>
            <a:ext cx="9144000" cy="402336"/>
          </a:xfrm>
          <a:prstGeom prst="rect">
            <a:avLst/>
          </a:prstGeom>
          <a:solidFill>
            <a:srgbClr val="E30613"/>
          </a:solidFill>
          <a:ln w="12700">
            <a:solidFill>
              <a:srgbClr val="E30613"/>
            </a:solidFill>
            <a:prstDash val="solid"/>
          </a:ln>
        </p:spPr>
        <p:txBody>
          <a:bodyPr/>
          <a:lstStyle/>
          <a:p>
            <a:endParaRPr lang="de-CH"/>
          </a:p>
        </p:txBody>
      </p:sp>
      <p:sp>
        <p:nvSpPr>
          <p:cNvPr id="8" name="Text 5"/>
          <p:cNvSpPr/>
          <p:nvPr/>
        </p:nvSpPr>
        <p:spPr>
          <a:xfrm>
            <a:off x="502920" y="6537960"/>
            <a:ext cx="5669280" cy="137160"/>
          </a:xfrm>
          <a:prstGeom prst="rect">
            <a:avLst/>
          </a:prstGeom>
          <a:noFill/>
          <a:ln/>
        </p:spPr>
        <p:txBody>
          <a:bodyPr wrap="square" lIns="0" tIns="0" rIns="0" bIns="0" rtlCol="0" anchor="ctr"/>
          <a:lstStyle/>
          <a:p>
            <a:pPr marL="0" indent="0">
              <a:buNone/>
            </a:pPr>
            <a:r>
              <a:rPr lang="de-CH" sz="850" dirty="0">
                <a:solidFill>
                  <a:srgbClr val="FFFFFF"/>
                </a:solidFill>
                <a:latin typeface="Arial" pitchFamily="34" charset="0"/>
                <a:ea typeface="Arial" pitchFamily="34" charset="-122"/>
                <a:cs typeface="Arial" pitchFamily="34" charset="-120"/>
              </a:rPr>
              <a:t>Christian Abbühl · B-TIP-24-T-a · 21.09.2026</a:t>
            </a:r>
            <a:endParaRPr lang="de-CH" sz="850" dirty="0"/>
          </a:p>
        </p:txBody>
      </p:sp>
      <p:sp>
        <p:nvSpPr>
          <p:cNvPr id="10" name="Text 7"/>
          <p:cNvSpPr/>
          <p:nvPr/>
        </p:nvSpPr>
        <p:spPr>
          <a:xfrm>
            <a:off x="594360" y="1554480"/>
            <a:ext cx="3566160" cy="274320"/>
          </a:xfrm>
          <a:prstGeom prst="rect">
            <a:avLst/>
          </a:prstGeom>
          <a:noFill/>
          <a:ln/>
        </p:spPr>
        <p:txBody>
          <a:bodyPr wrap="square" lIns="0" tIns="0" rIns="0" bIns="0" rtlCol="0" anchor="ctr"/>
          <a:lstStyle/>
          <a:p>
            <a:pPr marL="0" indent="0">
              <a:buNone/>
            </a:pPr>
            <a:r>
              <a:rPr lang="de-CH" sz="1800" b="1" dirty="0">
                <a:solidFill>
                  <a:srgbClr val="222222"/>
                </a:solidFill>
              </a:rPr>
              <a:t>Was wurde gebaut?</a:t>
            </a:r>
            <a:endParaRPr lang="de-CH" sz="1800" dirty="0"/>
          </a:p>
        </p:txBody>
      </p:sp>
      <p:sp>
        <p:nvSpPr>
          <p:cNvPr id="11" name="Text 8"/>
          <p:cNvSpPr/>
          <p:nvPr/>
        </p:nvSpPr>
        <p:spPr>
          <a:xfrm>
            <a:off x="685800" y="1965960"/>
            <a:ext cx="3657600" cy="1920240"/>
          </a:xfrm>
          <a:prstGeom prst="rect">
            <a:avLst/>
          </a:prstGeom>
          <a:noFill/>
          <a:ln/>
        </p:spPr>
        <p:txBody>
          <a:bodyPr wrap="square" lIns="635" tIns="635" rIns="635" bIns="635" rtlCol="0" anchor="ctr">
            <a:normAutofit/>
          </a:bodyPr>
          <a:lstStyle/>
          <a:p>
            <a:pPr marL="0" indent="0">
              <a:buNone/>
            </a:pPr>
            <a:r>
              <a:rPr lang="de-CH" sz="1500" b="1" dirty="0">
                <a:solidFill>
                  <a:srgbClr val="E30613"/>
                </a:solidFill>
                <a:latin typeface="Arial" pitchFamily="34" charset="0"/>
                <a:ea typeface="Arial" pitchFamily="34" charset="-122"/>
                <a:cs typeface="Arial" pitchFamily="34" charset="-120"/>
              </a:rPr>
              <a:t>• </a:t>
            </a:r>
            <a:r>
              <a:rPr lang="de-CH" sz="1500" dirty="0">
                <a:solidFill>
                  <a:srgbClr val="222222"/>
                </a:solidFill>
                <a:latin typeface="Arial" pitchFamily="34" charset="0"/>
                <a:ea typeface="Arial" pitchFamily="34" charset="-122"/>
                <a:cs typeface="Arial" pitchFamily="34" charset="-120"/>
              </a:rPr>
              <a:t>relationales Datenbankmodell für zentrale STT-Bereiche
</a:t>
            </a:r>
            <a:r>
              <a:rPr lang="de-CH" sz="1500" b="1" dirty="0">
                <a:solidFill>
                  <a:srgbClr val="E30613"/>
                </a:solidFill>
                <a:latin typeface="Arial" pitchFamily="34" charset="0"/>
                <a:ea typeface="Arial" pitchFamily="34" charset="-122"/>
                <a:cs typeface="Arial" pitchFamily="34" charset="-120"/>
              </a:rPr>
              <a:t>• </a:t>
            </a:r>
            <a:r>
              <a:rPr lang="de-CH" sz="1500" dirty="0">
                <a:solidFill>
                  <a:srgbClr val="222222"/>
                </a:solidFill>
                <a:latin typeface="Arial" pitchFamily="34" charset="0"/>
                <a:ea typeface="Arial" pitchFamily="34" charset="-122"/>
                <a:cs typeface="Arial" pitchFamily="34" charset="-120"/>
              </a:rPr>
              <a:t>Datenintegrität direkt in der Datenbank
</a:t>
            </a:r>
            <a:r>
              <a:rPr lang="de-CH" sz="1500" b="1" dirty="0">
                <a:solidFill>
                  <a:srgbClr val="E30613"/>
                </a:solidFill>
                <a:latin typeface="Arial" pitchFamily="34" charset="0"/>
                <a:ea typeface="Arial" pitchFamily="34" charset="-122"/>
                <a:cs typeface="Arial" pitchFamily="34" charset="-120"/>
              </a:rPr>
              <a:t>• </a:t>
            </a:r>
            <a:r>
              <a:rPr lang="de-CH" sz="1500" dirty="0">
                <a:solidFill>
                  <a:srgbClr val="222222"/>
                </a:solidFill>
                <a:latin typeface="Arial" pitchFamily="34" charset="0"/>
                <a:ea typeface="Arial" pitchFamily="34" charset="-122"/>
                <a:cs typeface="Arial" pitchFamily="34" charset="-120"/>
              </a:rPr>
              <a:t>Geschäftslogik über Stored Procedures
</a:t>
            </a:r>
            <a:r>
              <a:rPr lang="de-CH" sz="1500" b="1" dirty="0">
                <a:solidFill>
                  <a:srgbClr val="E30613"/>
                </a:solidFill>
                <a:latin typeface="Arial" pitchFamily="34" charset="0"/>
                <a:ea typeface="Arial" pitchFamily="34" charset="-122"/>
                <a:cs typeface="Arial" pitchFamily="34" charset="-120"/>
              </a:rPr>
              <a:t>• </a:t>
            </a:r>
            <a:r>
              <a:rPr lang="de-CH" sz="1500" dirty="0">
                <a:solidFill>
                  <a:srgbClr val="222222"/>
                </a:solidFill>
                <a:latin typeface="Arial" pitchFamily="34" charset="0"/>
                <a:ea typeface="Arial" pitchFamily="34" charset="-122"/>
                <a:cs typeface="Arial" pitchFamily="34" charset="-120"/>
              </a:rPr>
              <a:t>vollständig reproduzierbarer Aufbau</a:t>
            </a:r>
            <a:endParaRPr lang="de-CH" sz="1500" dirty="0"/>
          </a:p>
        </p:txBody>
      </p:sp>
      <p:sp>
        <p:nvSpPr>
          <p:cNvPr id="12" name="Text 9"/>
          <p:cNvSpPr/>
          <p:nvPr/>
        </p:nvSpPr>
        <p:spPr>
          <a:xfrm>
            <a:off x="4800600" y="1554480"/>
            <a:ext cx="3108960" cy="274320"/>
          </a:xfrm>
          <a:prstGeom prst="rect">
            <a:avLst/>
          </a:prstGeom>
          <a:noFill/>
          <a:ln/>
        </p:spPr>
        <p:txBody>
          <a:bodyPr wrap="square" lIns="0" tIns="0" rIns="0" bIns="0" rtlCol="0" anchor="ctr"/>
          <a:lstStyle/>
          <a:p>
            <a:pPr marL="0" indent="0">
              <a:buNone/>
            </a:pPr>
            <a:r>
              <a:rPr lang="de-CH" sz="1800" b="1" dirty="0">
                <a:solidFill>
                  <a:srgbClr val="222222"/>
                </a:solidFill>
              </a:rPr>
              <a:t>Wie läuft es?</a:t>
            </a:r>
            <a:endParaRPr lang="de-CH" sz="1800" dirty="0"/>
          </a:p>
        </p:txBody>
      </p:sp>
      <p:sp>
        <p:nvSpPr>
          <p:cNvPr id="13" name="Shape 10"/>
          <p:cNvSpPr/>
          <p:nvPr/>
        </p:nvSpPr>
        <p:spPr>
          <a:xfrm>
            <a:off x="4800600" y="1965960"/>
            <a:ext cx="3383280" cy="438912"/>
          </a:xfrm>
          <a:prstGeom prst="roundRect">
            <a:avLst>
              <a:gd name="adj" fmla="val 12500"/>
            </a:avLst>
          </a:prstGeom>
          <a:solidFill>
            <a:srgbClr val="F5F5F5"/>
          </a:solidFill>
          <a:ln w="12700">
            <a:solidFill>
              <a:srgbClr val="E9E9E9"/>
            </a:solidFill>
            <a:prstDash val="solid"/>
          </a:ln>
        </p:spPr>
        <p:txBody>
          <a:bodyPr/>
          <a:lstStyle/>
          <a:p>
            <a:endParaRPr lang="de-CH"/>
          </a:p>
        </p:txBody>
      </p:sp>
      <p:sp>
        <p:nvSpPr>
          <p:cNvPr id="14" name="Text 11"/>
          <p:cNvSpPr/>
          <p:nvPr/>
        </p:nvSpPr>
        <p:spPr>
          <a:xfrm>
            <a:off x="4956048" y="2112264"/>
            <a:ext cx="3054096" cy="128016"/>
          </a:xfrm>
          <a:prstGeom prst="rect">
            <a:avLst/>
          </a:prstGeom>
          <a:noFill/>
          <a:ln/>
        </p:spPr>
        <p:txBody>
          <a:bodyPr wrap="square" lIns="0" tIns="0" rIns="0" bIns="0" rtlCol="0" anchor="ctr">
            <a:normAutofit fontScale="85000" lnSpcReduction="20000"/>
          </a:bodyPr>
          <a:lstStyle/>
          <a:p>
            <a:pPr marL="0" indent="0" algn="ctr">
              <a:buNone/>
            </a:pPr>
            <a:r>
              <a:rPr lang="de-CH" sz="1170" b="1" dirty="0">
                <a:solidFill>
                  <a:srgbClr val="222222"/>
                </a:solidFill>
              </a:rPr>
              <a:t>Windows 11  ·  Host &amp; SSMS</a:t>
            </a:r>
            <a:endParaRPr lang="de-CH" sz="1170" dirty="0"/>
          </a:p>
        </p:txBody>
      </p:sp>
      <p:sp>
        <p:nvSpPr>
          <p:cNvPr id="15" name="Shape 12"/>
          <p:cNvSpPr/>
          <p:nvPr/>
        </p:nvSpPr>
        <p:spPr>
          <a:xfrm>
            <a:off x="6263640" y="2423160"/>
            <a:ext cx="274320" cy="201168"/>
          </a:xfrm>
          <a:prstGeom prst="downArrow">
            <a:avLst/>
          </a:prstGeom>
          <a:solidFill>
            <a:srgbClr val="E30613"/>
          </a:solidFill>
          <a:ln w="12700">
            <a:solidFill>
              <a:srgbClr val="E30613"/>
            </a:solidFill>
            <a:prstDash val="solid"/>
          </a:ln>
        </p:spPr>
        <p:txBody>
          <a:bodyPr/>
          <a:lstStyle/>
          <a:p>
            <a:endParaRPr lang="de-CH"/>
          </a:p>
        </p:txBody>
      </p:sp>
      <p:sp>
        <p:nvSpPr>
          <p:cNvPr id="16" name="Shape 13"/>
          <p:cNvSpPr/>
          <p:nvPr/>
        </p:nvSpPr>
        <p:spPr>
          <a:xfrm>
            <a:off x="4800600" y="2743200"/>
            <a:ext cx="3383280" cy="438912"/>
          </a:xfrm>
          <a:prstGeom prst="roundRect">
            <a:avLst>
              <a:gd name="adj" fmla="val 12500"/>
            </a:avLst>
          </a:prstGeom>
          <a:solidFill>
            <a:srgbClr val="F5F5F5"/>
          </a:solidFill>
          <a:ln w="12700">
            <a:solidFill>
              <a:srgbClr val="E9E9E9"/>
            </a:solidFill>
            <a:prstDash val="solid"/>
          </a:ln>
        </p:spPr>
        <p:txBody>
          <a:bodyPr/>
          <a:lstStyle/>
          <a:p>
            <a:endParaRPr lang="de-CH"/>
          </a:p>
        </p:txBody>
      </p:sp>
      <p:sp>
        <p:nvSpPr>
          <p:cNvPr id="17" name="Text 14"/>
          <p:cNvSpPr/>
          <p:nvPr/>
        </p:nvSpPr>
        <p:spPr>
          <a:xfrm>
            <a:off x="4956048" y="2889504"/>
            <a:ext cx="3054096" cy="128016"/>
          </a:xfrm>
          <a:prstGeom prst="rect">
            <a:avLst/>
          </a:prstGeom>
          <a:noFill/>
          <a:ln/>
        </p:spPr>
        <p:txBody>
          <a:bodyPr wrap="square" lIns="0" tIns="0" rIns="0" bIns="0" rtlCol="0" anchor="ctr">
            <a:normAutofit fontScale="85000" lnSpcReduction="20000"/>
          </a:bodyPr>
          <a:lstStyle/>
          <a:p>
            <a:pPr marL="0" indent="0" algn="ctr">
              <a:buNone/>
            </a:pPr>
            <a:r>
              <a:rPr lang="de-CH" sz="1170" b="1" dirty="0">
                <a:solidFill>
                  <a:srgbClr val="222222"/>
                </a:solidFill>
              </a:rPr>
              <a:t>Vagrant / VirtualBox  ·  VM-Lifecycle</a:t>
            </a:r>
            <a:endParaRPr lang="de-CH" sz="1170" dirty="0"/>
          </a:p>
        </p:txBody>
      </p:sp>
      <p:sp>
        <p:nvSpPr>
          <p:cNvPr id="18" name="Shape 15"/>
          <p:cNvSpPr/>
          <p:nvPr/>
        </p:nvSpPr>
        <p:spPr>
          <a:xfrm>
            <a:off x="6263640" y="3200400"/>
            <a:ext cx="274320" cy="201168"/>
          </a:xfrm>
          <a:prstGeom prst="downArrow">
            <a:avLst/>
          </a:prstGeom>
          <a:solidFill>
            <a:srgbClr val="E30613"/>
          </a:solidFill>
          <a:ln w="12700">
            <a:solidFill>
              <a:srgbClr val="E30613"/>
            </a:solidFill>
            <a:prstDash val="solid"/>
          </a:ln>
        </p:spPr>
        <p:txBody>
          <a:bodyPr/>
          <a:lstStyle/>
          <a:p>
            <a:endParaRPr lang="de-CH"/>
          </a:p>
        </p:txBody>
      </p:sp>
      <p:sp>
        <p:nvSpPr>
          <p:cNvPr id="19" name="Shape 16"/>
          <p:cNvSpPr/>
          <p:nvPr/>
        </p:nvSpPr>
        <p:spPr>
          <a:xfrm>
            <a:off x="4800600" y="3520440"/>
            <a:ext cx="3383280" cy="438912"/>
          </a:xfrm>
          <a:prstGeom prst="roundRect">
            <a:avLst>
              <a:gd name="adj" fmla="val 12500"/>
            </a:avLst>
          </a:prstGeom>
          <a:solidFill>
            <a:srgbClr val="F5F5F5"/>
          </a:solidFill>
          <a:ln w="12700">
            <a:solidFill>
              <a:srgbClr val="E9E9E9"/>
            </a:solidFill>
            <a:prstDash val="solid"/>
          </a:ln>
        </p:spPr>
        <p:txBody>
          <a:bodyPr/>
          <a:lstStyle/>
          <a:p>
            <a:endParaRPr lang="de-CH"/>
          </a:p>
        </p:txBody>
      </p:sp>
      <p:sp>
        <p:nvSpPr>
          <p:cNvPr id="20" name="Text 17"/>
          <p:cNvSpPr/>
          <p:nvPr/>
        </p:nvSpPr>
        <p:spPr>
          <a:xfrm>
            <a:off x="4956048" y="3666744"/>
            <a:ext cx="3054096" cy="128016"/>
          </a:xfrm>
          <a:prstGeom prst="rect">
            <a:avLst/>
          </a:prstGeom>
          <a:noFill/>
          <a:ln/>
        </p:spPr>
        <p:txBody>
          <a:bodyPr wrap="square" lIns="0" tIns="0" rIns="0" bIns="0" rtlCol="0" anchor="ctr">
            <a:normAutofit fontScale="85000" lnSpcReduction="20000"/>
          </a:bodyPr>
          <a:lstStyle/>
          <a:p>
            <a:pPr marL="0" indent="0" algn="ctr">
              <a:buNone/>
            </a:pPr>
            <a:r>
              <a:rPr lang="de-CH" sz="1170" b="1" dirty="0">
                <a:solidFill>
                  <a:srgbClr val="222222"/>
                </a:solidFill>
              </a:rPr>
              <a:t>Ubuntu 22.04  ·  Gastbetriebssystem</a:t>
            </a:r>
            <a:endParaRPr lang="de-CH" sz="1170" dirty="0"/>
          </a:p>
        </p:txBody>
      </p:sp>
      <p:sp>
        <p:nvSpPr>
          <p:cNvPr id="21" name="Shape 18"/>
          <p:cNvSpPr/>
          <p:nvPr/>
        </p:nvSpPr>
        <p:spPr>
          <a:xfrm>
            <a:off x="6263640" y="3977640"/>
            <a:ext cx="274320" cy="201168"/>
          </a:xfrm>
          <a:prstGeom prst="downArrow">
            <a:avLst/>
          </a:prstGeom>
          <a:solidFill>
            <a:srgbClr val="E30613"/>
          </a:solidFill>
          <a:ln w="12700">
            <a:solidFill>
              <a:srgbClr val="E30613"/>
            </a:solidFill>
            <a:prstDash val="solid"/>
          </a:ln>
        </p:spPr>
        <p:txBody>
          <a:bodyPr/>
          <a:lstStyle/>
          <a:p>
            <a:endParaRPr lang="de-CH"/>
          </a:p>
        </p:txBody>
      </p:sp>
      <p:sp>
        <p:nvSpPr>
          <p:cNvPr id="22" name="Shape 19"/>
          <p:cNvSpPr/>
          <p:nvPr/>
        </p:nvSpPr>
        <p:spPr>
          <a:xfrm>
            <a:off x="4800600" y="4297680"/>
            <a:ext cx="3383280" cy="438912"/>
          </a:xfrm>
          <a:prstGeom prst="roundRect">
            <a:avLst>
              <a:gd name="adj" fmla="val 12500"/>
            </a:avLst>
          </a:prstGeom>
          <a:solidFill>
            <a:srgbClr val="E30613"/>
          </a:solidFill>
          <a:ln w="12700">
            <a:solidFill>
              <a:srgbClr val="E30613"/>
            </a:solidFill>
            <a:prstDash val="solid"/>
          </a:ln>
        </p:spPr>
        <p:txBody>
          <a:bodyPr/>
          <a:lstStyle/>
          <a:p>
            <a:endParaRPr lang="de-CH"/>
          </a:p>
        </p:txBody>
      </p:sp>
      <p:sp>
        <p:nvSpPr>
          <p:cNvPr id="23" name="Text 20"/>
          <p:cNvSpPr/>
          <p:nvPr/>
        </p:nvSpPr>
        <p:spPr>
          <a:xfrm>
            <a:off x="4800600" y="4325112"/>
            <a:ext cx="3337560" cy="411480"/>
          </a:xfrm>
          <a:prstGeom prst="rect">
            <a:avLst/>
          </a:prstGeom>
          <a:noFill/>
          <a:ln/>
        </p:spPr>
        <p:txBody>
          <a:bodyPr wrap="square" lIns="0" tIns="0" rIns="0" bIns="0" rtlCol="0" anchor="ctr">
            <a:normAutofit/>
          </a:bodyPr>
          <a:lstStyle/>
          <a:p>
            <a:pPr marL="0" indent="0" algn="ctr">
              <a:buNone/>
            </a:pPr>
            <a:r>
              <a:rPr lang="de-CH" sz="1170" b="1" dirty="0">
                <a:solidFill>
                  <a:srgbClr val="FFFFFF"/>
                </a:solidFill>
              </a:rPr>
              <a:t>SQL-Server 2022  ·  Datenbankserver</a:t>
            </a:r>
            <a:endParaRPr lang="de-CH" sz="1170" dirty="0"/>
          </a:p>
        </p:txBody>
      </p:sp>
      <p:sp>
        <p:nvSpPr>
          <p:cNvPr id="24" name="Shape 21"/>
          <p:cNvSpPr/>
          <p:nvPr/>
        </p:nvSpPr>
        <p:spPr>
          <a:xfrm>
            <a:off x="4800600" y="5074920"/>
            <a:ext cx="3383280" cy="502920"/>
          </a:xfrm>
          <a:prstGeom prst="roundRect">
            <a:avLst>
              <a:gd name="adj" fmla="val 10909"/>
            </a:avLst>
          </a:prstGeom>
          <a:solidFill>
            <a:srgbClr val="FFF1F1"/>
          </a:solidFill>
          <a:ln w="15240">
            <a:solidFill>
              <a:srgbClr val="E30613"/>
            </a:solidFill>
            <a:prstDash val="solid"/>
          </a:ln>
        </p:spPr>
        <p:txBody>
          <a:bodyPr/>
          <a:lstStyle/>
          <a:p>
            <a:endParaRPr lang="de-CH"/>
          </a:p>
        </p:txBody>
      </p:sp>
      <p:sp>
        <p:nvSpPr>
          <p:cNvPr id="25" name="Text 22"/>
          <p:cNvSpPr/>
          <p:nvPr/>
        </p:nvSpPr>
        <p:spPr>
          <a:xfrm>
            <a:off x="5010912" y="5248656"/>
            <a:ext cx="2971800" cy="137160"/>
          </a:xfrm>
          <a:prstGeom prst="rect">
            <a:avLst/>
          </a:prstGeom>
          <a:noFill/>
          <a:ln/>
        </p:spPr>
        <p:txBody>
          <a:bodyPr wrap="square" lIns="0" tIns="0" rIns="0" bIns="0" rtlCol="0" anchor="ctr"/>
          <a:lstStyle/>
          <a:p>
            <a:pPr marL="0" indent="0" algn="ctr">
              <a:buNone/>
            </a:pPr>
            <a:r>
              <a:rPr lang="de-CH" sz="1250" b="1" dirty="0">
                <a:solidFill>
                  <a:srgbClr val="E30613"/>
                </a:solidFill>
              </a:rPr>
              <a:t>SSMS: 127.0.0.1,1433</a:t>
            </a:r>
            <a:endParaRPr lang="de-CH"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mnt/data/stt_presentation_final/stt-logo-wide.png"/>
          <p:cNvPicPr>
            <a:picLocks noChangeAspect="1"/>
          </p:cNvPicPr>
          <p:nvPr/>
        </p:nvPicPr>
        <p:blipFill>
          <a:blip r:embed="rId3"/>
          <a:stretch>
            <a:fillRect/>
          </a:stretch>
        </p:blipFill>
        <p:spPr>
          <a:xfrm>
            <a:off x="335650" y="164592"/>
            <a:ext cx="1889020" cy="475488"/>
          </a:xfrm>
          <a:prstGeom prst="rect">
            <a:avLst/>
          </a:prstGeom>
        </p:spPr>
      </p:pic>
      <p:sp>
        <p:nvSpPr>
          <p:cNvPr id="3" name="Text 0"/>
          <p:cNvSpPr/>
          <p:nvPr/>
        </p:nvSpPr>
        <p:spPr>
          <a:xfrm>
            <a:off x="5669280" y="256032"/>
            <a:ext cx="2468880" cy="201168"/>
          </a:xfrm>
          <a:prstGeom prst="rect">
            <a:avLst/>
          </a:prstGeom>
          <a:noFill/>
          <a:ln/>
        </p:spPr>
        <p:txBody>
          <a:bodyPr wrap="square" lIns="0" tIns="0" rIns="0" bIns="0" rtlCol="0" anchor="ctr"/>
          <a:lstStyle/>
          <a:p>
            <a:pPr marL="0" indent="0" algn="r">
              <a:buNone/>
            </a:pPr>
            <a:r>
              <a:rPr lang="de-CH" sz="850" dirty="0">
                <a:solidFill>
                  <a:srgbClr val="5A5A5A"/>
                </a:solidFill>
                <a:latin typeface="Arial" pitchFamily="34" charset="0"/>
                <a:ea typeface="Arial" pitchFamily="34" charset="-122"/>
                <a:cs typeface="Arial" pitchFamily="34" charset="-120"/>
              </a:rPr>
              <a:t>STT-DB · Modulararbeit II</a:t>
            </a:r>
            <a:endParaRPr lang="de-CH" sz="850" dirty="0"/>
          </a:p>
        </p:txBody>
      </p:sp>
      <p:sp>
        <p:nvSpPr>
          <p:cNvPr id="4" name="Text 1"/>
          <p:cNvSpPr/>
          <p:nvPr/>
        </p:nvSpPr>
        <p:spPr>
          <a:xfrm>
            <a:off x="8394192" y="219456"/>
            <a:ext cx="274320" cy="228600"/>
          </a:xfrm>
          <a:prstGeom prst="rect">
            <a:avLst/>
          </a:prstGeom>
          <a:noFill/>
          <a:ln/>
        </p:spPr>
        <p:txBody>
          <a:bodyPr wrap="square" lIns="0" tIns="0" rIns="0" bIns="0" rtlCol="0" anchor="ctr"/>
          <a:lstStyle/>
          <a:p>
            <a:pPr marL="0" indent="0" algn="ctr">
              <a:buNone/>
            </a:pPr>
            <a:r>
              <a:rPr lang="de-CH" sz="850" dirty="0">
                <a:solidFill>
                  <a:srgbClr val="5A5A5A"/>
                </a:solidFill>
                <a:latin typeface="Arial" pitchFamily="34" charset="0"/>
                <a:ea typeface="Arial" pitchFamily="34" charset="-122"/>
                <a:cs typeface="Arial" pitchFamily="34" charset="-120"/>
              </a:rPr>
              <a:t>3</a:t>
            </a:r>
            <a:endParaRPr lang="de-CH" sz="850" dirty="0"/>
          </a:p>
        </p:txBody>
      </p:sp>
      <p:sp>
        <p:nvSpPr>
          <p:cNvPr id="5" name="Shape 2"/>
          <p:cNvSpPr/>
          <p:nvPr/>
        </p:nvSpPr>
        <p:spPr>
          <a:xfrm>
            <a:off x="320040" y="804672"/>
            <a:ext cx="8275320" cy="0"/>
          </a:xfrm>
          <a:prstGeom prst="line">
            <a:avLst/>
          </a:prstGeom>
          <a:noFill/>
          <a:ln w="12700">
            <a:solidFill>
              <a:srgbClr val="E9E9E9"/>
            </a:solidFill>
            <a:prstDash val="solid"/>
          </a:ln>
        </p:spPr>
        <p:txBody>
          <a:bodyPr/>
          <a:lstStyle/>
          <a:p>
            <a:endParaRPr lang="de-CH"/>
          </a:p>
        </p:txBody>
      </p:sp>
      <p:sp>
        <p:nvSpPr>
          <p:cNvPr id="6" name="Text 3"/>
          <p:cNvSpPr/>
          <p:nvPr/>
        </p:nvSpPr>
        <p:spPr>
          <a:xfrm>
            <a:off x="502920" y="987552"/>
            <a:ext cx="6583680" cy="402336"/>
          </a:xfrm>
          <a:prstGeom prst="rect">
            <a:avLst/>
          </a:prstGeom>
          <a:noFill/>
          <a:ln/>
        </p:spPr>
        <p:txBody>
          <a:bodyPr wrap="square" lIns="0" tIns="0" rIns="0" bIns="0" rtlCol="0" anchor="ctr"/>
          <a:lstStyle/>
          <a:p>
            <a:pPr marL="0" indent="0">
              <a:buNone/>
            </a:pPr>
            <a:r>
              <a:rPr lang="de-CH" sz="2700" b="1" dirty="0">
                <a:solidFill>
                  <a:srgbClr val="222222"/>
                </a:solidFill>
                <a:latin typeface="Arial" pitchFamily="34" charset="0"/>
                <a:ea typeface="Arial" pitchFamily="34" charset="-122"/>
                <a:cs typeface="Arial" pitchFamily="34" charset="-120"/>
              </a:rPr>
              <a:t>Datenmodell &amp; Datenintegrität</a:t>
            </a:r>
            <a:endParaRPr lang="de-CH" sz="2700" dirty="0"/>
          </a:p>
        </p:txBody>
      </p:sp>
      <p:sp>
        <p:nvSpPr>
          <p:cNvPr id="7" name="Shape 4"/>
          <p:cNvSpPr/>
          <p:nvPr/>
        </p:nvSpPr>
        <p:spPr>
          <a:xfrm>
            <a:off x="0" y="6455664"/>
            <a:ext cx="9144000" cy="402336"/>
          </a:xfrm>
          <a:prstGeom prst="rect">
            <a:avLst/>
          </a:prstGeom>
          <a:solidFill>
            <a:srgbClr val="E30613"/>
          </a:solidFill>
          <a:ln w="12700">
            <a:solidFill>
              <a:srgbClr val="E30613"/>
            </a:solidFill>
            <a:prstDash val="solid"/>
          </a:ln>
        </p:spPr>
        <p:txBody>
          <a:bodyPr/>
          <a:lstStyle/>
          <a:p>
            <a:endParaRPr lang="de-CH"/>
          </a:p>
        </p:txBody>
      </p:sp>
      <p:sp>
        <p:nvSpPr>
          <p:cNvPr id="8" name="Text 5"/>
          <p:cNvSpPr/>
          <p:nvPr/>
        </p:nvSpPr>
        <p:spPr>
          <a:xfrm>
            <a:off x="502920" y="6537960"/>
            <a:ext cx="5669280" cy="137160"/>
          </a:xfrm>
          <a:prstGeom prst="rect">
            <a:avLst/>
          </a:prstGeom>
          <a:noFill/>
          <a:ln/>
        </p:spPr>
        <p:txBody>
          <a:bodyPr wrap="square" lIns="0" tIns="0" rIns="0" bIns="0" rtlCol="0" anchor="ctr"/>
          <a:lstStyle/>
          <a:p>
            <a:pPr marL="0" indent="0">
              <a:buNone/>
            </a:pPr>
            <a:r>
              <a:rPr lang="de-CH" sz="850" dirty="0">
                <a:solidFill>
                  <a:srgbClr val="FFFFFF"/>
                </a:solidFill>
                <a:latin typeface="Arial" pitchFamily="34" charset="0"/>
                <a:ea typeface="Arial" pitchFamily="34" charset="-122"/>
                <a:cs typeface="Arial" pitchFamily="34" charset="-120"/>
              </a:rPr>
              <a:t>Christian Abbühl · B-TIP-24-T-a · 21.09.2026</a:t>
            </a:r>
            <a:endParaRPr lang="de-CH" sz="850" dirty="0"/>
          </a:p>
        </p:txBody>
      </p:sp>
      <p:sp>
        <p:nvSpPr>
          <p:cNvPr id="10" name="Text 7"/>
          <p:cNvSpPr/>
          <p:nvPr/>
        </p:nvSpPr>
        <p:spPr>
          <a:xfrm>
            <a:off x="594360" y="1517904"/>
            <a:ext cx="4114800" cy="274320"/>
          </a:xfrm>
          <a:prstGeom prst="rect">
            <a:avLst/>
          </a:prstGeom>
          <a:noFill/>
          <a:ln/>
        </p:spPr>
        <p:txBody>
          <a:bodyPr wrap="square" lIns="0" tIns="0" rIns="0" bIns="0" rtlCol="0" anchor="ctr"/>
          <a:lstStyle/>
          <a:p>
            <a:pPr marL="0" indent="0">
              <a:buNone/>
            </a:pPr>
            <a:r>
              <a:rPr lang="de-CH" sz="1800" b="1" dirty="0">
                <a:solidFill>
                  <a:srgbClr val="222222"/>
                </a:solidFill>
              </a:rPr>
              <a:t>39 Tabellen in Fachbereichen</a:t>
            </a:r>
            <a:endParaRPr lang="de-CH" sz="1800" dirty="0"/>
          </a:p>
        </p:txBody>
      </p:sp>
      <p:sp>
        <p:nvSpPr>
          <p:cNvPr id="11" name="Shape 8"/>
          <p:cNvSpPr/>
          <p:nvPr/>
        </p:nvSpPr>
        <p:spPr>
          <a:xfrm>
            <a:off x="1463040" y="2183825"/>
            <a:ext cx="2194560" cy="594360"/>
          </a:xfrm>
          <a:prstGeom prst="roundRect">
            <a:avLst>
              <a:gd name="adj" fmla="val 12308"/>
            </a:avLst>
          </a:prstGeom>
          <a:solidFill>
            <a:srgbClr val="E30613"/>
          </a:solidFill>
          <a:ln w="12700">
            <a:solidFill>
              <a:srgbClr val="E30613"/>
            </a:solidFill>
            <a:prstDash val="solid"/>
          </a:ln>
        </p:spPr>
        <p:txBody>
          <a:bodyPr/>
          <a:lstStyle/>
          <a:p>
            <a:endParaRPr lang="de-CH"/>
          </a:p>
        </p:txBody>
      </p:sp>
      <p:sp>
        <p:nvSpPr>
          <p:cNvPr id="12" name="Text 9"/>
          <p:cNvSpPr/>
          <p:nvPr/>
        </p:nvSpPr>
        <p:spPr>
          <a:xfrm>
            <a:off x="1493813" y="2286000"/>
            <a:ext cx="2048256" cy="411480"/>
          </a:xfrm>
          <a:prstGeom prst="rect">
            <a:avLst/>
          </a:prstGeom>
          <a:noFill/>
          <a:ln/>
        </p:spPr>
        <p:txBody>
          <a:bodyPr wrap="square" lIns="0" tIns="0" rIns="0" bIns="0" rtlCol="0" anchor="ctr">
            <a:normAutofit/>
          </a:bodyPr>
          <a:lstStyle/>
          <a:p>
            <a:pPr marL="0" indent="0" algn="ctr">
              <a:buNone/>
            </a:pPr>
            <a:r>
              <a:rPr lang="de-CH" sz="1250" b="1" dirty="0">
                <a:solidFill>
                  <a:srgbClr val="FFFFFF"/>
                </a:solidFill>
              </a:rPr>
              <a:t>Spieler</a:t>
            </a:r>
            <a:endParaRPr lang="de-CH" sz="1250" dirty="0"/>
          </a:p>
          <a:p>
            <a:pPr marL="0" indent="0" algn="ctr">
              <a:buNone/>
            </a:pPr>
            <a:r>
              <a:rPr lang="de-CH" sz="1250" b="1" dirty="0">
                <a:solidFill>
                  <a:srgbClr val="FFFFFF"/>
                </a:solidFill>
              </a:rPr>
              <a:t>Saison · Club</a:t>
            </a:r>
            <a:endParaRPr lang="de-CH" sz="1250" dirty="0"/>
          </a:p>
        </p:txBody>
      </p:sp>
      <p:sp>
        <p:nvSpPr>
          <p:cNvPr id="13" name="Shape 10"/>
          <p:cNvSpPr/>
          <p:nvPr/>
        </p:nvSpPr>
        <p:spPr>
          <a:xfrm>
            <a:off x="594360" y="3154680"/>
            <a:ext cx="1965960" cy="594360"/>
          </a:xfrm>
          <a:prstGeom prst="roundRect">
            <a:avLst>
              <a:gd name="adj" fmla="val 12308"/>
            </a:avLst>
          </a:prstGeom>
          <a:solidFill>
            <a:srgbClr val="F5F5F5"/>
          </a:solidFill>
          <a:ln w="12700">
            <a:solidFill>
              <a:srgbClr val="E9E9E9"/>
            </a:solidFill>
            <a:prstDash val="solid"/>
          </a:ln>
        </p:spPr>
        <p:txBody>
          <a:bodyPr/>
          <a:lstStyle/>
          <a:p>
            <a:endParaRPr lang="de-CH"/>
          </a:p>
        </p:txBody>
      </p:sp>
      <p:sp>
        <p:nvSpPr>
          <p:cNvPr id="14" name="Text 11"/>
          <p:cNvSpPr/>
          <p:nvPr/>
        </p:nvSpPr>
        <p:spPr>
          <a:xfrm>
            <a:off x="667512" y="3246120"/>
            <a:ext cx="1819656" cy="411480"/>
          </a:xfrm>
          <a:prstGeom prst="rect">
            <a:avLst/>
          </a:prstGeom>
          <a:noFill/>
          <a:ln/>
        </p:spPr>
        <p:txBody>
          <a:bodyPr wrap="square" lIns="0" tIns="0" rIns="0" bIns="0" rtlCol="0" anchor="ctr">
            <a:normAutofit/>
          </a:bodyPr>
          <a:lstStyle/>
          <a:p>
            <a:pPr marL="0" indent="0" algn="ctr">
              <a:buNone/>
            </a:pPr>
            <a:r>
              <a:rPr lang="de-CH" sz="1250" b="1" dirty="0">
                <a:solidFill>
                  <a:srgbClr val="222222"/>
                </a:solidFill>
              </a:rPr>
              <a:t>Liga</a:t>
            </a:r>
            <a:endParaRPr lang="de-CH" sz="1250" dirty="0"/>
          </a:p>
          <a:p>
            <a:pPr marL="0" indent="0" algn="ctr">
              <a:buNone/>
            </a:pPr>
            <a:r>
              <a:rPr lang="de-CH" sz="1250" b="1" dirty="0">
                <a:solidFill>
                  <a:srgbClr val="222222"/>
                </a:solidFill>
              </a:rPr>
              <a:t>Teams · Begegnungen</a:t>
            </a:r>
            <a:endParaRPr lang="de-CH" sz="1250" dirty="0"/>
          </a:p>
        </p:txBody>
      </p:sp>
      <p:sp>
        <p:nvSpPr>
          <p:cNvPr id="15" name="Shape 12"/>
          <p:cNvSpPr/>
          <p:nvPr/>
        </p:nvSpPr>
        <p:spPr>
          <a:xfrm>
            <a:off x="2926080" y="3154680"/>
            <a:ext cx="2057400" cy="594360"/>
          </a:xfrm>
          <a:prstGeom prst="roundRect">
            <a:avLst>
              <a:gd name="adj" fmla="val 12308"/>
            </a:avLst>
          </a:prstGeom>
          <a:solidFill>
            <a:srgbClr val="F5F5F5"/>
          </a:solidFill>
          <a:ln w="12700">
            <a:solidFill>
              <a:srgbClr val="E9E9E9"/>
            </a:solidFill>
            <a:prstDash val="solid"/>
          </a:ln>
        </p:spPr>
        <p:txBody>
          <a:bodyPr/>
          <a:lstStyle/>
          <a:p>
            <a:endParaRPr lang="de-CH"/>
          </a:p>
        </p:txBody>
      </p:sp>
      <p:sp>
        <p:nvSpPr>
          <p:cNvPr id="16" name="Text 13"/>
          <p:cNvSpPr/>
          <p:nvPr/>
        </p:nvSpPr>
        <p:spPr>
          <a:xfrm>
            <a:off x="2999232" y="3246120"/>
            <a:ext cx="1911096" cy="411480"/>
          </a:xfrm>
          <a:prstGeom prst="rect">
            <a:avLst/>
          </a:prstGeom>
          <a:noFill/>
          <a:ln/>
        </p:spPr>
        <p:txBody>
          <a:bodyPr wrap="square" lIns="0" tIns="0" rIns="0" bIns="0" rtlCol="0" anchor="ctr">
            <a:normAutofit fontScale="85000" lnSpcReduction="10000"/>
          </a:bodyPr>
          <a:lstStyle/>
          <a:p>
            <a:pPr marL="0" indent="0" algn="ctr">
              <a:buNone/>
            </a:pPr>
            <a:r>
              <a:rPr lang="de-CH" sz="1250" b="1" dirty="0">
                <a:solidFill>
                  <a:srgbClr val="222222"/>
                </a:solidFill>
              </a:rPr>
              <a:t>Turniere</a:t>
            </a:r>
            <a:endParaRPr lang="de-CH" sz="1250" dirty="0"/>
          </a:p>
          <a:p>
            <a:pPr marL="0" indent="0" algn="ctr">
              <a:buNone/>
            </a:pPr>
            <a:r>
              <a:rPr lang="de-CH" sz="1250" b="1" dirty="0">
                <a:solidFill>
                  <a:srgbClr val="222222"/>
                </a:solidFill>
              </a:rPr>
              <a:t>Kategorien · Anmeldungen</a:t>
            </a:r>
            <a:endParaRPr lang="de-CH" sz="1250" dirty="0"/>
          </a:p>
        </p:txBody>
      </p:sp>
      <p:sp>
        <p:nvSpPr>
          <p:cNvPr id="17" name="Shape 14"/>
          <p:cNvSpPr/>
          <p:nvPr/>
        </p:nvSpPr>
        <p:spPr>
          <a:xfrm>
            <a:off x="1508760" y="4069080"/>
            <a:ext cx="2468880" cy="594360"/>
          </a:xfrm>
          <a:prstGeom prst="roundRect">
            <a:avLst>
              <a:gd name="adj" fmla="val 12308"/>
            </a:avLst>
          </a:prstGeom>
          <a:solidFill>
            <a:srgbClr val="F5F5F5"/>
          </a:solidFill>
          <a:ln w="12700">
            <a:solidFill>
              <a:srgbClr val="E9E9E9"/>
            </a:solidFill>
            <a:prstDash val="solid"/>
          </a:ln>
        </p:spPr>
        <p:txBody>
          <a:bodyPr/>
          <a:lstStyle/>
          <a:p>
            <a:endParaRPr lang="de-CH"/>
          </a:p>
        </p:txBody>
      </p:sp>
      <p:sp>
        <p:nvSpPr>
          <p:cNvPr id="18" name="Text 15"/>
          <p:cNvSpPr/>
          <p:nvPr/>
        </p:nvSpPr>
        <p:spPr>
          <a:xfrm>
            <a:off x="1581912" y="4160520"/>
            <a:ext cx="2322576" cy="411480"/>
          </a:xfrm>
          <a:prstGeom prst="rect">
            <a:avLst/>
          </a:prstGeom>
          <a:noFill/>
          <a:ln/>
        </p:spPr>
        <p:txBody>
          <a:bodyPr wrap="square" lIns="0" tIns="0" rIns="0" bIns="0" rtlCol="0" anchor="ctr">
            <a:normAutofit/>
          </a:bodyPr>
          <a:lstStyle/>
          <a:p>
            <a:pPr marL="0" indent="0" algn="ctr">
              <a:buNone/>
            </a:pPr>
            <a:r>
              <a:rPr lang="de-CH" sz="1250" b="1" dirty="0">
                <a:solidFill>
                  <a:srgbClr val="222222"/>
                </a:solidFill>
              </a:rPr>
              <a:t>Spiele &amp; Sätze</a:t>
            </a:r>
            <a:endParaRPr lang="de-CH" sz="1250" dirty="0"/>
          </a:p>
          <a:p>
            <a:pPr marL="0" indent="0" algn="ctr">
              <a:buNone/>
            </a:pPr>
            <a:r>
              <a:rPr lang="de-CH" sz="1250" b="1" dirty="0">
                <a:solidFill>
                  <a:srgbClr val="222222"/>
                </a:solidFill>
              </a:rPr>
              <a:t>Einzel · Doppel · Satz</a:t>
            </a:r>
            <a:endParaRPr lang="de-CH" sz="1250" dirty="0"/>
          </a:p>
        </p:txBody>
      </p:sp>
      <p:sp>
        <p:nvSpPr>
          <p:cNvPr id="19" name="Shape 16"/>
          <p:cNvSpPr/>
          <p:nvPr/>
        </p:nvSpPr>
        <p:spPr>
          <a:xfrm>
            <a:off x="1508760" y="4983480"/>
            <a:ext cx="2468880" cy="594360"/>
          </a:xfrm>
          <a:prstGeom prst="roundRect">
            <a:avLst>
              <a:gd name="adj" fmla="val 12308"/>
            </a:avLst>
          </a:prstGeom>
          <a:solidFill>
            <a:srgbClr val="F5F5F5"/>
          </a:solidFill>
          <a:ln w="12700">
            <a:solidFill>
              <a:srgbClr val="E9E9E9"/>
            </a:solidFill>
            <a:prstDash val="solid"/>
          </a:ln>
        </p:spPr>
        <p:txBody>
          <a:bodyPr/>
          <a:lstStyle/>
          <a:p>
            <a:endParaRPr lang="de-CH"/>
          </a:p>
        </p:txBody>
      </p:sp>
      <p:sp>
        <p:nvSpPr>
          <p:cNvPr id="20" name="Text 17"/>
          <p:cNvSpPr/>
          <p:nvPr/>
        </p:nvSpPr>
        <p:spPr>
          <a:xfrm>
            <a:off x="1581912" y="5074920"/>
            <a:ext cx="2322576" cy="411480"/>
          </a:xfrm>
          <a:prstGeom prst="rect">
            <a:avLst/>
          </a:prstGeom>
          <a:noFill/>
          <a:ln/>
        </p:spPr>
        <p:txBody>
          <a:bodyPr wrap="square" lIns="0" tIns="0" rIns="0" bIns="0" rtlCol="0" anchor="ctr">
            <a:normAutofit/>
          </a:bodyPr>
          <a:lstStyle/>
          <a:p>
            <a:pPr marL="0" indent="0" algn="ctr">
              <a:buNone/>
            </a:pPr>
            <a:r>
              <a:rPr lang="de-CH" sz="1250" b="1" dirty="0">
                <a:solidFill>
                  <a:srgbClr val="222222"/>
                </a:solidFill>
              </a:rPr>
              <a:t>Elo-Historie</a:t>
            </a:r>
            <a:endParaRPr lang="de-CH" sz="1250" dirty="0"/>
          </a:p>
          <a:p>
            <a:pPr marL="0" indent="0" algn="ctr">
              <a:buNone/>
            </a:pPr>
            <a:r>
              <a:rPr lang="de-CH" sz="1250" b="1" dirty="0">
                <a:solidFill>
                  <a:srgbClr val="222222"/>
                </a:solidFill>
              </a:rPr>
              <a:t>Bewertung · Protokoll</a:t>
            </a:r>
            <a:endParaRPr lang="de-CH" sz="1250" dirty="0"/>
          </a:p>
        </p:txBody>
      </p:sp>
      <p:sp>
        <p:nvSpPr>
          <p:cNvPr id="21" name="Text 18"/>
          <p:cNvSpPr/>
          <p:nvPr/>
        </p:nvSpPr>
        <p:spPr>
          <a:xfrm>
            <a:off x="5532120" y="1517904"/>
            <a:ext cx="2926080" cy="274320"/>
          </a:xfrm>
          <a:prstGeom prst="rect">
            <a:avLst/>
          </a:prstGeom>
          <a:noFill/>
          <a:ln/>
        </p:spPr>
        <p:txBody>
          <a:bodyPr wrap="square" lIns="0" tIns="0" rIns="0" bIns="0" rtlCol="0" anchor="ctr"/>
          <a:lstStyle/>
          <a:p>
            <a:pPr marL="0" indent="0">
              <a:buNone/>
            </a:pPr>
            <a:r>
              <a:rPr lang="de-CH" sz="1800" b="1" dirty="0">
                <a:solidFill>
                  <a:srgbClr val="222222"/>
                </a:solidFill>
              </a:rPr>
              <a:t>Drei Schutzebenen</a:t>
            </a:r>
            <a:endParaRPr lang="de-CH" sz="1800" dirty="0"/>
          </a:p>
        </p:txBody>
      </p:sp>
      <p:sp>
        <p:nvSpPr>
          <p:cNvPr id="22" name="Shape 19"/>
          <p:cNvSpPr/>
          <p:nvPr/>
        </p:nvSpPr>
        <p:spPr>
          <a:xfrm>
            <a:off x="5413248" y="2075688"/>
            <a:ext cx="329184" cy="329184"/>
          </a:xfrm>
          <a:prstGeom prst="ellipse">
            <a:avLst/>
          </a:prstGeom>
          <a:solidFill>
            <a:srgbClr val="E30613"/>
          </a:solidFill>
          <a:ln w="12700">
            <a:solidFill>
              <a:srgbClr val="E30613"/>
            </a:solidFill>
            <a:prstDash val="solid"/>
          </a:ln>
        </p:spPr>
        <p:txBody>
          <a:bodyPr/>
          <a:lstStyle/>
          <a:p>
            <a:endParaRPr lang="de-CH"/>
          </a:p>
        </p:txBody>
      </p:sp>
      <p:sp>
        <p:nvSpPr>
          <p:cNvPr id="23" name="Text 20"/>
          <p:cNvSpPr/>
          <p:nvPr/>
        </p:nvSpPr>
        <p:spPr>
          <a:xfrm>
            <a:off x="5413248" y="2167128"/>
            <a:ext cx="329184" cy="91440"/>
          </a:xfrm>
          <a:prstGeom prst="rect">
            <a:avLst/>
          </a:prstGeom>
          <a:noFill/>
          <a:ln/>
        </p:spPr>
        <p:txBody>
          <a:bodyPr wrap="square" lIns="0" tIns="0" rIns="0" bIns="0" rtlCol="0" anchor="ctr"/>
          <a:lstStyle/>
          <a:p>
            <a:pPr marL="0" indent="0" algn="ctr">
              <a:buNone/>
            </a:pPr>
            <a:r>
              <a:rPr lang="de-CH" sz="950" b="1" dirty="0">
                <a:solidFill>
                  <a:srgbClr val="FFFFFF"/>
                </a:solidFill>
              </a:rPr>
              <a:t>1</a:t>
            </a:r>
            <a:endParaRPr lang="de-CH" sz="950" dirty="0"/>
          </a:p>
        </p:txBody>
      </p:sp>
      <p:sp>
        <p:nvSpPr>
          <p:cNvPr id="24" name="Text 21"/>
          <p:cNvSpPr/>
          <p:nvPr/>
        </p:nvSpPr>
        <p:spPr>
          <a:xfrm>
            <a:off x="5852160" y="2057400"/>
            <a:ext cx="2423160" cy="192024"/>
          </a:xfrm>
          <a:prstGeom prst="rect">
            <a:avLst/>
          </a:prstGeom>
          <a:noFill/>
          <a:ln/>
        </p:spPr>
        <p:txBody>
          <a:bodyPr wrap="square" lIns="0" tIns="0" rIns="0" bIns="0" rtlCol="0" anchor="ctr"/>
          <a:lstStyle/>
          <a:p>
            <a:pPr marL="0" indent="0">
              <a:buNone/>
            </a:pPr>
            <a:r>
              <a:rPr lang="de-CH" sz="1320" b="1" dirty="0">
                <a:solidFill>
                  <a:srgbClr val="222222"/>
                </a:solidFill>
              </a:rPr>
              <a:t>Beziehungen stimmen</a:t>
            </a:r>
            <a:endParaRPr lang="de-CH" sz="1320" dirty="0"/>
          </a:p>
        </p:txBody>
      </p:sp>
      <p:sp>
        <p:nvSpPr>
          <p:cNvPr id="25" name="Text 22"/>
          <p:cNvSpPr/>
          <p:nvPr/>
        </p:nvSpPr>
        <p:spPr>
          <a:xfrm>
            <a:off x="5852160" y="2313432"/>
            <a:ext cx="2606040" cy="457200"/>
          </a:xfrm>
          <a:prstGeom prst="rect">
            <a:avLst/>
          </a:prstGeom>
          <a:noFill/>
          <a:ln/>
        </p:spPr>
        <p:txBody>
          <a:bodyPr wrap="square" lIns="0" tIns="0" rIns="0" bIns="0" rtlCol="0" anchor="ctr">
            <a:normAutofit/>
          </a:bodyPr>
          <a:lstStyle/>
          <a:p>
            <a:pPr marL="0" indent="0">
              <a:buNone/>
            </a:pPr>
            <a:r>
              <a:rPr lang="de-CH" sz="1060" dirty="0">
                <a:solidFill>
                  <a:srgbClr val="5A5A5A"/>
                </a:solidFill>
              </a:rPr>
              <a:t>PK + FK · SpielerVerein braucht gültigen Spieler, Saison und Club.</a:t>
            </a:r>
            <a:endParaRPr lang="de-CH" sz="1060" dirty="0"/>
          </a:p>
        </p:txBody>
      </p:sp>
      <p:sp>
        <p:nvSpPr>
          <p:cNvPr id="26" name="Shape 23"/>
          <p:cNvSpPr/>
          <p:nvPr/>
        </p:nvSpPr>
        <p:spPr>
          <a:xfrm>
            <a:off x="5413248" y="3127248"/>
            <a:ext cx="329184" cy="329184"/>
          </a:xfrm>
          <a:prstGeom prst="ellipse">
            <a:avLst/>
          </a:prstGeom>
          <a:solidFill>
            <a:srgbClr val="E30613"/>
          </a:solidFill>
          <a:ln w="12700">
            <a:solidFill>
              <a:srgbClr val="E30613"/>
            </a:solidFill>
            <a:prstDash val="solid"/>
          </a:ln>
        </p:spPr>
        <p:txBody>
          <a:bodyPr/>
          <a:lstStyle/>
          <a:p>
            <a:endParaRPr lang="de-CH"/>
          </a:p>
        </p:txBody>
      </p:sp>
      <p:sp>
        <p:nvSpPr>
          <p:cNvPr id="27" name="Text 24"/>
          <p:cNvSpPr/>
          <p:nvPr/>
        </p:nvSpPr>
        <p:spPr>
          <a:xfrm>
            <a:off x="5413248" y="3218688"/>
            <a:ext cx="329184" cy="91440"/>
          </a:xfrm>
          <a:prstGeom prst="rect">
            <a:avLst/>
          </a:prstGeom>
          <a:noFill/>
          <a:ln/>
        </p:spPr>
        <p:txBody>
          <a:bodyPr wrap="square" lIns="0" tIns="0" rIns="0" bIns="0" rtlCol="0" anchor="ctr"/>
          <a:lstStyle/>
          <a:p>
            <a:pPr marL="0" indent="0" algn="ctr">
              <a:buNone/>
            </a:pPr>
            <a:r>
              <a:rPr lang="de-CH" sz="950" b="1" dirty="0">
                <a:solidFill>
                  <a:srgbClr val="FFFFFF"/>
                </a:solidFill>
              </a:rPr>
              <a:t>2</a:t>
            </a:r>
            <a:endParaRPr lang="de-CH" sz="950" dirty="0"/>
          </a:p>
        </p:txBody>
      </p:sp>
      <p:sp>
        <p:nvSpPr>
          <p:cNvPr id="28" name="Text 25"/>
          <p:cNvSpPr/>
          <p:nvPr/>
        </p:nvSpPr>
        <p:spPr>
          <a:xfrm>
            <a:off x="5852160" y="3108960"/>
            <a:ext cx="2423160" cy="192024"/>
          </a:xfrm>
          <a:prstGeom prst="rect">
            <a:avLst/>
          </a:prstGeom>
          <a:noFill/>
          <a:ln/>
        </p:spPr>
        <p:txBody>
          <a:bodyPr wrap="square" lIns="0" tIns="0" rIns="0" bIns="0" rtlCol="0" anchor="ctr"/>
          <a:lstStyle/>
          <a:p>
            <a:pPr marL="0" indent="0">
              <a:buNone/>
            </a:pPr>
            <a:r>
              <a:rPr lang="de-CH" sz="1320" b="1" dirty="0">
                <a:solidFill>
                  <a:srgbClr val="222222"/>
                </a:solidFill>
              </a:rPr>
              <a:t>Keine Dubletten</a:t>
            </a:r>
            <a:endParaRPr lang="de-CH" sz="1320" dirty="0"/>
          </a:p>
        </p:txBody>
      </p:sp>
      <p:sp>
        <p:nvSpPr>
          <p:cNvPr id="29" name="Text 26"/>
          <p:cNvSpPr/>
          <p:nvPr/>
        </p:nvSpPr>
        <p:spPr>
          <a:xfrm>
            <a:off x="5852160" y="3364992"/>
            <a:ext cx="2606040" cy="457200"/>
          </a:xfrm>
          <a:prstGeom prst="rect">
            <a:avLst/>
          </a:prstGeom>
          <a:noFill/>
          <a:ln/>
        </p:spPr>
        <p:txBody>
          <a:bodyPr wrap="square" lIns="0" tIns="0" rIns="0" bIns="0" rtlCol="0" anchor="ctr">
            <a:normAutofit/>
          </a:bodyPr>
          <a:lstStyle/>
          <a:p>
            <a:pPr marL="0" indent="0">
              <a:buNone/>
            </a:pPr>
            <a:r>
              <a:rPr lang="de-CH" sz="1060" dirty="0">
                <a:solidFill>
                  <a:srgbClr val="5A5A5A"/>
                </a:solidFill>
              </a:rPr>
              <a:t>UNIQUE · Nur ein Hauptverein pro Spieler und Saison.</a:t>
            </a:r>
            <a:endParaRPr lang="de-CH" sz="1060" dirty="0"/>
          </a:p>
        </p:txBody>
      </p:sp>
      <p:sp>
        <p:nvSpPr>
          <p:cNvPr id="30" name="Shape 27"/>
          <p:cNvSpPr/>
          <p:nvPr/>
        </p:nvSpPr>
        <p:spPr>
          <a:xfrm>
            <a:off x="5413248" y="4178808"/>
            <a:ext cx="329184" cy="329184"/>
          </a:xfrm>
          <a:prstGeom prst="ellipse">
            <a:avLst/>
          </a:prstGeom>
          <a:solidFill>
            <a:srgbClr val="E30613"/>
          </a:solidFill>
          <a:ln w="12700">
            <a:solidFill>
              <a:srgbClr val="E30613"/>
            </a:solidFill>
            <a:prstDash val="solid"/>
          </a:ln>
        </p:spPr>
        <p:txBody>
          <a:bodyPr/>
          <a:lstStyle/>
          <a:p>
            <a:endParaRPr lang="de-CH"/>
          </a:p>
        </p:txBody>
      </p:sp>
      <p:sp>
        <p:nvSpPr>
          <p:cNvPr id="31" name="Text 28"/>
          <p:cNvSpPr/>
          <p:nvPr/>
        </p:nvSpPr>
        <p:spPr>
          <a:xfrm>
            <a:off x="5413248" y="4270248"/>
            <a:ext cx="329184" cy="91440"/>
          </a:xfrm>
          <a:prstGeom prst="rect">
            <a:avLst/>
          </a:prstGeom>
          <a:noFill/>
          <a:ln/>
        </p:spPr>
        <p:txBody>
          <a:bodyPr wrap="square" lIns="0" tIns="0" rIns="0" bIns="0" rtlCol="0" anchor="ctr"/>
          <a:lstStyle/>
          <a:p>
            <a:pPr marL="0" indent="0" algn="ctr">
              <a:buNone/>
            </a:pPr>
            <a:r>
              <a:rPr lang="de-CH" sz="950" b="1" dirty="0">
                <a:solidFill>
                  <a:srgbClr val="FFFFFF"/>
                </a:solidFill>
              </a:rPr>
              <a:t>3</a:t>
            </a:r>
            <a:endParaRPr lang="de-CH" sz="950" dirty="0"/>
          </a:p>
        </p:txBody>
      </p:sp>
      <p:sp>
        <p:nvSpPr>
          <p:cNvPr id="32" name="Text 29"/>
          <p:cNvSpPr/>
          <p:nvPr/>
        </p:nvSpPr>
        <p:spPr>
          <a:xfrm>
            <a:off x="5852160" y="4160520"/>
            <a:ext cx="2423160" cy="192024"/>
          </a:xfrm>
          <a:prstGeom prst="rect">
            <a:avLst/>
          </a:prstGeom>
          <a:noFill/>
          <a:ln/>
        </p:spPr>
        <p:txBody>
          <a:bodyPr wrap="square" lIns="0" tIns="0" rIns="0" bIns="0" rtlCol="0" anchor="ctr"/>
          <a:lstStyle/>
          <a:p>
            <a:pPr marL="0" indent="0">
              <a:buNone/>
            </a:pPr>
            <a:r>
              <a:rPr lang="de-CH" sz="1320" b="1" dirty="0">
                <a:solidFill>
                  <a:srgbClr val="222222"/>
                </a:solidFill>
              </a:rPr>
              <a:t>Werte sind plausibel</a:t>
            </a:r>
            <a:endParaRPr lang="de-CH" sz="1320" dirty="0"/>
          </a:p>
        </p:txBody>
      </p:sp>
      <p:sp>
        <p:nvSpPr>
          <p:cNvPr id="33" name="Text 30"/>
          <p:cNvSpPr/>
          <p:nvPr/>
        </p:nvSpPr>
        <p:spPr>
          <a:xfrm>
            <a:off x="5852160" y="4416552"/>
            <a:ext cx="2606040" cy="457200"/>
          </a:xfrm>
          <a:prstGeom prst="rect">
            <a:avLst/>
          </a:prstGeom>
          <a:noFill/>
          <a:ln/>
        </p:spPr>
        <p:txBody>
          <a:bodyPr wrap="square" lIns="0" tIns="0" rIns="0" bIns="0" rtlCol="0" anchor="ctr">
            <a:normAutofit/>
          </a:bodyPr>
          <a:lstStyle/>
          <a:p>
            <a:pPr marL="0" indent="0">
              <a:buNone/>
            </a:pPr>
            <a:r>
              <a:rPr lang="de-CH" sz="1060" dirty="0">
                <a:solidFill>
                  <a:srgbClr val="5A5A5A"/>
                </a:solidFill>
              </a:rPr>
              <a:t>CHECK · Heim und Gast müssen verschieden sein.</a:t>
            </a:r>
            <a:endParaRPr lang="de-CH" sz="1060" dirty="0"/>
          </a:p>
        </p:txBody>
      </p:sp>
      <p:sp>
        <p:nvSpPr>
          <p:cNvPr id="34" name="Shape 31"/>
          <p:cNvSpPr/>
          <p:nvPr/>
        </p:nvSpPr>
        <p:spPr>
          <a:xfrm>
            <a:off x="5486400" y="5285231"/>
            <a:ext cx="3182112" cy="768095"/>
          </a:xfrm>
          <a:prstGeom prst="roundRect">
            <a:avLst>
              <a:gd name="adj" fmla="val 13043"/>
            </a:avLst>
          </a:prstGeom>
          <a:solidFill>
            <a:srgbClr val="FFF1F1"/>
          </a:solidFill>
          <a:ln w="12700">
            <a:solidFill>
              <a:srgbClr val="E30613"/>
            </a:solidFill>
            <a:prstDash val="solid"/>
          </a:ln>
        </p:spPr>
        <p:txBody>
          <a:bodyPr/>
          <a:lstStyle/>
          <a:p>
            <a:endParaRPr lang="de-CH"/>
          </a:p>
        </p:txBody>
      </p:sp>
      <p:sp>
        <p:nvSpPr>
          <p:cNvPr id="35" name="Text 32"/>
          <p:cNvSpPr/>
          <p:nvPr/>
        </p:nvSpPr>
        <p:spPr>
          <a:xfrm>
            <a:off x="5532120" y="5294375"/>
            <a:ext cx="3136392" cy="804671"/>
          </a:xfrm>
          <a:prstGeom prst="rect">
            <a:avLst/>
          </a:prstGeom>
          <a:noFill/>
          <a:ln/>
        </p:spPr>
        <p:txBody>
          <a:bodyPr wrap="square" lIns="0" tIns="0" rIns="0" bIns="0" rtlCol="0" anchor="ctr"/>
          <a:lstStyle/>
          <a:p>
            <a:pPr marL="0" indent="0" algn="ctr">
              <a:buNone/>
            </a:pPr>
            <a:r>
              <a:rPr lang="de-CH" sz="1500" b="1" dirty="0">
                <a:solidFill>
                  <a:srgbClr val="E30613"/>
                </a:solidFill>
              </a:rPr>
              <a:t>Ungültige Daten werden beim INSERT/UPDATE blockiert.</a:t>
            </a:r>
            <a:endParaRPr lang="de-CH"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mnt/data/stt_presentation_final/stt-logo-wide.png"/>
          <p:cNvPicPr>
            <a:picLocks noChangeAspect="1"/>
          </p:cNvPicPr>
          <p:nvPr/>
        </p:nvPicPr>
        <p:blipFill>
          <a:blip r:embed="rId3"/>
          <a:stretch>
            <a:fillRect/>
          </a:stretch>
        </p:blipFill>
        <p:spPr>
          <a:xfrm>
            <a:off x="335650" y="164592"/>
            <a:ext cx="1889020" cy="475488"/>
          </a:xfrm>
          <a:prstGeom prst="rect">
            <a:avLst/>
          </a:prstGeom>
        </p:spPr>
      </p:pic>
      <p:sp>
        <p:nvSpPr>
          <p:cNvPr id="3" name="Text 0"/>
          <p:cNvSpPr/>
          <p:nvPr/>
        </p:nvSpPr>
        <p:spPr>
          <a:xfrm>
            <a:off x="5669280" y="256032"/>
            <a:ext cx="2468880" cy="201168"/>
          </a:xfrm>
          <a:prstGeom prst="rect">
            <a:avLst/>
          </a:prstGeom>
          <a:noFill/>
          <a:ln/>
        </p:spPr>
        <p:txBody>
          <a:bodyPr wrap="square" lIns="0" tIns="0" rIns="0" bIns="0" rtlCol="0" anchor="ctr"/>
          <a:lstStyle/>
          <a:p>
            <a:pPr marL="0" indent="0" algn="r">
              <a:buNone/>
            </a:pPr>
            <a:r>
              <a:rPr lang="de-CH" sz="850" dirty="0">
                <a:solidFill>
                  <a:srgbClr val="5A5A5A"/>
                </a:solidFill>
                <a:latin typeface="Arial" pitchFamily="34" charset="0"/>
                <a:ea typeface="Arial" pitchFamily="34" charset="-122"/>
                <a:cs typeface="Arial" pitchFamily="34" charset="-120"/>
              </a:rPr>
              <a:t>STT-DB · Modulararbeit II</a:t>
            </a:r>
            <a:endParaRPr lang="de-CH" sz="850" dirty="0"/>
          </a:p>
        </p:txBody>
      </p:sp>
      <p:sp>
        <p:nvSpPr>
          <p:cNvPr id="4" name="Text 1"/>
          <p:cNvSpPr/>
          <p:nvPr/>
        </p:nvSpPr>
        <p:spPr>
          <a:xfrm>
            <a:off x="8394192" y="219456"/>
            <a:ext cx="274320" cy="228600"/>
          </a:xfrm>
          <a:prstGeom prst="rect">
            <a:avLst/>
          </a:prstGeom>
          <a:noFill/>
          <a:ln/>
        </p:spPr>
        <p:txBody>
          <a:bodyPr wrap="square" lIns="0" tIns="0" rIns="0" bIns="0" rtlCol="0" anchor="ctr"/>
          <a:lstStyle/>
          <a:p>
            <a:pPr marL="0" indent="0" algn="ctr">
              <a:buNone/>
            </a:pPr>
            <a:r>
              <a:rPr lang="de-CH" sz="850" dirty="0">
                <a:solidFill>
                  <a:srgbClr val="5A5A5A"/>
                </a:solidFill>
                <a:latin typeface="Arial" pitchFamily="34" charset="0"/>
                <a:ea typeface="Arial" pitchFamily="34" charset="-122"/>
                <a:cs typeface="Arial" pitchFamily="34" charset="-120"/>
              </a:rPr>
              <a:t>4</a:t>
            </a:r>
            <a:endParaRPr lang="de-CH" sz="850" dirty="0"/>
          </a:p>
        </p:txBody>
      </p:sp>
      <p:sp>
        <p:nvSpPr>
          <p:cNvPr id="5" name="Shape 2"/>
          <p:cNvSpPr/>
          <p:nvPr/>
        </p:nvSpPr>
        <p:spPr>
          <a:xfrm>
            <a:off x="320040" y="804672"/>
            <a:ext cx="8275320" cy="0"/>
          </a:xfrm>
          <a:prstGeom prst="line">
            <a:avLst/>
          </a:prstGeom>
          <a:noFill/>
          <a:ln w="12700">
            <a:solidFill>
              <a:srgbClr val="E9E9E9"/>
            </a:solidFill>
            <a:prstDash val="solid"/>
          </a:ln>
        </p:spPr>
        <p:txBody>
          <a:bodyPr/>
          <a:lstStyle/>
          <a:p>
            <a:endParaRPr lang="de-CH"/>
          </a:p>
        </p:txBody>
      </p:sp>
      <p:sp>
        <p:nvSpPr>
          <p:cNvPr id="6" name="Text 3"/>
          <p:cNvSpPr/>
          <p:nvPr/>
        </p:nvSpPr>
        <p:spPr>
          <a:xfrm>
            <a:off x="502920" y="987552"/>
            <a:ext cx="6583680" cy="402336"/>
          </a:xfrm>
          <a:prstGeom prst="rect">
            <a:avLst/>
          </a:prstGeom>
          <a:noFill/>
          <a:ln/>
        </p:spPr>
        <p:txBody>
          <a:bodyPr wrap="square" lIns="0" tIns="0" rIns="0" bIns="0" rtlCol="0" anchor="ctr"/>
          <a:lstStyle/>
          <a:p>
            <a:pPr marL="0" indent="0">
              <a:buNone/>
            </a:pPr>
            <a:r>
              <a:rPr lang="de-CH" sz="2700" b="1" dirty="0">
                <a:solidFill>
                  <a:srgbClr val="222222"/>
                </a:solidFill>
                <a:latin typeface="Arial" pitchFamily="34" charset="0"/>
                <a:ea typeface="Arial" pitchFamily="34" charset="-122"/>
                <a:cs typeface="Arial" pitchFamily="34" charset="-120"/>
              </a:rPr>
              <a:t>Views, Procedures &amp; Geschäftsablauf</a:t>
            </a:r>
            <a:endParaRPr lang="de-CH" sz="2700" dirty="0"/>
          </a:p>
        </p:txBody>
      </p:sp>
      <p:sp>
        <p:nvSpPr>
          <p:cNvPr id="7" name="Shape 4"/>
          <p:cNvSpPr/>
          <p:nvPr/>
        </p:nvSpPr>
        <p:spPr>
          <a:xfrm>
            <a:off x="0" y="6455664"/>
            <a:ext cx="9144000" cy="402336"/>
          </a:xfrm>
          <a:prstGeom prst="rect">
            <a:avLst/>
          </a:prstGeom>
          <a:solidFill>
            <a:srgbClr val="E30613"/>
          </a:solidFill>
          <a:ln w="12700">
            <a:solidFill>
              <a:srgbClr val="E30613"/>
            </a:solidFill>
            <a:prstDash val="solid"/>
          </a:ln>
        </p:spPr>
        <p:txBody>
          <a:bodyPr/>
          <a:lstStyle/>
          <a:p>
            <a:endParaRPr lang="de-CH"/>
          </a:p>
        </p:txBody>
      </p:sp>
      <p:sp>
        <p:nvSpPr>
          <p:cNvPr id="8" name="Text 5"/>
          <p:cNvSpPr/>
          <p:nvPr/>
        </p:nvSpPr>
        <p:spPr>
          <a:xfrm>
            <a:off x="502920" y="6537960"/>
            <a:ext cx="5669280" cy="137160"/>
          </a:xfrm>
          <a:prstGeom prst="rect">
            <a:avLst/>
          </a:prstGeom>
          <a:noFill/>
          <a:ln/>
        </p:spPr>
        <p:txBody>
          <a:bodyPr wrap="square" lIns="0" tIns="0" rIns="0" bIns="0" rtlCol="0" anchor="ctr"/>
          <a:lstStyle/>
          <a:p>
            <a:pPr marL="0" indent="0">
              <a:buNone/>
            </a:pPr>
            <a:r>
              <a:rPr lang="de-CH" sz="850" dirty="0">
                <a:solidFill>
                  <a:srgbClr val="FFFFFF"/>
                </a:solidFill>
                <a:latin typeface="Arial" pitchFamily="34" charset="0"/>
                <a:ea typeface="Arial" pitchFamily="34" charset="-122"/>
                <a:cs typeface="Arial" pitchFamily="34" charset="-120"/>
              </a:rPr>
              <a:t>Christian Abbühl · B-TIP-24-T-a · 21.09.2026</a:t>
            </a:r>
            <a:endParaRPr lang="de-CH" sz="850" dirty="0"/>
          </a:p>
        </p:txBody>
      </p:sp>
      <p:sp>
        <p:nvSpPr>
          <p:cNvPr id="10" name="Text 7"/>
          <p:cNvSpPr/>
          <p:nvPr/>
        </p:nvSpPr>
        <p:spPr>
          <a:xfrm>
            <a:off x="594360" y="1499616"/>
            <a:ext cx="4114800" cy="256032"/>
          </a:xfrm>
          <a:prstGeom prst="rect">
            <a:avLst/>
          </a:prstGeom>
          <a:noFill/>
          <a:ln/>
        </p:spPr>
        <p:txBody>
          <a:bodyPr wrap="square" lIns="0" tIns="0" rIns="0" bIns="0" rtlCol="0" anchor="ctr"/>
          <a:lstStyle/>
          <a:p>
            <a:pPr marL="0" indent="0">
              <a:buNone/>
            </a:pPr>
            <a:r>
              <a:rPr lang="de-CH" sz="1800" b="1" dirty="0">
                <a:solidFill>
                  <a:srgbClr val="222222"/>
                </a:solidFill>
              </a:rPr>
              <a:t>Wofür verwende ich sie?</a:t>
            </a:r>
            <a:endParaRPr lang="de-CH" sz="1800" dirty="0"/>
          </a:p>
        </p:txBody>
      </p:sp>
      <p:sp>
        <p:nvSpPr>
          <p:cNvPr id="11" name="Shape 8"/>
          <p:cNvSpPr/>
          <p:nvPr/>
        </p:nvSpPr>
        <p:spPr>
          <a:xfrm>
            <a:off x="594360" y="1901952"/>
            <a:ext cx="3703320" cy="2331720"/>
          </a:xfrm>
          <a:prstGeom prst="roundRect">
            <a:avLst>
              <a:gd name="adj" fmla="val 3137"/>
            </a:avLst>
          </a:prstGeom>
          <a:solidFill>
            <a:srgbClr val="F5F5F5"/>
          </a:solidFill>
          <a:ln w="12700">
            <a:solidFill>
              <a:srgbClr val="E9E9E9"/>
            </a:solidFill>
            <a:prstDash val="solid"/>
          </a:ln>
        </p:spPr>
        <p:txBody>
          <a:bodyPr/>
          <a:lstStyle/>
          <a:p>
            <a:endParaRPr lang="de-CH"/>
          </a:p>
        </p:txBody>
      </p:sp>
      <p:sp>
        <p:nvSpPr>
          <p:cNvPr id="12" name="Text 9"/>
          <p:cNvSpPr/>
          <p:nvPr/>
        </p:nvSpPr>
        <p:spPr>
          <a:xfrm>
            <a:off x="868680" y="2139696"/>
            <a:ext cx="3200400" cy="274320"/>
          </a:xfrm>
          <a:prstGeom prst="rect">
            <a:avLst/>
          </a:prstGeom>
          <a:noFill/>
          <a:ln/>
        </p:spPr>
        <p:txBody>
          <a:bodyPr wrap="square" lIns="0" tIns="0" rIns="0" bIns="0" rtlCol="0" anchor="ctr"/>
          <a:lstStyle/>
          <a:p>
            <a:pPr marL="0" indent="0">
              <a:buNone/>
            </a:pPr>
            <a:r>
              <a:rPr lang="de-CH" sz="1900" b="1" dirty="0">
                <a:solidFill>
                  <a:srgbClr val="E30613"/>
                </a:solidFill>
              </a:rPr>
              <a:t>Views</a:t>
            </a:r>
            <a:endParaRPr lang="de-CH" sz="1900" dirty="0"/>
          </a:p>
        </p:txBody>
      </p:sp>
      <p:sp>
        <p:nvSpPr>
          <p:cNvPr id="13" name="Text 10"/>
          <p:cNvSpPr/>
          <p:nvPr/>
        </p:nvSpPr>
        <p:spPr>
          <a:xfrm>
            <a:off x="877824" y="2478024"/>
            <a:ext cx="2926080" cy="182880"/>
          </a:xfrm>
          <a:prstGeom prst="rect">
            <a:avLst/>
          </a:prstGeom>
          <a:noFill/>
          <a:ln/>
        </p:spPr>
        <p:txBody>
          <a:bodyPr wrap="square" lIns="0" tIns="0" rIns="0" bIns="0" rtlCol="0" anchor="ctr"/>
          <a:lstStyle/>
          <a:p>
            <a:pPr marL="0" indent="0">
              <a:buNone/>
            </a:pPr>
            <a:r>
              <a:rPr lang="de-CH" sz="1250" b="1" dirty="0">
                <a:solidFill>
                  <a:srgbClr val="5A5A5A"/>
                </a:solidFill>
              </a:rPr>
              <a:t>anzeigen und auswerten</a:t>
            </a:r>
            <a:endParaRPr lang="de-CH" sz="1250" dirty="0"/>
          </a:p>
        </p:txBody>
      </p:sp>
      <p:sp>
        <p:nvSpPr>
          <p:cNvPr id="14" name="Text 11"/>
          <p:cNvSpPr/>
          <p:nvPr/>
        </p:nvSpPr>
        <p:spPr>
          <a:xfrm>
            <a:off x="868680" y="2807208"/>
            <a:ext cx="3108960" cy="1097280"/>
          </a:xfrm>
          <a:prstGeom prst="rect">
            <a:avLst/>
          </a:prstGeom>
          <a:noFill/>
          <a:ln/>
        </p:spPr>
        <p:txBody>
          <a:bodyPr wrap="square" lIns="635" tIns="635" rIns="635" bIns="635" rtlCol="0" anchor="ctr">
            <a:normAutofit/>
          </a:bodyPr>
          <a:lstStyle/>
          <a:p>
            <a:pPr marL="0" indent="0">
              <a:buNone/>
            </a:pPr>
            <a:r>
              <a:rPr lang="de-CH" sz="1260" b="1" dirty="0">
                <a:solidFill>
                  <a:srgbClr val="E30613"/>
                </a:solidFill>
                <a:latin typeface="Arial" pitchFamily="34" charset="0"/>
                <a:ea typeface="Arial" pitchFamily="34" charset="-122"/>
                <a:cs typeface="Arial" pitchFamily="34" charset="-120"/>
              </a:rPr>
              <a:t>• </a:t>
            </a:r>
            <a:r>
              <a:rPr lang="de-CH" sz="1260" dirty="0">
                <a:solidFill>
                  <a:srgbClr val="222222"/>
                </a:solidFill>
                <a:latin typeface="Arial" pitchFamily="34" charset="0"/>
                <a:ea typeface="Arial" pitchFamily="34" charset="-122"/>
                <a:cs typeface="Arial" pitchFamily="34" charset="-120"/>
              </a:rPr>
              <a:t>aktuelle Spieler anzeigen
</a:t>
            </a:r>
            <a:r>
              <a:rPr lang="de-CH" sz="1260" b="1" dirty="0">
                <a:solidFill>
                  <a:srgbClr val="E30613"/>
                </a:solidFill>
                <a:latin typeface="Arial" pitchFamily="34" charset="0"/>
                <a:ea typeface="Arial" pitchFamily="34" charset="-122"/>
                <a:cs typeface="Arial" pitchFamily="34" charset="-120"/>
              </a:rPr>
              <a:t>• </a:t>
            </a:r>
            <a:r>
              <a:rPr lang="de-CH" sz="1260" dirty="0">
                <a:solidFill>
                  <a:srgbClr val="222222"/>
                </a:solidFill>
                <a:latin typeface="Arial" pitchFamily="34" charset="0"/>
                <a:ea typeface="Arial" pitchFamily="34" charset="-122"/>
                <a:cs typeface="Arial" pitchFamily="34" charset="-120"/>
              </a:rPr>
              <a:t>Mannschaften einer Liga anzeigen
</a:t>
            </a:r>
            <a:r>
              <a:rPr lang="de-CH" sz="1260" b="1" dirty="0">
                <a:solidFill>
                  <a:srgbClr val="E30613"/>
                </a:solidFill>
                <a:latin typeface="Arial" pitchFamily="34" charset="0"/>
                <a:ea typeface="Arial" pitchFamily="34" charset="-122"/>
                <a:cs typeface="Arial" pitchFamily="34" charset="-120"/>
              </a:rPr>
              <a:t>• </a:t>
            </a:r>
            <a:r>
              <a:rPr lang="de-CH" sz="1260" dirty="0">
                <a:solidFill>
                  <a:srgbClr val="222222"/>
                </a:solidFill>
                <a:latin typeface="Arial" pitchFamily="34" charset="0"/>
                <a:ea typeface="Arial" pitchFamily="34" charset="-122"/>
                <a:cs typeface="Arial" pitchFamily="34" charset="-120"/>
              </a:rPr>
              <a:t>Begegnungen übersichtlich darstellen
</a:t>
            </a:r>
            <a:r>
              <a:rPr lang="de-CH" sz="1260" b="1" dirty="0">
                <a:solidFill>
                  <a:srgbClr val="E30613"/>
                </a:solidFill>
                <a:latin typeface="Arial" pitchFamily="34" charset="0"/>
                <a:ea typeface="Arial" pitchFamily="34" charset="-122"/>
                <a:cs typeface="Arial" pitchFamily="34" charset="-120"/>
              </a:rPr>
              <a:t>• </a:t>
            </a:r>
            <a:r>
              <a:rPr lang="de-CH" sz="1260" dirty="0">
                <a:solidFill>
                  <a:srgbClr val="222222"/>
                </a:solidFill>
                <a:latin typeface="Arial" pitchFamily="34" charset="0"/>
                <a:ea typeface="Arial" pitchFamily="34" charset="-122"/>
                <a:cs typeface="Arial" pitchFamily="34" charset="-120"/>
              </a:rPr>
              <a:t>Spielresultate auswerten</a:t>
            </a:r>
            <a:endParaRPr lang="de-CH" sz="1260" dirty="0"/>
          </a:p>
        </p:txBody>
      </p:sp>
      <p:sp>
        <p:nvSpPr>
          <p:cNvPr id="15" name="Shape 12"/>
          <p:cNvSpPr/>
          <p:nvPr/>
        </p:nvSpPr>
        <p:spPr>
          <a:xfrm>
            <a:off x="4846320" y="1901952"/>
            <a:ext cx="3703320" cy="2331720"/>
          </a:xfrm>
          <a:prstGeom prst="roundRect">
            <a:avLst>
              <a:gd name="adj" fmla="val 3137"/>
            </a:avLst>
          </a:prstGeom>
          <a:solidFill>
            <a:srgbClr val="FFF1F1"/>
          </a:solidFill>
          <a:ln w="12700">
            <a:solidFill>
              <a:srgbClr val="E30613"/>
            </a:solidFill>
            <a:prstDash val="solid"/>
          </a:ln>
        </p:spPr>
        <p:txBody>
          <a:bodyPr/>
          <a:lstStyle/>
          <a:p>
            <a:endParaRPr lang="de-CH"/>
          </a:p>
        </p:txBody>
      </p:sp>
      <p:sp>
        <p:nvSpPr>
          <p:cNvPr id="16" name="Text 13"/>
          <p:cNvSpPr/>
          <p:nvPr/>
        </p:nvSpPr>
        <p:spPr>
          <a:xfrm>
            <a:off x="5120640" y="2139696"/>
            <a:ext cx="3200400" cy="274320"/>
          </a:xfrm>
          <a:prstGeom prst="rect">
            <a:avLst/>
          </a:prstGeom>
          <a:noFill/>
          <a:ln/>
        </p:spPr>
        <p:txBody>
          <a:bodyPr wrap="square" lIns="0" tIns="0" rIns="0" bIns="0" rtlCol="0" anchor="ctr"/>
          <a:lstStyle/>
          <a:p>
            <a:pPr marL="0" indent="0">
              <a:buNone/>
            </a:pPr>
            <a:r>
              <a:rPr lang="de-CH" sz="1900" b="1" dirty="0">
                <a:solidFill>
                  <a:srgbClr val="E30613"/>
                </a:solidFill>
              </a:rPr>
              <a:t>Stored Procedures</a:t>
            </a:r>
            <a:endParaRPr lang="de-CH" sz="1900" dirty="0"/>
          </a:p>
        </p:txBody>
      </p:sp>
      <p:sp>
        <p:nvSpPr>
          <p:cNvPr id="17" name="Text 14"/>
          <p:cNvSpPr/>
          <p:nvPr/>
        </p:nvSpPr>
        <p:spPr>
          <a:xfrm>
            <a:off x="5129784" y="2478024"/>
            <a:ext cx="2926080" cy="182880"/>
          </a:xfrm>
          <a:prstGeom prst="rect">
            <a:avLst/>
          </a:prstGeom>
          <a:noFill/>
          <a:ln/>
        </p:spPr>
        <p:txBody>
          <a:bodyPr wrap="square" lIns="0" tIns="0" rIns="0" bIns="0" rtlCol="0" anchor="ctr"/>
          <a:lstStyle/>
          <a:p>
            <a:pPr marL="0" indent="0">
              <a:buNone/>
            </a:pPr>
            <a:r>
              <a:rPr lang="de-CH" sz="1250" b="1" dirty="0">
                <a:solidFill>
                  <a:srgbClr val="5A5A5A"/>
                </a:solidFill>
              </a:rPr>
              <a:t>prüfen und ändern</a:t>
            </a:r>
            <a:endParaRPr lang="de-CH" sz="1250" dirty="0"/>
          </a:p>
        </p:txBody>
      </p:sp>
      <p:sp>
        <p:nvSpPr>
          <p:cNvPr id="18" name="Text 15"/>
          <p:cNvSpPr/>
          <p:nvPr/>
        </p:nvSpPr>
        <p:spPr>
          <a:xfrm>
            <a:off x="5120640" y="2807208"/>
            <a:ext cx="3108960" cy="1097280"/>
          </a:xfrm>
          <a:prstGeom prst="rect">
            <a:avLst/>
          </a:prstGeom>
          <a:noFill/>
          <a:ln/>
        </p:spPr>
        <p:txBody>
          <a:bodyPr wrap="square" lIns="635" tIns="635" rIns="635" bIns="635" rtlCol="0" anchor="ctr">
            <a:normAutofit/>
          </a:bodyPr>
          <a:lstStyle/>
          <a:p>
            <a:pPr marL="0" indent="0">
              <a:buNone/>
            </a:pPr>
            <a:r>
              <a:rPr lang="de-CH" sz="1260" b="1" dirty="0">
                <a:solidFill>
                  <a:srgbClr val="E30613"/>
                </a:solidFill>
                <a:latin typeface="Arial" pitchFamily="34" charset="0"/>
                <a:ea typeface="Arial" pitchFamily="34" charset="-122"/>
                <a:cs typeface="Arial" pitchFamily="34" charset="-120"/>
              </a:rPr>
              <a:t>• </a:t>
            </a:r>
            <a:r>
              <a:rPr lang="de-CH" sz="1260" dirty="0">
                <a:solidFill>
                  <a:srgbClr val="222222"/>
                </a:solidFill>
                <a:latin typeface="Arial" pitchFamily="34" charset="0"/>
                <a:ea typeface="Arial" pitchFamily="34" charset="-122"/>
                <a:cs typeface="Arial" pitchFamily="34" charset="-120"/>
              </a:rPr>
              <a:t>Spieler für Saison anmelden
</a:t>
            </a:r>
            <a:r>
              <a:rPr lang="de-CH" sz="1260" b="1" dirty="0">
                <a:solidFill>
                  <a:srgbClr val="E30613"/>
                </a:solidFill>
                <a:latin typeface="Arial" pitchFamily="34" charset="0"/>
                <a:ea typeface="Arial" pitchFamily="34" charset="-122"/>
                <a:cs typeface="Arial" pitchFamily="34" charset="-120"/>
              </a:rPr>
              <a:t>• </a:t>
            </a:r>
            <a:r>
              <a:rPr lang="de-CH" sz="1260" dirty="0">
                <a:solidFill>
                  <a:srgbClr val="222222"/>
                </a:solidFill>
                <a:latin typeface="Arial" pitchFamily="34" charset="0"/>
                <a:ea typeface="Arial" pitchFamily="34" charset="-122"/>
                <a:cs typeface="Arial" pitchFamily="34" charset="-120"/>
              </a:rPr>
              <a:t>Mannschaft zuordnen
</a:t>
            </a:r>
            <a:r>
              <a:rPr lang="de-CH" sz="1260" b="1" dirty="0">
                <a:solidFill>
                  <a:srgbClr val="E30613"/>
                </a:solidFill>
                <a:latin typeface="Arial" pitchFamily="34" charset="0"/>
                <a:ea typeface="Arial" pitchFamily="34" charset="-122"/>
                <a:cs typeface="Arial" pitchFamily="34" charset="-120"/>
              </a:rPr>
              <a:t>• </a:t>
            </a:r>
            <a:r>
              <a:rPr lang="de-CH" sz="1260" dirty="0">
                <a:solidFill>
                  <a:srgbClr val="222222"/>
                </a:solidFill>
                <a:latin typeface="Arial" pitchFamily="34" charset="0"/>
                <a:ea typeface="Arial" pitchFamily="34" charset="-122"/>
                <a:cs typeface="Arial" pitchFamily="34" charset="-120"/>
              </a:rPr>
              <a:t>Begegnung und Resultat erfassen
</a:t>
            </a:r>
            <a:r>
              <a:rPr lang="de-CH" sz="1260" b="1" dirty="0">
                <a:solidFill>
                  <a:srgbClr val="E30613"/>
                </a:solidFill>
                <a:latin typeface="Arial" pitchFamily="34" charset="0"/>
                <a:ea typeface="Arial" pitchFamily="34" charset="-122"/>
                <a:cs typeface="Arial" pitchFamily="34" charset="-120"/>
              </a:rPr>
              <a:t>• </a:t>
            </a:r>
            <a:r>
              <a:rPr lang="de-CH" sz="1260" dirty="0">
                <a:solidFill>
                  <a:srgbClr val="222222"/>
                </a:solidFill>
                <a:latin typeface="Arial" pitchFamily="34" charset="0"/>
                <a:ea typeface="Arial" pitchFamily="34" charset="-122"/>
                <a:cs typeface="Arial" pitchFamily="34" charset="-120"/>
              </a:rPr>
              <a:t>Turnieranmeldung und Elo aktualisieren</a:t>
            </a:r>
            <a:endParaRPr lang="de-CH" sz="1260" dirty="0"/>
          </a:p>
        </p:txBody>
      </p:sp>
      <p:sp>
        <p:nvSpPr>
          <p:cNvPr id="19" name="Shape 16"/>
          <p:cNvSpPr/>
          <p:nvPr/>
        </p:nvSpPr>
        <p:spPr>
          <a:xfrm>
            <a:off x="1051560" y="4681728"/>
            <a:ext cx="7040880" cy="658368"/>
          </a:xfrm>
          <a:prstGeom prst="roundRect">
            <a:avLst>
              <a:gd name="adj" fmla="val 11111"/>
            </a:avLst>
          </a:prstGeom>
          <a:solidFill>
            <a:srgbClr val="E30613"/>
          </a:solidFill>
          <a:ln w="12700">
            <a:solidFill>
              <a:srgbClr val="E30613"/>
            </a:solidFill>
            <a:prstDash val="solid"/>
          </a:ln>
        </p:spPr>
        <p:txBody>
          <a:bodyPr/>
          <a:lstStyle/>
          <a:p>
            <a:endParaRPr lang="de-CH"/>
          </a:p>
        </p:txBody>
      </p:sp>
      <p:sp>
        <p:nvSpPr>
          <p:cNvPr id="20" name="Text 17"/>
          <p:cNvSpPr/>
          <p:nvPr/>
        </p:nvSpPr>
        <p:spPr>
          <a:xfrm>
            <a:off x="1234440" y="4928616"/>
            <a:ext cx="6675120" cy="137160"/>
          </a:xfrm>
          <a:prstGeom prst="rect">
            <a:avLst/>
          </a:prstGeom>
          <a:noFill/>
          <a:ln/>
        </p:spPr>
        <p:txBody>
          <a:bodyPr wrap="square" lIns="0" tIns="0" rIns="0" bIns="0" rtlCol="0" anchor="ctr"/>
          <a:lstStyle/>
          <a:p>
            <a:pPr marL="0" indent="0" algn="ctr">
              <a:buNone/>
            </a:pPr>
            <a:r>
              <a:rPr lang="de-CH" sz="1400" b="1" dirty="0">
                <a:solidFill>
                  <a:srgbClr val="FFFFFF"/>
                </a:solidFill>
              </a:rPr>
              <a:t>Merksatz: Views = lesen   |   Stored Procedures = kontrolliert ändern</a:t>
            </a:r>
            <a:endParaRPr lang="de-CH" sz="1400" dirty="0"/>
          </a:p>
        </p:txBody>
      </p:sp>
      <p:sp>
        <p:nvSpPr>
          <p:cNvPr id="21" name="Shape 18"/>
          <p:cNvSpPr/>
          <p:nvPr/>
        </p:nvSpPr>
        <p:spPr>
          <a:xfrm>
            <a:off x="914400" y="5532120"/>
            <a:ext cx="7315200" cy="384048"/>
          </a:xfrm>
          <a:prstGeom prst="roundRect">
            <a:avLst>
              <a:gd name="adj" fmla="val 14286"/>
            </a:avLst>
          </a:prstGeom>
          <a:solidFill>
            <a:srgbClr val="F5F5F5"/>
          </a:solidFill>
          <a:ln w="12700">
            <a:solidFill>
              <a:srgbClr val="E9E9E9"/>
            </a:solidFill>
            <a:prstDash val="solid"/>
          </a:ln>
        </p:spPr>
        <p:txBody>
          <a:bodyPr/>
          <a:lstStyle/>
          <a:p>
            <a:endParaRPr lang="de-CH"/>
          </a:p>
        </p:txBody>
      </p:sp>
      <p:sp>
        <p:nvSpPr>
          <p:cNvPr id="22" name="Text 19"/>
          <p:cNvSpPr/>
          <p:nvPr/>
        </p:nvSpPr>
        <p:spPr>
          <a:xfrm>
            <a:off x="1051560" y="5669280"/>
            <a:ext cx="7040880" cy="109728"/>
          </a:xfrm>
          <a:prstGeom prst="rect">
            <a:avLst/>
          </a:prstGeom>
          <a:noFill/>
          <a:ln/>
        </p:spPr>
        <p:txBody>
          <a:bodyPr wrap="square" lIns="0" tIns="0" rIns="0" bIns="0" rtlCol="0" anchor="ctr">
            <a:normAutofit fontScale="77500" lnSpcReduction="20000"/>
          </a:bodyPr>
          <a:lstStyle/>
          <a:p>
            <a:pPr marL="0" indent="0" algn="ctr">
              <a:buNone/>
            </a:pPr>
            <a:r>
              <a:rPr lang="de-CH" sz="1150" b="1" dirty="0">
                <a:solidFill>
                  <a:srgbClr val="222222"/>
                </a:solidFill>
              </a:rPr>
              <a:t>Beispiel: Einzelspiel → sp_EloAktualisieren → EloProtokoll → SpielerElo</a:t>
            </a:r>
            <a:endParaRPr lang="de-CH"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mnt/data/stt_presentation_final/stt-logo-wide.png"/>
          <p:cNvPicPr>
            <a:picLocks noChangeAspect="1"/>
          </p:cNvPicPr>
          <p:nvPr/>
        </p:nvPicPr>
        <p:blipFill>
          <a:blip r:embed="rId3"/>
          <a:stretch>
            <a:fillRect/>
          </a:stretch>
        </p:blipFill>
        <p:spPr>
          <a:xfrm>
            <a:off x="335650" y="164592"/>
            <a:ext cx="1889020" cy="475488"/>
          </a:xfrm>
          <a:prstGeom prst="rect">
            <a:avLst/>
          </a:prstGeom>
        </p:spPr>
      </p:pic>
      <p:sp>
        <p:nvSpPr>
          <p:cNvPr id="3" name="Text 0"/>
          <p:cNvSpPr/>
          <p:nvPr/>
        </p:nvSpPr>
        <p:spPr>
          <a:xfrm>
            <a:off x="5669280" y="256032"/>
            <a:ext cx="2468880" cy="201168"/>
          </a:xfrm>
          <a:prstGeom prst="rect">
            <a:avLst/>
          </a:prstGeom>
          <a:noFill/>
          <a:ln/>
        </p:spPr>
        <p:txBody>
          <a:bodyPr wrap="square" lIns="0" tIns="0" rIns="0" bIns="0" rtlCol="0" anchor="ctr"/>
          <a:lstStyle/>
          <a:p>
            <a:pPr marL="0" indent="0" algn="r">
              <a:buNone/>
            </a:pPr>
            <a:r>
              <a:rPr lang="de-CH" sz="850" dirty="0">
                <a:solidFill>
                  <a:srgbClr val="5A5A5A"/>
                </a:solidFill>
                <a:latin typeface="Arial" pitchFamily="34" charset="0"/>
                <a:ea typeface="Arial" pitchFamily="34" charset="-122"/>
                <a:cs typeface="Arial" pitchFamily="34" charset="-120"/>
              </a:rPr>
              <a:t>STT-DB · Modulararbeit II</a:t>
            </a:r>
            <a:endParaRPr lang="de-CH" sz="850" dirty="0"/>
          </a:p>
        </p:txBody>
      </p:sp>
      <p:sp>
        <p:nvSpPr>
          <p:cNvPr id="4" name="Text 1"/>
          <p:cNvSpPr/>
          <p:nvPr/>
        </p:nvSpPr>
        <p:spPr>
          <a:xfrm>
            <a:off x="8394192" y="219456"/>
            <a:ext cx="274320" cy="228600"/>
          </a:xfrm>
          <a:prstGeom prst="rect">
            <a:avLst/>
          </a:prstGeom>
          <a:noFill/>
          <a:ln/>
        </p:spPr>
        <p:txBody>
          <a:bodyPr wrap="square" lIns="0" tIns="0" rIns="0" bIns="0" rtlCol="0" anchor="ctr"/>
          <a:lstStyle/>
          <a:p>
            <a:pPr marL="0" indent="0" algn="ctr">
              <a:buNone/>
            </a:pPr>
            <a:r>
              <a:rPr lang="de-CH" sz="850" dirty="0">
                <a:solidFill>
                  <a:srgbClr val="5A5A5A"/>
                </a:solidFill>
                <a:latin typeface="Arial" pitchFamily="34" charset="0"/>
                <a:ea typeface="Arial" pitchFamily="34" charset="-122"/>
                <a:cs typeface="Arial" pitchFamily="34" charset="-120"/>
              </a:rPr>
              <a:t>5</a:t>
            </a:r>
            <a:endParaRPr lang="de-CH" sz="850" dirty="0"/>
          </a:p>
        </p:txBody>
      </p:sp>
      <p:sp>
        <p:nvSpPr>
          <p:cNvPr id="5" name="Shape 2"/>
          <p:cNvSpPr/>
          <p:nvPr/>
        </p:nvSpPr>
        <p:spPr>
          <a:xfrm>
            <a:off x="320040" y="804672"/>
            <a:ext cx="8275320" cy="0"/>
          </a:xfrm>
          <a:prstGeom prst="line">
            <a:avLst/>
          </a:prstGeom>
          <a:noFill/>
          <a:ln w="12700">
            <a:solidFill>
              <a:srgbClr val="E9E9E9"/>
            </a:solidFill>
            <a:prstDash val="solid"/>
          </a:ln>
        </p:spPr>
        <p:txBody>
          <a:bodyPr/>
          <a:lstStyle/>
          <a:p>
            <a:endParaRPr lang="de-CH"/>
          </a:p>
        </p:txBody>
      </p:sp>
      <p:sp>
        <p:nvSpPr>
          <p:cNvPr id="6" name="Text 3"/>
          <p:cNvSpPr/>
          <p:nvPr/>
        </p:nvSpPr>
        <p:spPr>
          <a:xfrm>
            <a:off x="502920" y="987552"/>
            <a:ext cx="6583680" cy="402336"/>
          </a:xfrm>
          <a:prstGeom prst="rect">
            <a:avLst/>
          </a:prstGeom>
          <a:noFill/>
          <a:ln/>
        </p:spPr>
        <p:txBody>
          <a:bodyPr wrap="square" lIns="0" tIns="0" rIns="0" bIns="0" rtlCol="0" anchor="ctr"/>
          <a:lstStyle/>
          <a:p>
            <a:pPr marL="0" indent="0">
              <a:buNone/>
            </a:pPr>
            <a:r>
              <a:rPr lang="de-CH" sz="2700" b="1" dirty="0">
                <a:solidFill>
                  <a:srgbClr val="222222"/>
                </a:solidFill>
                <a:latin typeface="Arial" pitchFamily="34" charset="0"/>
                <a:ea typeface="Arial" pitchFamily="34" charset="-122"/>
                <a:cs typeface="Arial" pitchFamily="34" charset="-120"/>
              </a:rPr>
              <a:t>Qualitätssicherung</a:t>
            </a:r>
            <a:endParaRPr lang="de-CH" sz="2700" dirty="0"/>
          </a:p>
        </p:txBody>
      </p:sp>
      <p:sp>
        <p:nvSpPr>
          <p:cNvPr id="7" name="Shape 4"/>
          <p:cNvSpPr/>
          <p:nvPr/>
        </p:nvSpPr>
        <p:spPr>
          <a:xfrm>
            <a:off x="0" y="6455664"/>
            <a:ext cx="9144000" cy="402336"/>
          </a:xfrm>
          <a:prstGeom prst="rect">
            <a:avLst/>
          </a:prstGeom>
          <a:solidFill>
            <a:srgbClr val="E30613"/>
          </a:solidFill>
          <a:ln w="12700">
            <a:solidFill>
              <a:srgbClr val="E30613"/>
            </a:solidFill>
            <a:prstDash val="solid"/>
          </a:ln>
        </p:spPr>
        <p:txBody>
          <a:bodyPr/>
          <a:lstStyle/>
          <a:p>
            <a:endParaRPr lang="de-CH"/>
          </a:p>
        </p:txBody>
      </p:sp>
      <p:sp>
        <p:nvSpPr>
          <p:cNvPr id="8" name="Text 5"/>
          <p:cNvSpPr/>
          <p:nvPr/>
        </p:nvSpPr>
        <p:spPr>
          <a:xfrm>
            <a:off x="502920" y="6537960"/>
            <a:ext cx="5669280" cy="137160"/>
          </a:xfrm>
          <a:prstGeom prst="rect">
            <a:avLst/>
          </a:prstGeom>
          <a:noFill/>
          <a:ln/>
        </p:spPr>
        <p:txBody>
          <a:bodyPr wrap="square" lIns="0" tIns="0" rIns="0" bIns="0" rtlCol="0" anchor="ctr"/>
          <a:lstStyle/>
          <a:p>
            <a:pPr marL="0" indent="0">
              <a:buNone/>
            </a:pPr>
            <a:r>
              <a:rPr lang="de-CH" sz="850" dirty="0">
                <a:solidFill>
                  <a:srgbClr val="FFFFFF"/>
                </a:solidFill>
                <a:latin typeface="Arial" pitchFamily="34" charset="0"/>
                <a:ea typeface="Arial" pitchFamily="34" charset="-122"/>
                <a:cs typeface="Arial" pitchFamily="34" charset="-120"/>
              </a:rPr>
              <a:t>Christian Abbühl · B-TIP-24-T-a · 21.09.2026</a:t>
            </a:r>
            <a:endParaRPr lang="de-CH" sz="850" dirty="0"/>
          </a:p>
        </p:txBody>
      </p:sp>
      <p:sp>
        <p:nvSpPr>
          <p:cNvPr id="10" name="Text 7"/>
          <p:cNvSpPr/>
          <p:nvPr/>
        </p:nvSpPr>
        <p:spPr>
          <a:xfrm>
            <a:off x="594360" y="1499616"/>
            <a:ext cx="4297680" cy="274320"/>
          </a:xfrm>
          <a:prstGeom prst="rect">
            <a:avLst/>
          </a:prstGeom>
          <a:noFill/>
          <a:ln/>
        </p:spPr>
        <p:txBody>
          <a:bodyPr wrap="square" lIns="0" tIns="0" rIns="0" bIns="0" rtlCol="0" anchor="ctr"/>
          <a:lstStyle/>
          <a:p>
            <a:pPr marL="0" indent="0">
              <a:buNone/>
            </a:pPr>
            <a:r>
              <a:rPr lang="de-CH" sz="1800" b="1" dirty="0">
                <a:solidFill>
                  <a:srgbClr val="222222"/>
                </a:solidFill>
              </a:rPr>
              <a:t>Wie wurde der Stand geprüft?</a:t>
            </a:r>
            <a:endParaRPr lang="de-CH" sz="1800" dirty="0"/>
          </a:p>
        </p:txBody>
      </p:sp>
      <p:sp>
        <p:nvSpPr>
          <p:cNvPr id="11" name="Shape 8"/>
          <p:cNvSpPr/>
          <p:nvPr/>
        </p:nvSpPr>
        <p:spPr>
          <a:xfrm>
            <a:off x="685800" y="1874520"/>
            <a:ext cx="3611880" cy="566928"/>
          </a:xfrm>
          <a:prstGeom prst="roundRect">
            <a:avLst>
              <a:gd name="adj" fmla="val 9677"/>
            </a:avLst>
          </a:prstGeom>
          <a:solidFill>
            <a:srgbClr val="FFF1F1"/>
          </a:solidFill>
          <a:ln w="12700">
            <a:solidFill>
              <a:srgbClr val="E30613"/>
            </a:solidFill>
            <a:prstDash val="solid"/>
          </a:ln>
        </p:spPr>
        <p:txBody>
          <a:bodyPr/>
          <a:lstStyle/>
          <a:p>
            <a:endParaRPr lang="de-CH"/>
          </a:p>
        </p:txBody>
      </p:sp>
      <p:sp>
        <p:nvSpPr>
          <p:cNvPr id="12" name="Text 9"/>
          <p:cNvSpPr/>
          <p:nvPr/>
        </p:nvSpPr>
        <p:spPr>
          <a:xfrm>
            <a:off x="832104" y="1984248"/>
            <a:ext cx="1417320" cy="146304"/>
          </a:xfrm>
          <a:prstGeom prst="rect">
            <a:avLst/>
          </a:prstGeom>
          <a:noFill/>
          <a:ln/>
        </p:spPr>
        <p:txBody>
          <a:bodyPr wrap="square" lIns="0" tIns="0" rIns="0" bIns="0" rtlCol="0" anchor="ctr"/>
          <a:lstStyle/>
          <a:p>
            <a:pPr marL="0" indent="0">
              <a:buNone/>
            </a:pPr>
            <a:r>
              <a:rPr lang="de-CH" sz="1250" b="1" dirty="0">
                <a:solidFill>
                  <a:srgbClr val="E30613"/>
                </a:solidFill>
              </a:rPr>
              <a:t>Rebuild-Test</a:t>
            </a:r>
            <a:endParaRPr lang="de-CH" sz="1250" dirty="0"/>
          </a:p>
        </p:txBody>
      </p:sp>
      <p:sp>
        <p:nvSpPr>
          <p:cNvPr id="13" name="Text 10"/>
          <p:cNvSpPr/>
          <p:nvPr/>
        </p:nvSpPr>
        <p:spPr>
          <a:xfrm>
            <a:off x="2286000" y="1984248"/>
            <a:ext cx="1828800" cy="274320"/>
          </a:xfrm>
          <a:prstGeom prst="rect">
            <a:avLst/>
          </a:prstGeom>
          <a:noFill/>
          <a:ln/>
        </p:spPr>
        <p:txBody>
          <a:bodyPr wrap="square" lIns="0" tIns="0" rIns="0" bIns="0" rtlCol="0" anchor="ctr">
            <a:normAutofit fontScale="92500" lnSpcReduction="10000"/>
          </a:bodyPr>
          <a:lstStyle/>
          <a:p>
            <a:pPr marL="0" indent="0">
              <a:buNone/>
            </a:pPr>
            <a:r>
              <a:rPr lang="de-CH" sz="1050" dirty="0">
                <a:solidFill>
                  <a:srgbClr val="5A5A5A"/>
                </a:solidFill>
              </a:rPr>
              <a:t>Datenbank aus Skripten neu aufbauen</a:t>
            </a:r>
            <a:endParaRPr lang="de-CH" sz="1050" dirty="0"/>
          </a:p>
        </p:txBody>
      </p:sp>
      <p:sp>
        <p:nvSpPr>
          <p:cNvPr id="14" name="Shape 11"/>
          <p:cNvSpPr/>
          <p:nvPr/>
        </p:nvSpPr>
        <p:spPr>
          <a:xfrm>
            <a:off x="4846320" y="1874520"/>
            <a:ext cx="3611880" cy="566928"/>
          </a:xfrm>
          <a:prstGeom prst="roundRect">
            <a:avLst>
              <a:gd name="adj" fmla="val 9677"/>
            </a:avLst>
          </a:prstGeom>
          <a:solidFill>
            <a:srgbClr val="F5F5F5"/>
          </a:solidFill>
          <a:ln w="12700">
            <a:solidFill>
              <a:srgbClr val="E9E9E9"/>
            </a:solidFill>
            <a:prstDash val="solid"/>
          </a:ln>
        </p:spPr>
        <p:txBody>
          <a:bodyPr/>
          <a:lstStyle/>
          <a:p>
            <a:endParaRPr lang="de-CH"/>
          </a:p>
        </p:txBody>
      </p:sp>
      <p:sp>
        <p:nvSpPr>
          <p:cNvPr id="15" name="Text 12"/>
          <p:cNvSpPr/>
          <p:nvPr/>
        </p:nvSpPr>
        <p:spPr>
          <a:xfrm>
            <a:off x="4992624" y="1984248"/>
            <a:ext cx="1417320" cy="146304"/>
          </a:xfrm>
          <a:prstGeom prst="rect">
            <a:avLst/>
          </a:prstGeom>
          <a:noFill/>
          <a:ln/>
        </p:spPr>
        <p:txBody>
          <a:bodyPr wrap="square" lIns="0" tIns="0" rIns="0" bIns="0" rtlCol="0" anchor="ctr"/>
          <a:lstStyle/>
          <a:p>
            <a:pPr marL="0" indent="0">
              <a:buNone/>
            </a:pPr>
            <a:r>
              <a:rPr lang="de-CH" sz="1250" b="1" dirty="0">
                <a:solidFill>
                  <a:srgbClr val="E30613"/>
                </a:solidFill>
              </a:rPr>
              <a:t>Objektzahlen</a:t>
            </a:r>
            <a:endParaRPr lang="de-CH" sz="1250" dirty="0"/>
          </a:p>
        </p:txBody>
      </p:sp>
      <p:sp>
        <p:nvSpPr>
          <p:cNvPr id="16" name="Text 13"/>
          <p:cNvSpPr/>
          <p:nvPr/>
        </p:nvSpPr>
        <p:spPr>
          <a:xfrm>
            <a:off x="6446520" y="1984248"/>
            <a:ext cx="1828800" cy="274320"/>
          </a:xfrm>
          <a:prstGeom prst="rect">
            <a:avLst/>
          </a:prstGeom>
          <a:noFill/>
          <a:ln/>
        </p:spPr>
        <p:txBody>
          <a:bodyPr wrap="square" lIns="0" tIns="0" rIns="0" bIns="0" rtlCol="0" anchor="ctr">
            <a:normAutofit fontScale="92500" lnSpcReduction="10000"/>
          </a:bodyPr>
          <a:lstStyle/>
          <a:p>
            <a:pPr marL="0" indent="0">
              <a:buNone/>
            </a:pPr>
            <a:r>
              <a:rPr lang="de-CH" sz="1050" dirty="0">
                <a:solidFill>
                  <a:srgbClr val="5A5A5A"/>
                </a:solidFill>
              </a:rPr>
              <a:t>39 Tabellen · 5 Views · 6 Procedures</a:t>
            </a:r>
            <a:endParaRPr lang="de-CH" sz="1050" dirty="0"/>
          </a:p>
        </p:txBody>
      </p:sp>
      <p:sp>
        <p:nvSpPr>
          <p:cNvPr id="17" name="Shape 14"/>
          <p:cNvSpPr/>
          <p:nvPr/>
        </p:nvSpPr>
        <p:spPr>
          <a:xfrm>
            <a:off x="685800" y="2743200"/>
            <a:ext cx="3611880" cy="566928"/>
          </a:xfrm>
          <a:prstGeom prst="roundRect">
            <a:avLst>
              <a:gd name="adj" fmla="val 9677"/>
            </a:avLst>
          </a:prstGeom>
          <a:solidFill>
            <a:srgbClr val="F5F5F5"/>
          </a:solidFill>
          <a:ln w="12700">
            <a:solidFill>
              <a:srgbClr val="E9E9E9"/>
            </a:solidFill>
            <a:prstDash val="solid"/>
          </a:ln>
        </p:spPr>
        <p:txBody>
          <a:bodyPr/>
          <a:lstStyle/>
          <a:p>
            <a:endParaRPr lang="de-CH"/>
          </a:p>
        </p:txBody>
      </p:sp>
      <p:sp>
        <p:nvSpPr>
          <p:cNvPr id="18" name="Text 15"/>
          <p:cNvSpPr/>
          <p:nvPr/>
        </p:nvSpPr>
        <p:spPr>
          <a:xfrm>
            <a:off x="832104" y="2852928"/>
            <a:ext cx="1417320" cy="146304"/>
          </a:xfrm>
          <a:prstGeom prst="rect">
            <a:avLst/>
          </a:prstGeom>
          <a:noFill/>
          <a:ln/>
        </p:spPr>
        <p:txBody>
          <a:bodyPr wrap="square" lIns="0" tIns="0" rIns="0" bIns="0" rtlCol="0" anchor="ctr"/>
          <a:lstStyle/>
          <a:p>
            <a:pPr marL="0" indent="0">
              <a:buNone/>
            </a:pPr>
            <a:r>
              <a:rPr lang="de-CH" sz="1250" b="1" dirty="0">
                <a:solidFill>
                  <a:srgbClr val="E30613"/>
                </a:solidFill>
              </a:rPr>
              <a:t>Seed-Daten</a:t>
            </a:r>
            <a:endParaRPr lang="de-CH" sz="1250" dirty="0"/>
          </a:p>
        </p:txBody>
      </p:sp>
      <p:sp>
        <p:nvSpPr>
          <p:cNvPr id="19" name="Text 16"/>
          <p:cNvSpPr/>
          <p:nvPr/>
        </p:nvSpPr>
        <p:spPr>
          <a:xfrm>
            <a:off x="2286000" y="2852928"/>
            <a:ext cx="1828800" cy="274320"/>
          </a:xfrm>
          <a:prstGeom prst="rect">
            <a:avLst/>
          </a:prstGeom>
          <a:noFill/>
          <a:ln/>
        </p:spPr>
        <p:txBody>
          <a:bodyPr wrap="square" lIns="0" tIns="0" rIns="0" bIns="0" rtlCol="0" anchor="ctr">
            <a:normAutofit fontScale="92500" lnSpcReduction="10000"/>
          </a:bodyPr>
          <a:lstStyle/>
          <a:p>
            <a:pPr marL="0" indent="0">
              <a:buNone/>
            </a:pPr>
            <a:r>
              <a:rPr lang="de-CH" sz="1050" dirty="0">
                <a:solidFill>
                  <a:srgbClr val="5A5A5A"/>
                </a:solidFill>
              </a:rPr>
              <a:t>Referenzdaten automatisch prüfen</a:t>
            </a:r>
            <a:endParaRPr lang="de-CH" sz="1050" dirty="0"/>
          </a:p>
        </p:txBody>
      </p:sp>
      <p:sp>
        <p:nvSpPr>
          <p:cNvPr id="20" name="Shape 17"/>
          <p:cNvSpPr/>
          <p:nvPr/>
        </p:nvSpPr>
        <p:spPr>
          <a:xfrm>
            <a:off x="4846320" y="2743200"/>
            <a:ext cx="3611880" cy="566928"/>
          </a:xfrm>
          <a:prstGeom prst="roundRect">
            <a:avLst>
              <a:gd name="adj" fmla="val 9677"/>
            </a:avLst>
          </a:prstGeom>
          <a:solidFill>
            <a:srgbClr val="F5F5F5"/>
          </a:solidFill>
          <a:ln w="12700">
            <a:solidFill>
              <a:srgbClr val="E9E9E9"/>
            </a:solidFill>
            <a:prstDash val="solid"/>
          </a:ln>
        </p:spPr>
        <p:txBody>
          <a:bodyPr/>
          <a:lstStyle/>
          <a:p>
            <a:endParaRPr lang="de-CH"/>
          </a:p>
        </p:txBody>
      </p:sp>
      <p:sp>
        <p:nvSpPr>
          <p:cNvPr id="21" name="Text 18"/>
          <p:cNvSpPr/>
          <p:nvPr/>
        </p:nvSpPr>
        <p:spPr>
          <a:xfrm>
            <a:off x="4992624" y="2852928"/>
            <a:ext cx="1417320" cy="146304"/>
          </a:xfrm>
          <a:prstGeom prst="rect">
            <a:avLst/>
          </a:prstGeom>
          <a:noFill/>
          <a:ln/>
        </p:spPr>
        <p:txBody>
          <a:bodyPr wrap="square" lIns="0" tIns="0" rIns="0" bIns="0" rtlCol="0" anchor="ctr"/>
          <a:lstStyle/>
          <a:p>
            <a:pPr marL="0" indent="0">
              <a:buNone/>
            </a:pPr>
            <a:r>
              <a:rPr lang="de-CH" sz="1250" b="1" dirty="0">
                <a:solidFill>
                  <a:srgbClr val="E30613"/>
                </a:solidFill>
              </a:rPr>
              <a:t>Views</a:t>
            </a:r>
            <a:endParaRPr lang="de-CH" sz="1250" dirty="0"/>
          </a:p>
        </p:txBody>
      </p:sp>
      <p:sp>
        <p:nvSpPr>
          <p:cNvPr id="22" name="Text 19"/>
          <p:cNvSpPr/>
          <p:nvPr/>
        </p:nvSpPr>
        <p:spPr>
          <a:xfrm>
            <a:off x="6446520" y="2852928"/>
            <a:ext cx="1828800" cy="274320"/>
          </a:xfrm>
          <a:prstGeom prst="rect">
            <a:avLst/>
          </a:prstGeom>
          <a:noFill/>
          <a:ln/>
        </p:spPr>
        <p:txBody>
          <a:bodyPr wrap="square" lIns="0" tIns="0" rIns="0" bIns="0" rtlCol="0" anchor="ctr">
            <a:normAutofit/>
          </a:bodyPr>
          <a:lstStyle/>
          <a:p>
            <a:pPr marL="0" indent="0">
              <a:buNone/>
            </a:pPr>
            <a:r>
              <a:rPr lang="de-CH" sz="1050" dirty="0">
                <a:solidFill>
                  <a:srgbClr val="5A5A5A"/>
                </a:solidFill>
              </a:rPr>
              <a:t>alle fünf Views ausführbar</a:t>
            </a:r>
            <a:endParaRPr lang="de-CH" sz="1050" dirty="0"/>
          </a:p>
        </p:txBody>
      </p:sp>
      <p:sp>
        <p:nvSpPr>
          <p:cNvPr id="23" name="Shape 20"/>
          <p:cNvSpPr/>
          <p:nvPr/>
        </p:nvSpPr>
        <p:spPr>
          <a:xfrm>
            <a:off x="685800" y="3611880"/>
            <a:ext cx="3611880" cy="566928"/>
          </a:xfrm>
          <a:prstGeom prst="roundRect">
            <a:avLst>
              <a:gd name="adj" fmla="val 9677"/>
            </a:avLst>
          </a:prstGeom>
          <a:solidFill>
            <a:srgbClr val="F5F5F5"/>
          </a:solidFill>
          <a:ln w="12700">
            <a:solidFill>
              <a:srgbClr val="E9E9E9"/>
            </a:solidFill>
            <a:prstDash val="solid"/>
          </a:ln>
        </p:spPr>
        <p:txBody>
          <a:bodyPr/>
          <a:lstStyle/>
          <a:p>
            <a:endParaRPr lang="de-CH"/>
          </a:p>
        </p:txBody>
      </p:sp>
      <p:sp>
        <p:nvSpPr>
          <p:cNvPr id="24" name="Text 21"/>
          <p:cNvSpPr/>
          <p:nvPr/>
        </p:nvSpPr>
        <p:spPr>
          <a:xfrm>
            <a:off x="832104" y="3721608"/>
            <a:ext cx="1417320" cy="146304"/>
          </a:xfrm>
          <a:prstGeom prst="rect">
            <a:avLst/>
          </a:prstGeom>
          <a:noFill/>
          <a:ln/>
        </p:spPr>
        <p:txBody>
          <a:bodyPr wrap="square" lIns="0" tIns="0" rIns="0" bIns="0" rtlCol="0" anchor="ctr"/>
          <a:lstStyle/>
          <a:p>
            <a:pPr marL="0" indent="0">
              <a:buNone/>
            </a:pPr>
            <a:r>
              <a:rPr lang="de-CH" sz="1250" b="1" dirty="0">
                <a:solidFill>
                  <a:srgbClr val="E30613"/>
                </a:solidFill>
              </a:rPr>
              <a:t>Procedures</a:t>
            </a:r>
            <a:endParaRPr lang="de-CH" sz="1250" dirty="0"/>
          </a:p>
        </p:txBody>
      </p:sp>
      <p:sp>
        <p:nvSpPr>
          <p:cNvPr id="25" name="Text 22"/>
          <p:cNvSpPr/>
          <p:nvPr/>
        </p:nvSpPr>
        <p:spPr>
          <a:xfrm>
            <a:off x="2286000" y="3721608"/>
            <a:ext cx="1828800" cy="274320"/>
          </a:xfrm>
          <a:prstGeom prst="rect">
            <a:avLst/>
          </a:prstGeom>
          <a:noFill/>
          <a:ln/>
        </p:spPr>
        <p:txBody>
          <a:bodyPr wrap="square" lIns="0" tIns="0" rIns="0" bIns="0" rtlCol="0" anchor="ctr">
            <a:normAutofit/>
          </a:bodyPr>
          <a:lstStyle/>
          <a:p>
            <a:pPr marL="0" indent="0">
              <a:buNone/>
            </a:pPr>
            <a:r>
              <a:rPr lang="de-CH" sz="1050" dirty="0">
                <a:solidFill>
                  <a:srgbClr val="5A5A5A"/>
                </a:solidFill>
              </a:rPr>
              <a:t>Positiv- und Negativtests</a:t>
            </a:r>
            <a:endParaRPr lang="de-CH" sz="1050" dirty="0"/>
          </a:p>
        </p:txBody>
      </p:sp>
      <p:sp>
        <p:nvSpPr>
          <p:cNvPr id="26" name="Shape 23"/>
          <p:cNvSpPr/>
          <p:nvPr/>
        </p:nvSpPr>
        <p:spPr>
          <a:xfrm>
            <a:off x="4846320" y="3611880"/>
            <a:ext cx="3611880" cy="566928"/>
          </a:xfrm>
          <a:prstGeom prst="roundRect">
            <a:avLst>
              <a:gd name="adj" fmla="val 9677"/>
            </a:avLst>
          </a:prstGeom>
          <a:solidFill>
            <a:srgbClr val="FFF1F1"/>
          </a:solidFill>
          <a:ln w="12700">
            <a:solidFill>
              <a:srgbClr val="E30613"/>
            </a:solidFill>
            <a:prstDash val="solid"/>
          </a:ln>
        </p:spPr>
        <p:txBody>
          <a:bodyPr/>
          <a:lstStyle/>
          <a:p>
            <a:endParaRPr lang="de-CH"/>
          </a:p>
        </p:txBody>
      </p:sp>
      <p:sp>
        <p:nvSpPr>
          <p:cNvPr id="27" name="Text 24"/>
          <p:cNvSpPr/>
          <p:nvPr/>
        </p:nvSpPr>
        <p:spPr>
          <a:xfrm>
            <a:off x="4992624" y="3721608"/>
            <a:ext cx="1417320" cy="146304"/>
          </a:xfrm>
          <a:prstGeom prst="rect">
            <a:avLst/>
          </a:prstGeom>
          <a:noFill/>
          <a:ln/>
        </p:spPr>
        <p:txBody>
          <a:bodyPr wrap="square" lIns="0" tIns="0" rIns="0" bIns="0" rtlCol="0" anchor="ctr"/>
          <a:lstStyle/>
          <a:p>
            <a:pPr marL="0" indent="0">
              <a:buNone/>
            </a:pPr>
            <a:r>
              <a:rPr lang="de-CH" sz="1250" b="1" dirty="0">
                <a:solidFill>
                  <a:srgbClr val="E30613"/>
                </a:solidFill>
              </a:rPr>
              <a:t>Demo</a:t>
            </a:r>
            <a:endParaRPr lang="de-CH" sz="1250" dirty="0"/>
          </a:p>
        </p:txBody>
      </p:sp>
      <p:sp>
        <p:nvSpPr>
          <p:cNvPr id="28" name="Text 25"/>
          <p:cNvSpPr/>
          <p:nvPr/>
        </p:nvSpPr>
        <p:spPr>
          <a:xfrm>
            <a:off x="6446520" y="3721608"/>
            <a:ext cx="1828800" cy="274320"/>
          </a:xfrm>
          <a:prstGeom prst="rect">
            <a:avLst/>
          </a:prstGeom>
          <a:noFill/>
          <a:ln/>
        </p:spPr>
        <p:txBody>
          <a:bodyPr wrap="square" lIns="0" tIns="0" rIns="0" bIns="0" rtlCol="0" anchor="ctr">
            <a:normAutofit fontScale="92500" lnSpcReduction="10000"/>
          </a:bodyPr>
          <a:lstStyle/>
          <a:p>
            <a:pPr marL="0" indent="0">
              <a:buNone/>
            </a:pPr>
            <a:r>
              <a:rPr lang="de-CH" sz="1050" dirty="0">
                <a:solidFill>
                  <a:srgbClr val="5A5A5A"/>
                </a:solidFill>
              </a:rPr>
              <a:t>fachlicher Ablauf erfolgreich getestet</a:t>
            </a:r>
            <a:endParaRPr lang="de-CH" sz="1050" dirty="0"/>
          </a:p>
        </p:txBody>
      </p:sp>
      <p:sp>
        <p:nvSpPr>
          <p:cNvPr id="29" name="Shape 26"/>
          <p:cNvSpPr/>
          <p:nvPr/>
        </p:nvSpPr>
        <p:spPr>
          <a:xfrm>
            <a:off x="914400" y="4892040"/>
            <a:ext cx="7315200" cy="713232"/>
          </a:xfrm>
          <a:prstGeom prst="roundRect">
            <a:avLst>
              <a:gd name="adj" fmla="val 10256"/>
            </a:avLst>
          </a:prstGeom>
          <a:solidFill>
            <a:srgbClr val="E30613"/>
          </a:solidFill>
          <a:ln w="12700">
            <a:solidFill>
              <a:srgbClr val="E30613"/>
            </a:solidFill>
            <a:prstDash val="solid"/>
          </a:ln>
        </p:spPr>
        <p:txBody>
          <a:bodyPr/>
          <a:lstStyle/>
          <a:p>
            <a:endParaRPr lang="de-CH"/>
          </a:p>
        </p:txBody>
      </p:sp>
      <p:sp>
        <p:nvSpPr>
          <p:cNvPr id="30" name="Text 27"/>
          <p:cNvSpPr/>
          <p:nvPr/>
        </p:nvSpPr>
        <p:spPr>
          <a:xfrm>
            <a:off x="1234440" y="5084064"/>
            <a:ext cx="6675120" cy="164592"/>
          </a:xfrm>
          <a:prstGeom prst="rect">
            <a:avLst/>
          </a:prstGeom>
          <a:noFill/>
          <a:ln/>
        </p:spPr>
        <p:txBody>
          <a:bodyPr wrap="square" lIns="0" tIns="0" rIns="0" bIns="0" rtlCol="0" anchor="ctr"/>
          <a:lstStyle/>
          <a:p>
            <a:pPr marL="0" indent="0" algn="ctr">
              <a:buNone/>
            </a:pPr>
            <a:r>
              <a:rPr lang="de-CH" sz="1600" b="1" dirty="0">
                <a:solidFill>
                  <a:srgbClr val="FFFFFF"/>
                </a:solidFill>
              </a:rPr>
              <a:t>ALLE REBUILD-PRUEFUNGEN ERFOLGREICH</a:t>
            </a:r>
            <a:endParaRPr lang="de-CH" sz="1600" dirty="0"/>
          </a:p>
        </p:txBody>
      </p:sp>
      <p:sp>
        <p:nvSpPr>
          <p:cNvPr id="31" name="Text 28"/>
          <p:cNvSpPr/>
          <p:nvPr/>
        </p:nvSpPr>
        <p:spPr>
          <a:xfrm>
            <a:off x="1234440" y="5358384"/>
            <a:ext cx="6675120" cy="128016"/>
          </a:xfrm>
          <a:prstGeom prst="rect">
            <a:avLst/>
          </a:prstGeom>
          <a:noFill/>
          <a:ln/>
        </p:spPr>
        <p:txBody>
          <a:bodyPr wrap="square" lIns="0" tIns="0" rIns="0" bIns="0" rtlCol="0" anchor="ctr"/>
          <a:lstStyle/>
          <a:p>
            <a:pPr marL="0" indent="0" algn="ctr">
              <a:buNone/>
            </a:pPr>
            <a:r>
              <a:rPr lang="de-CH" sz="1120" b="1" dirty="0">
                <a:solidFill>
                  <a:srgbClr val="FFFFFF"/>
                </a:solidFill>
              </a:rPr>
              <a:t>39 Tabellen · 5 Views · 6 Stored Procedures · Seeds korrekt</a:t>
            </a:r>
            <a:endParaRPr lang="de-CH" sz="11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mnt/data/stt_presentation_final/stt-logo-wide.png"/>
          <p:cNvPicPr>
            <a:picLocks noChangeAspect="1"/>
          </p:cNvPicPr>
          <p:nvPr/>
        </p:nvPicPr>
        <p:blipFill>
          <a:blip r:embed="rId3"/>
          <a:stretch>
            <a:fillRect/>
          </a:stretch>
        </p:blipFill>
        <p:spPr>
          <a:xfrm>
            <a:off x="335650" y="164592"/>
            <a:ext cx="1889020" cy="475488"/>
          </a:xfrm>
          <a:prstGeom prst="rect">
            <a:avLst/>
          </a:prstGeom>
        </p:spPr>
      </p:pic>
      <p:sp>
        <p:nvSpPr>
          <p:cNvPr id="3" name="Text 0"/>
          <p:cNvSpPr/>
          <p:nvPr/>
        </p:nvSpPr>
        <p:spPr>
          <a:xfrm>
            <a:off x="5669280" y="256032"/>
            <a:ext cx="2468880" cy="201168"/>
          </a:xfrm>
          <a:prstGeom prst="rect">
            <a:avLst/>
          </a:prstGeom>
          <a:noFill/>
          <a:ln/>
        </p:spPr>
        <p:txBody>
          <a:bodyPr wrap="square" lIns="0" tIns="0" rIns="0" bIns="0" rtlCol="0" anchor="ctr"/>
          <a:lstStyle/>
          <a:p>
            <a:pPr marL="0" indent="0" algn="r">
              <a:buNone/>
            </a:pPr>
            <a:r>
              <a:rPr lang="de-CH" sz="850" dirty="0">
                <a:solidFill>
                  <a:srgbClr val="5A5A5A"/>
                </a:solidFill>
                <a:latin typeface="Arial" pitchFamily="34" charset="0"/>
                <a:ea typeface="Arial" pitchFamily="34" charset="-122"/>
                <a:cs typeface="Arial" pitchFamily="34" charset="-120"/>
              </a:rPr>
              <a:t>STT-DB · Modulararbeit II</a:t>
            </a:r>
            <a:endParaRPr lang="de-CH" sz="850" dirty="0"/>
          </a:p>
        </p:txBody>
      </p:sp>
      <p:sp>
        <p:nvSpPr>
          <p:cNvPr id="4" name="Text 1"/>
          <p:cNvSpPr/>
          <p:nvPr/>
        </p:nvSpPr>
        <p:spPr>
          <a:xfrm>
            <a:off x="8394192" y="219456"/>
            <a:ext cx="274320" cy="228600"/>
          </a:xfrm>
          <a:prstGeom prst="rect">
            <a:avLst/>
          </a:prstGeom>
          <a:noFill/>
          <a:ln/>
        </p:spPr>
        <p:txBody>
          <a:bodyPr wrap="square" lIns="0" tIns="0" rIns="0" bIns="0" rtlCol="0" anchor="ctr"/>
          <a:lstStyle/>
          <a:p>
            <a:pPr marL="0" indent="0" algn="ctr">
              <a:buNone/>
            </a:pPr>
            <a:r>
              <a:rPr lang="de-CH" sz="850" dirty="0">
                <a:solidFill>
                  <a:srgbClr val="5A5A5A"/>
                </a:solidFill>
                <a:latin typeface="Arial" pitchFamily="34" charset="0"/>
                <a:ea typeface="Arial" pitchFamily="34" charset="-122"/>
                <a:cs typeface="Arial" pitchFamily="34" charset="-120"/>
              </a:rPr>
              <a:t>7</a:t>
            </a:r>
            <a:endParaRPr lang="de-CH" sz="850" dirty="0"/>
          </a:p>
        </p:txBody>
      </p:sp>
      <p:sp>
        <p:nvSpPr>
          <p:cNvPr id="5" name="Shape 2"/>
          <p:cNvSpPr/>
          <p:nvPr/>
        </p:nvSpPr>
        <p:spPr>
          <a:xfrm>
            <a:off x="320040" y="804672"/>
            <a:ext cx="8275320" cy="0"/>
          </a:xfrm>
          <a:prstGeom prst="line">
            <a:avLst/>
          </a:prstGeom>
          <a:noFill/>
          <a:ln w="12700">
            <a:solidFill>
              <a:srgbClr val="E9E9E9"/>
            </a:solidFill>
            <a:prstDash val="solid"/>
          </a:ln>
        </p:spPr>
        <p:txBody>
          <a:bodyPr/>
          <a:lstStyle/>
          <a:p>
            <a:endParaRPr lang="de-CH"/>
          </a:p>
        </p:txBody>
      </p:sp>
      <p:sp>
        <p:nvSpPr>
          <p:cNvPr id="6" name="Text 3"/>
          <p:cNvSpPr/>
          <p:nvPr/>
        </p:nvSpPr>
        <p:spPr>
          <a:xfrm>
            <a:off x="502920" y="987552"/>
            <a:ext cx="6583680" cy="402336"/>
          </a:xfrm>
          <a:prstGeom prst="rect">
            <a:avLst/>
          </a:prstGeom>
          <a:noFill/>
          <a:ln/>
        </p:spPr>
        <p:txBody>
          <a:bodyPr wrap="square" lIns="0" tIns="0" rIns="0" bIns="0" rtlCol="0" anchor="ctr"/>
          <a:lstStyle/>
          <a:p>
            <a:pPr marL="0" indent="0">
              <a:buNone/>
            </a:pPr>
            <a:r>
              <a:rPr lang="de-CH" sz="2700" b="1" dirty="0">
                <a:solidFill>
                  <a:srgbClr val="222222"/>
                </a:solidFill>
                <a:latin typeface="Arial" pitchFamily="34" charset="0"/>
                <a:ea typeface="Arial" pitchFamily="34" charset="-122"/>
                <a:cs typeface="Arial" pitchFamily="34" charset="-120"/>
              </a:rPr>
              <a:t>Fazit</a:t>
            </a:r>
            <a:endParaRPr lang="de-CH" sz="2700" dirty="0"/>
          </a:p>
        </p:txBody>
      </p:sp>
      <p:sp>
        <p:nvSpPr>
          <p:cNvPr id="7" name="Shape 4"/>
          <p:cNvSpPr/>
          <p:nvPr/>
        </p:nvSpPr>
        <p:spPr>
          <a:xfrm>
            <a:off x="0" y="6455664"/>
            <a:ext cx="9144000" cy="402336"/>
          </a:xfrm>
          <a:prstGeom prst="rect">
            <a:avLst/>
          </a:prstGeom>
          <a:solidFill>
            <a:srgbClr val="E30613"/>
          </a:solidFill>
          <a:ln w="12700">
            <a:solidFill>
              <a:srgbClr val="E30613"/>
            </a:solidFill>
            <a:prstDash val="solid"/>
          </a:ln>
        </p:spPr>
        <p:txBody>
          <a:bodyPr/>
          <a:lstStyle/>
          <a:p>
            <a:endParaRPr lang="de-CH"/>
          </a:p>
        </p:txBody>
      </p:sp>
      <p:sp>
        <p:nvSpPr>
          <p:cNvPr id="8" name="Text 5"/>
          <p:cNvSpPr/>
          <p:nvPr/>
        </p:nvSpPr>
        <p:spPr>
          <a:xfrm>
            <a:off x="502920" y="6537960"/>
            <a:ext cx="5669280" cy="137160"/>
          </a:xfrm>
          <a:prstGeom prst="rect">
            <a:avLst/>
          </a:prstGeom>
          <a:noFill/>
          <a:ln/>
        </p:spPr>
        <p:txBody>
          <a:bodyPr wrap="square" lIns="0" tIns="0" rIns="0" bIns="0" rtlCol="0" anchor="ctr"/>
          <a:lstStyle/>
          <a:p>
            <a:pPr marL="0" indent="0">
              <a:buNone/>
            </a:pPr>
            <a:r>
              <a:rPr lang="de-CH" sz="850" dirty="0">
                <a:solidFill>
                  <a:srgbClr val="FFFFFF"/>
                </a:solidFill>
                <a:latin typeface="Arial" pitchFamily="34" charset="0"/>
                <a:ea typeface="Arial" pitchFamily="34" charset="-122"/>
                <a:cs typeface="Arial" pitchFamily="34" charset="-120"/>
              </a:rPr>
              <a:t>Christian Abbühl · B-TIP-24-T-a · 21.09.2026</a:t>
            </a:r>
            <a:endParaRPr lang="de-CH" sz="850" dirty="0"/>
          </a:p>
        </p:txBody>
      </p:sp>
      <p:sp>
        <p:nvSpPr>
          <p:cNvPr id="10" name="Text 7"/>
          <p:cNvSpPr/>
          <p:nvPr/>
        </p:nvSpPr>
        <p:spPr>
          <a:xfrm>
            <a:off x="594360" y="1499616"/>
            <a:ext cx="3657600" cy="274320"/>
          </a:xfrm>
          <a:prstGeom prst="rect">
            <a:avLst/>
          </a:prstGeom>
          <a:noFill/>
          <a:ln/>
        </p:spPr>
        <p:txBody>
          <a:bodyPr wrap="square" lIns="0" tIns="0" rIns="0" bIns="0" rtlCol="0" anchor="ctr"/>
          <a:lstStyle/>
          <a:p>
            <a:pPr marL="0" indent="0">
              <a:buNone/>
            </a:pPr>
            <a:r>
              <a:rPr lang="de-CH" sz="1800" b="1" dirty="0">
                <a:solidFill>
                  <a:srgbClr val="222222"/>
                </a:solidFill>
              </a:rPr>
              <a:t>Finaler Projektstand</a:t>
            </a:r>
            <a:endParaRPr lang="de-CH" sz="1800" dirty="0"/>
          </a:p>
        </p:txBody>
      </p:sp>
      <p:sp>
        <p:nvSpPr>
          <p:cNvPr id="11" name="Shape 8"/>
          <p:cNvSpPr/>
          <p:nvPr/>
        </p:nvSpPr>
        <p:spPr>
          <a:xfrm>
            <a:off x="749808" y="1965960"/>
            <a:ext cx="1572768" cy="1051560"/>
          </a:xfrm>
          <a:prstGeom prst="roundRect">
            <a:avLst>
              <a:gd name="adj" fmla="val 6957"/>
            </a:avLst>
          </a:prstGeom>
          <a:solidFill>
            <a:srgbClr val="E30613"/>
          </a:solidFill>
          <a:ln w="12700">
            <a:solidFill>
              <a:srgbClr val="E30613"/>
            </a:solidFill>
            <a:prstDash val="solid"/>
          </a:ln>
        </p:spPr>
        <p:txBody>
          <a:bodyPr/>
          <a:lstStyle/>
          <a:p>
            <a:endParaRPr lang="de-CH"/>
          </a:p>
        </p:txBody>
      </p:sp>
      <p:sp>
        <p:nvSpPr>
          <p:cNvPr id="12" name="Text 9"/>
          <p:cNvSpPr/>
          <p:nvPr/>
        </p:nvSpPr>
        <p:spPr>
          <a:xfrm>
            <a:off x="749808" y="2176272"/>
            <a:ext cx="1572768" cy="274320"/>
          </a:xfrm>
          <a:prstGeom prst="rect">
            <a:avLst/>
          </a:prstGeom>
          <a:noFill/>
          <a:ln/>
        </p:spPr>
        <p:txBody>
          <a:bodyPr wrap="square" lIns="0" tIns="0" rIns="0" bIns="0" rtlCol="0" anchor="ctr"/>
          <a:lstStyle/>
          <a:p>
            <a:pPr marL="0" indent="0" algn="ctr">
              <a:buNone/>
            </a:pPr>
            <a:r>
              <a:rPr lang="de-CH" sz="3000" b="1" dirty="0">
                <a:solidFill>
                  <a:srgbClr val="FFFFFF"/>
                </a:solidFill>
              </a:rPr>
              <a:t>39</a:t>
            </a:r>
            <a:endParaRPr lang="de-CH" sz="3000" dirty="0"/>
          </a:p>
        </p:txBody>
      </p:sp>
      <p:sp>
        <p:nvSpPr>
          <p:cNvPr id="13" name="Text 10"/>
          <p:cNvSpPr/>
          <p:nvPr/>
        </p:nvSpPr>
        <p:spPr>
          <a:xfrm>
            <a:off x="749808" y="2606040"/>
            <a:ext cx="1572768" cy="137160"/>
          </a:xfrm>
          <a:prstGeom prst="rect">
            <a:avLst/>
          </a:prstGeom>
          <a:noFill/>
          <a:ln/>
        </p:spPr>
        <p:txBody>
          <a:bodyPr wrap="square" lIns="0" tIns="0" rIns="0" bIns="0" rtlCol="0" anchor="ctr"/>
          <a:lstStyle/>
          <a:p>
            <a:pPr marL="0" indent="0" algn="ctr">
              <a:buNone/>
            </a:pPr>
            <a:r>
              <a:rPr lang="de-CH" sz="1050" b="1" dirty="0">
                <a:solidFill>
                  <a:srgbClr val="FFFFFF"/>
                </a:solidFill>
              </a:rPr>
              <a:t>Tabellen</a:t>
            </a:r>
            <a:endParaRPr lang="de-CH" sz="1050" dirty="0"/>
          </a:p>
        </p:txBody>
      </p:sp>
      <p:sp>
        <p:nvSpPr>
          <p:cNvPr id="14" name="Shape 11"/>
          <p:cNvSpPr/>
          <p:nvPr/>
        </p:nvSpPr>
        <p:spPr>
          <a:xfrm>
            <a:off x="2743200" y="1965960"/>
            <a:ext cx="1572768" cy="1051560"/>
          </a:xfrm>
          <a:prstGeom prst="roundRect">
            <a:avLst>
              <a:gd name="adj" fmla="val 6957"/>
            </a:avLst>
          </a:prstGeom>
          <a:solidFill>
            <a:srgbClr val="F5F5F5"/>
          </a:solidFill>
          <a:ln w="12700">
            <a:solidFill>
              <a:srgbClr val="E9E9E9"/>
            </a:solidFill>
            <a:prstDash val="solid"/>
          </a:ln>
        </p:spPr>
        <p:txBody>
          <a:bodyPr/>
          <a:lstStyle/>
          <a:p>
            <a:endParaRPr lang="de-CH"/>
          </a:p>
        </p:txBody>
      </p:sp>
      <p:sp>
        <p:nvSpPr>
          <p:cNvPr id="15" name="Text 12"/>
          <p:cNvSpPr/>
          <p:nvPr/>
        </p:nvSpPr>
        <p:spPr>
          <a:xfrm>
            <a:off x="2743200" y="2176272"/>
            <a:ext cx="1572768" cy="274320"/>
          </a:xfrm>
          <a:prstGeom prst="rect">
            <a:avLst/>
          </a:prstGeom>
          <a:noFill/>
          <a:ln/>
        </p:spPr>
        <p:txBody>
          <a:bodyPr wrap="square" lIns="0" tIns="0" rIns="0" bIns="0" rtlCol="0" anchor="ctr"/>
          <a:lstStyle/>
          <a:p>
            <a:pPr marL="0" indent="0" algn="ctr">
              <a:buNone/>
            </a:pPr>
            <a:r>
              <a:rPr lang="de-CH" sz="3000" b="1" dirty="0">
                <a:solidFill>
                  <a:srgbClr val="E30613"/>
                </a:solidFill>
              </a:rPr>
              <a:t>5</a:t>
            </a:r>
            <a:endParaRPr lang="de-CH" sz="3000" dirty="0"/>
          </a:p>
        </p:txBody>
      </p:sp>
      <p:sp>
        <p:nvSpPr>
          <p:cNvPr id="16" name="Text 13"/>
          <p:cNvSpPr/>
          <p:nvPr/>
        </p:nvSpPr>
        <p:spPr>
          <a:xfrm>
            <a:off x="2743200" y="2606040"/>
            <a:ext cx="1572768" cy="137160"/>
          </a:xfrm>
          <a:prstGeom prst="rect">
            <a:avLst/>
          </a:prstGeom>
          <a:noFill/>
          <a:ln/>
        </p:spPr>
        <p:txBody>
          <a:bodyPr wrap="square" lIns="0" tIns="0" rIns="0" bIns="0" rtlCol="0" anchor="ctr"/>
          <a:lstStyle/>
          <a:p>
            <a:pPr marL="0" indent="0" algn="ctr">
              <a:buNone/>
            </a:pPr>
            <a:r>
              <a:rPr lang="de-CH" sz="1050" b="1" dirty="0">
                <a:solidFill>
                  <a:srgbClr val="5A5A5A"/>
                </a:solidFill>
              </a:rPr>
              <a:t>Views</a:t>
            </a:r>
            <a:endParaRPr lang="de-CH" sz="1050" dirty="0"/>
          </a:p>
        </p:txBody>
      </p:sp>
      <p:sp>
        <p:nvSpPr>
          <p:cNvPr id="17" name="Shape 14"/>
          <p:cNvSpPr/>
          <p:nvPr/>
        </p:nvSpPr>
        <p:spPr>
          <a:xfrm>
            <a:off x="4736592" y="1965960"/>
            <a:ext cx="1572768" cy="1051560"/>
          </a:xfrm>
          <a:prstGeom prst="roundRect">
            <a:avLst>
              <a:gd name="adj" fmla="val 6957"/>
            </a:avLst>
          </a:prstGeom>
          <a:solidFill>
            <a:srgbClr val="F5F5F5"/>
          </a:solidFill>
          <a:ln w="12700">
            <a:solidFill>
              <a:srgbClr val="E9E9E9"/>
            </a:solidFill>
            <a:prstDash val="solid"/>
          </a:ln>
        </p:spPr>
        <p:txBody>
          <a:bodyPr/>
          <a:lstStyle/>
          <a:p>
            <a:endParaRPr lang="de-CH"/>
          </a:p>
        </p:txBody>
      </p:sp>
      <p:sp>
        <p:nvSpPr>
          <p:cNvPr id="18" name="Text 15"/>
          <p:cNvSpPr/>
          <p:nvPr/>
        </p:nvSpPr>
        <p:spPr>
          <a:xfrm>
            <a:off x="4736592" y="2176272"/>
            <a:ext cx="1572768" cy="274320"/>
          </a:xfrm>
          <a:prstGeom prst="rect">
            <a:avLst/>
          </a:prstGeom>
          <a:noFill/>
          <a:ln/>
        </p:spPr>
        <p:txBody>
          <a:bodyPr wrap="square" lIns="0" tIns="0" rIns="0" bIns="0" rtlCol="0" anchor="ctr"/>
          <a:lstStyle/>
          <a:p>
            <a:pPr marL="0" indent="0" algn="ctr">
              <a:buNone/>
            </a:pPr>
            <a:r>
              <a:rPr lang="de-CH" sz="3000" b="1" dirty="0">
                <a:solidFill>
                  <a:srgbClr val="E30613"/>
                </a:solidFill>
              </a:rPr>
              <a:t>6</a:t>
            </a:r>
            <a:endParaRPr lang="de-CH" sz="3000" dirty="0"/>
          </a:p>
        </p:txBody>
      </p:sp>
      <p:sp>
        <p:nvSpPr>
          <p:cNvPr id="19" name="Text 16"/>
          <p:cNvSpPr/>
          <p:nvPr/>
        </p:nvSpPr>
        <p:spPr>
          <a:xfrm>
            <a:off x="4736592" y="2606040"/>
            <a:ext cx="1572768" cy="137160"/>
          </a:xfrm>
          <a:prstGeom prst="rect">
            <a:avLst/>
          </a:prstGeom>
          <a:noFill/>
          <a:ln/>
        </p:spPr>
        <p:txBody>
          <a:bodyPr wrap="square" lIns="0" tIns="0" rIns="0" bIns="0" rtlCol="0" anchor="ctr"/>
          <a:lstStyle/>
          <a:p>
            <a:pPr marL="0" indent="0" algn="ctr">
              <a:buNone/>
            </a:pPr>
            <a:r>
              <a:rPr lang="de-CH" sz="1050" b="1" dirty="0">
                <a:solidFill>
                  <a:srgbClr val="5A5A5A"/>
                </a:solidFill>
              </a:rPr>
              <a:t>Procedures</a:t>
            </a:r>
            <a:endParaRPr lang="de-CH" sz="1050" dirty="0"/>
          </a:p>
        </p:txBody>
      </p:sp>
      <p:sp>
        <p:nvSpPr>
          <p:cNvPr id="20" name="Shape 17"/>
          <p:cNvSpPr/>
          <p:nvPr/>
        </p:nvSpPr>
        <p:spPr>
          <a:xfrm>
            <a:off x="6729984" y="1965960"/>
            <a:ext cx="1572768" cy="1051560"/>
          </a:xfrm>
          <a:prstGeom prst="roundRect">
            <a:avLst>
              <a:gd name="adj" fmla="val 6957"/>
            </a:avLst>
          </a:prstGeom>
          <a:solidFill>
            <a:srgbClr val="F5F5F5"/>
          </a:solidFill>
          <a:ln w="12700">
            <a:solidFill>
              <a:srgbClr val="E9E9E9"/>
            </a:solidFill>
            <a:prstDash val="solid"/>
          </a:ln>
        </p:spPr>
        <p:txBody>
          <a:bodyPr/>
          <a:lstStyle/>
          <a:p>
            <a:endParaRPr lang="de-CH"/>
          </a:p>
        </p:txBody>
      </p:sp>
      <p:sp>
        <p:nvSpPr>
          <p:cNvPr id="21" name="Text 18"/>
          <p:cNvSpPr/>
          <p:nvPr/>
        </p:nvSpPr>
        <p:spPr>
          <a:xfrm>
            <a:off x="6729984" y="2176272"/>
            <a:ext cx="1572768" cy="274320"/>
          </a:xfrm>
          <a:prstGeom prst="rect">
            <a:avLst/>
          </a:prstGeom>
          <a:noFill/>
          <a:ln/>
        </p:spPr>
        <p:txBody>
          <a:bodyPr wrap="square" lIns="0" tIns="0" rIns="0" bIns="0" rtlCol="0" anchor="ctr"/>
          <a:lstStyle/>
          <a:p>
            <a:pPr marL="0" indent="0" algn="ctr">
              <a:buNone/>
            </a:pPr>
            <a:r>
              <a:rPr lang="de-CH" sz="3000" b="1" dirty="0">
                <a:solidFill>
                  <a:srgbClr val="E30613"/>
                </a:solidFill>
              </a:rPr>
              <a:t>2</a:t>
            </a:r>
            <a:endParaRPr lang="de-CH" sz="3000" dirty="0"/>
          </a:p>
        </p:txBody>
      </p:sp>
      <p:sp>
        <p:nvSpPr>
          <p:cNvPr id="22" name="Text 19"/>
          <p:cNvSpPr/>
          <p:nvPr/>
        </p:nvSpPr>
        <p:spPr>
          <a:xfrm>
            <a:off x="6729984" y="2606040"/>
            <a:ext cx="1572768" cy="137160"/>
          </a:xfrm>
          <a:prstGeom prst="rect">
            <a:avLst/>
          </a:prstGeom>
          <a:noFill/>
          <a:ln/>
        </p:spPr>
        <p:txBody>
          <a:bodyPr wrap="square" lIns="0" tIns="0" rIns="0" bIns="0" rtlCol="0" anchor="ctr"/>
          <a:lstStyle/>
          <a:p>
            <a:pPr marL="0" indent="0" algn="ctr">
              <a:buNone/>
            </a:pPr>
            <a:r>
              <a:rPr lang="de-CH" sz="1050" b="1" dirty="0">
                <a:solidFill>
                  <a:srgbClr val="5A5A5A"/>
                </a:solidFill>
              </a:rPr>
              <a:t>Demo-Skripte</a:t>
            </a:r>
            <a:endParaRPr lang="de-CH" sz="1050" dirty="0"/>
          </a:p>
        </p:txBody>
      </p:sp>
      <p:sp>
        <p:nvSpPr>
          <p:cNvPr id="23" name="Text 20"/>
          <p:cNvSpPr/>
          <p:nvPr/>
        </p:nvSpPr>
        <p:spPr>
          <a:xfrm>
            <a:off x="685800" y="3703320"/>
            <a:ext cx="1828800" cy="246888"/>
          </a:xfrm>
          <a:prstGeom prst="rect">
            <a:avLst/>
          </a:prstGeom>
          <a:noFill/>
          <a:ln/>
        </p:spPr>
        <p:txBody>
          <a:bodyPr wrap="square" lIns="0" tIns="0" rIns="0" bIns="0" rtlCol="0" anchor="ctr"/>
          <a:lstStyle/>
          <a:p>
            <a:pPr marL="0" indent="0">
              <a:buNone/>
            </a:pPr>
            <a:r>
              <a:rPr lang="de-CH" sz="1800" b="1" dirty="0">
                <a:solidFill>
                  <a:srgbClr val="E30613"/>
                </a:solidFill>
              </a:rPr>
              <a:t>Ergebnis</a:t>
            </a:r>
            <a:endParaRPr lang="de-CH" sz="1800" dirty="0"/>
          </a:p>
        </p:txBody>
      </p:sp>
      <p:sp>
        <p:nvSpPr>
          <p:cNvPr id="24" name="Text 21"/>
          <p:cNvSpPr/>
          <p:nvPr/>
        </p:nvSpPr>
        <p:spPr>
          <a:xfrm>
            <a:off x="685800" y="4133088"/>
            <a:ext cx="7498080" cy="502920"/>
          </a:xfrm>
          <a:prstGeom prst="rect">
            <a:avLst/>
          </a:prstGeom>
          <a:noFill/>
          <a:ln/>
        </p:spPr>
        <p:txBody>
          <a:bodyPr wrap="square" lIns="254" tIns="254" rIns="254" bIns="254" rtlCol="0" anchor="ctr">
            <a:normAutofit fontScale="92500" lnSpcReduction="20000"/>
          </a:bodyPr>
          <a:lstStyle/>
          <a:p>
            <a:pPr marL="0" indent="0">
              <a:buNone/>
            </a:pPr>
            <a:r>
              <a:rPr lang="de-CH" sz="2000" b="1" dirty="0">
                <a:solidFill>
                  <a:srgbClr val="222222"/>
                </a:solidFill>
              </a:rPr>
              <a:t>Ein getesteter, dokumentierter und reproduzierbarer Datenbankkern für zentrale Bereiche von Swiss Table Tennis.</a:t>
            </a:r>
            <a:endParaRPr lang="de-CH" sz="2000" dirty="0"/>
          </a:p>
        </p:txBody>
      </p:sp>
      <p:sp>
        <p:nvSpPr>
          <p:cNvPr id="25" name="Text 22"/>
          <p:cNvSpPr/>
          <p:nvPr/>
        </p:nvSpPr>
        <p:spPr>
          <a:xfrm>
            <a:off x="713232" y="5193792"/>
            <a:ext cx="5779008" cy="512064"/>
          </a:xfrm>
          <a:prstGeom prst="rect">
            <a:avLst/>
          </a:prstGeom>
          <a:noFill/>
          <a:ln/>
        </p:spPr>
        <p:txBody>
          <a:bodyPr wrap="square" lIns="0" tIns="0" rIns="0" bIns="0" rtlCol="0" anchor="ctr">
            <a:normAutofit/>
          </a:bodyPr>
          <a:lstStyle/>
          <a:p>
            <a:r>
              <a:rPr lang="de-CH" sz="1320" b="1" dirty="0">
                <a:solidFill>
                  <a:srgbClr val="5A5A5A"/>
                </a:solidFill>
              </a:rPr>
              <a:t>GitHub: </a:t>
            </a:r>
            <a:r>
              <a:rPr lang="de-CH" sz="1320" b="1" dirty="0">
                <a:solidFill>
                  <a:srgbClr val="5A5A5A"/>
                </a:solidFill>
                <a:hlinkClick r:id="rId4"/>
              </a:rPr>
              <a:t>https://github.com/19boboy97/STT-DB_Modularbeit2</a:t>
            </a:r>
            <a:endParaRPr lang="de-CH" sz="1320" b="1" dirty="0">
              <a:solidFill>
                <a:srgbClr val="5A5A5A"/>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nt/data/stt_presentation_final/stt-logo-wide.png"/>
          <p:cNvPicPr>
            <a:picLocks noChangeAspect="1"/>
          </p:cNvPicPr>
          <p:nvPr/>
        </p:nvPicPr>
        <p:blipFill>
          <a:blip r:embed="rId3"/>
          <a:stretch>
            <a:fillRect/>
          </a:stretch>
        </p:blipFill>
        <p:spPr>
          <a:xfrm>
            <a:off x="335650" y="164592"/>
            <a:ext cx="1889020" cy="475488"/>
          </a:xfrm>
          <a:prstGeom prst="rect">
            <a:avLst/>
          </a:prstGeom>
        </p:spPr>
      </p:pic>
      <p:sp>
        <p:nvSpPr>
          <p:cNvPr id="3" name="Text 0"/>
          <p:cNvSpPr/>
          <p:nvPr/>
        </p:nvSpPr>
        <p:spPr>
          <a:xfrm>
            <a:off x="5669280" y="256032"/>
            <a:ext cx="2468880" cy="201168"/>
          </a:xfrm>
          <a:prstGeom prst="rect">
            <a:avLst/>
          </a:prstGeom>
          <a:noFill/>
          <a:ln/>
        </p:spPr>
        <p:txBody>
          <a:bodyPr wrap="square" lIns="0" tIns="0" rIns="0" bIns="0" rtlCol="0" anchor="ctr"/>
          <a:lstStyle/>
          <a:p>
            <a:pPr marL="0" indent="0" algn="r">
              <a:buNone/>
            </a:pPr>
            <a:r>
              <a:rPr lang="de-CH" sz="850" dirty="0">
                <a:solidFill>
                  <a:srgbClr val="5A5A5A"/>
                </a:solidFill>
                <a:latin typeface="Arial" pitchFamily="34" charset="0"/>
                <a:ea typeface="Arial" pitchFamily="34" charset="-122"/>
                <a:cs typeface="Arial" pitchFamily="34" charset="-120"/>
              </a:rPr>
              <a:t>STT-DB · Modulararbeit II</a:t>
            </a:r>
            <a:endParaRPr lang="de-CH" sz="850" dirty="0"/>
          </a:p>
        </p:txBody>
      </p:sp>
      <p:sp>
        <p:nvSpPr>
          <p:cNvPr id="4" name="Text 1"/>
          <p:cNvSpPr/>
          <p:nvPr/>
        </p:nvSpPr>
        <p:spPr>
          <a:xfrm>
            <a:off x="8394192" y="219456"/>
            <a:ext cx="274320" cy="228600"/>
          </a:xfrm>
          <a:prstGeom prst="rect">
            <a:avLst/>
          </a:prstGeom>
          <a:noFill/>
          <a:ln/>
        </p:spPr>
        <p:txBody>
          <a:bodyPr wrap="square" lIns="0" tIns="0" rIns="0" bIns="0" rtlCol="0" anchor="ctr"/>
          <a:lstStyle/>
          <a:p>
            <a:pPr marL="0" indent="0" algn="ctr">
              <a:buNone/>
            </a:pPr>
            <a:r>
              <a:rPr lang="de-CH" sz="850" dirty="0">
                <a:solidFill>
                  <a:srgbClr val="5A5A5A"/>
                </a:solidFill>
                <a:latin typeface="Arial" pitchFamily="34" charset="0"/>
                <a:ea typeface="Arial" pitchFamily="34" charset="-122"/>
                <a:cs typeface="Arial" pitchFamily="34" charset="-120"/>
              </a:rPr>
              <a:t>6</a:t>
            </a:r>
            <a:endParaRPr lang="de-CH" sz="850" dirty="0"/>
          </a:p>
        </p:txBody>
      </p:sp>
      <p:sp>
        <p:nvSpPr>
          <p:cNvPr id="5" name="Shape 2"/>
          <p:cNvSpPr/>
          <p:nvPr/>
        </p:nvSpPr>
        <p:spPr>
          <a:xfrm>
            <a:off x="320040" y="804672"/>
            <a:ext cx="8275320" cy="0"/>
          </a:xfrm>
          <a:prstGeom prst="line">
            <a:avLst/>
          </a:prstGeom>
          <a:noFill/>
          <a:ln w="12700">
            <a:solidFill>
              <a:srgbClr val="E9E9E9"/>
            </a:solidFill>
            <a:prstDash val="solid"/>
          </a:ln>
        </p:spPr>
        <p:txBody>
          <a:bodyPr/>
          <a:lstStyle/>
          <a:p>
            <a:endParaRPr lang="de-CH"/>
          </a:p>
        </p:txBody>
      </p:sp>
      <p:sp>
        <p:nvSpPr>
          <p:cNvPr id="6" name="Text 3"/>
          <p:cNvSpPr/>
          <p:nvPr/>
        </p:nvSpPr>
        <p:spPr>
          <a:xfrm>
            <a:off x="502920" y="987552"/>
            <a:ext cx="6583680" cy="402336"/>
          </a:xfrm>
          <a:prstGeom prst="rect">
            <a:avLst/>
          </a:prstGeom>
          <a:noFill/>
          <a:ln/>
        </p:spPr>
        <p:txBody>
          <a:bodyPr wrap="square" lIns="0" tIns="0" rIns="0" bIns="0" rtlCol="0" anchor="ctr"/>
          <a:lstStyle/>
          <a:p>
            <a:pPr marL="0" indent="0">
              <a:buNone/>
            </a:pPr>
            <a:r>
              <a:rPr lang="de-CH" sz="2700" b="1" dirty="0">
                <a:solidFill>
                  <a:srgbClr val="222222"/>
                </a:solidFill>
                <a:latin typeface="Arial" pitchFamily="34" charset="0"/>
                <a:ea typeface="Arial" pitchFamily="34" charset="-122"/>
                <a:cs typeface="Arial" pitchFamily="34" charset="-120"/>
              </a:rPr>
              <a:t>Live-Demo in maximal 3 Minuten</a:t>
            </a:r>
            <a:endParaRPr lang="de-CH" sz="2700" dirty="0"/>
          </a:p>
        </p:txBody>
      </p:sp>
      <p:sp>
        <p:nvSpPr>
          <p:cNvPr id="7" name="Shape 4"/>
          <p:cNvSpPr/>
          <p:nvPr/>
        </p:nvSpPr>
        <p:spPr>
          <a:xfrm>
            <a:off x="0" y="6455664"/>
            <a:ext cx="9144000" cy="402336"/>
          </a:xfrm>
          <a:prstGeom prst="rect">
            <a:avLst/>
          </a:prstGeom>
          <a:solidFill>
            <a:srgbClr val="E30613"/>
          </a:solidFill>
          <a:ln w="12700">
            <a:solidFill>
              <a:srgbClr val="E30613"/>
            </a:solidFill>
            <a:prstDash val="solid"/>
          </a:ln>
        </p:spPr>
        <p:txBody>
          <a:bodyPr/>
          <a:lstStyle/>
          <a:p>
            <a:endParaRPr lang="de-CH"/>
          </a:p>
        </p:txBody>
      </p:sp>
      <p:sp>
        <p:nvSpPr>
          <p:cNvPr id="8" name="Text 5"/>
          <p:cNvSpPr/>
          <p:nvPr/>
        </p:nvSpPr>
        <p:spPr>
          <a:xfrm>
            <a:off x="502920" y="6537960"/>
            <a:ext cx="5669280" cy="137160"/>
          </a:xfrm>
          <a:prstGeom prst="rect">
            <a:avLst/>
          </a:prstGeom>
          <a:noFill/>
          <a:ln/>
        </p:spPr>
        <p:txBody>
          <a:bodyPr wrap="square" lIns="0" tIns="0" rIns="0" bIns="0" rtlCol="0" anchor="ctr"/>
          <a:lstStyle/>
          <a:p>
            <a:pPr marL="0" indent="0">
              <a:buNone/>
            </a:pPr>
            <a:r>
              <a:rPr lang="de-CH" sz="850" dirty="0">
                <a:solidFill>
                  <a:srgbClr val="FFFFFF"/>
                </a:solidFill>
                <a:latin typeface="Arial" pitchFamily="34" charset="0"/>
                <a:ea typeface="Arial" pitchFamily="34" charset="-122"/>
                <a:cs typeface="Arial" pitchFamily="34" charset="-120"/>
              </a:rPr>
              <a:t>Christian Abbühl · B-TIP-24-T-a · 21.09.2026</a:t>
            </a:r>
            <a:endParaRPr lang="de-CH" sz="850" dirty="0"/>
          </a:p>
        </p:txBody>
      </p:sp>
      <p:sp>
        <p:nvSpPr>
          <p:cNvPr id="10" name="Text 7"/>
          <p:cNvSpPr/>
          <p:nvPr/>
        </p:nvSpPr>
        <p:spPr>
          <a:xfrm>
            <a:off x="594360" y="1499616"/>
            <a:ext cx="5669280" cy="274320"/>
          </a:xfrm>
          <a:prstGeom prst="rect">
            <a:avLst/>
          </a:prstGeom>
          <a:noFill/>
          <a:ln/>
        </p:spPr>
        <p:txBody>
          <a:bodyPr wrap="square" lIns="0" tIns="0" rIns="0" bIns="0" rtlCol="0" anchor="ctr"/>
          <a:lstStyle/>
          <a:p>
            <a:pPr marL="0" indent="0">
              <a:buNone/>
            </a:pPr>
            <a:r>
              <a:rPr lang="de-CH" sz="1800" b="1" dirty="0">
                <a:solidFill>
                  <a:srgbClr val="222222"/>
                </a:solidFill>
              </a:rPr>
              <a:t>Nicht alles zeigen – nur die stärksten Beweise</a:t>
            </a:r>
            <a:endParaRPr lang="de-CH" sz="1800" dirty="0"/>
          </a:p>
        </p:txBody>
      </p:sp>
      <p:sp>
        <p:nvSpPr>
          <p:cNvPr id="11" name="Shape 8"/>
          <p:cNvSpPr/>
          <p:nvPr/>
        </p:nvSpPr>
        <p:spPr>
          <a:xfrm>
            <a:off x="685800" y="1874520"/>
            <a:ext cx="3566160" cy="2423160"/>
          </a:xfrm>
          <a:prstGeom prst="roundRect">
            <a:avLst>
              <a:gd name="adj" fmla="val 3019"/>
            </a:avLst>
          </a:prstGeom>
          <a:solidFill>
            <a:srgbClr val="F5F5F5"/>
          </a:solidFill>
          <a:ln w="12700">
            <a:solidFill>
              <a:srgbClr val="E9E9E9"/>
            </a:solidFill>
            <a:prstDash val="solid"/>
          </a:ln>
        </p:spPr>
        <p:txBody>
          <a:bodyPr/>
          <a:lstStyle/>
          <a:p>
            <a:endParaRPr lang="de-CH"/>
          </a:p>
        </p:txBody>
      </p:sp>
      <p:sp>
        <p:nvSpPr>
          <p:cNvPr id="12" name="Text 9"/>
          <p:cNvSpPr/>
          <p:nvPr/>
        </p:nvSpPr>
        <p:spPr>
          <a:xfrm>
            <a:off x="914400" y="2103120"/>
            <a:ext cx="2377440" cy="228600"/>
          </a:xfrm>
          <a:prstGeom prst="rect">
            <a:avLst/>
          </a:prstGeom>
          <a:noFill/>
          <a:ln/>
        </p:spPr>
        <p:txBody>
          <a:bodyPr wrap="square" lIns="0" tIns="0" rIns="0" bIns="0" rtlCol="0" anchor="ctr"/>
          <a:lstStyle/>
          <a:p>
            <a:pPr marL="0" indent="0">
              <a:buNone/>
            </a:pPr>
            <a:r>
              <a:rPr lang="de-CH" sz="1800" b="1" dirty="0">
                <a:solidFill>
                  <a:srgbClr val="E30613"/>
                </a:solidFill>
              </a:rPr>
              <a:t>Vorbereitet</a:t>
            </a:r>
            <a:endParaRPr lang="de-CH" sz="1800" dirty="0"/>
          </a:p>
        </p:txBody>
      </p:sp>
      <p:sp>
        <p:nvSpPr>
          <p:cNvPr id="13" name="Text 10"/>
          <p:cNvSpPr/>
          <p:nvPr/>
        </p:nvSpPr>
        <p:spPr>
          <a:xfrm>
            <a:off x="914400" y="2606040"/>
            <a:ext cx="2788920" cy="1097280"/>
          </a:xfrm>
          <a:prstGeom prst="rect">
            <a:avLst/>
          </a:prstGeom>
          <a:noFill/>
          <a:ln/>
        </p:spPr>
        <p:txBody>
          <a:bodyPr wrap="square" lIns="635" tIns="635" rIns="635" bIns="635" rtlCol="0" anchor="ctr">
            <a:normAutofit/>
          </a:bodyPr>
          <a:lstStyle/>
          <a:p>
            <a:pPr marL="0" indent="0">
              <a:buNone/>
            </a:pPr>
            <a:r>
              <a:rPr lang="de-CH" sz="1340" b="1" dirty="0">
                <a:solidFill>
                  <a:srgbClr val="E30613"/>
                </a:solidFill>
                <a:latin typeface="Arial" pitchFamily="34" charset="0"/>
                <a:ea typeface="Arial" pitchFamily="34" charset="-122"/>
                <a:cs typeface="Arial" pitchFamily="34" charset="-120"/>
              </a:rPr>
              <a:t>• </a:t>
            </a:r>
            <a:r>
              <a:rPr lang="de-CH" sz="1340" dirty="0">
                <a:solidFill>
                  <a:srgbClr val="222222"/>
                </a:solidFill>
                <a:latin typeface="Arial" pitchFamily="34" charset="0"/>
                <a:ea typeface="Arial" pitchFamily="34" charset="-122"/>
                <a:cs typeface="Arial" pitchFamily="34" charset="-120"/>
              </a:rPr>
              <a:t>VM und SQL-Server laufen
</a:t>
            </a:r>
            <a:r>
              <a:rPr lang="de-CH" sz="1340" b="1" dirty="0">
                <a:solidFill>
                  <a:srgbClr val="E30613"/>
                </a:solidFill>
                <a:latin typeface="Arial" pitchFamily="34" charset="0"/>
                <a:ea typeface="Arial" pitchFamily="34" charset="-122"/>
                <a:cs typeface="Arial" pitchFamily="34" charset="-120"/>
              </a:rPr>
              <a:t>• </a:t>
            </a:r>
            <a:r>
              <a:rPr lang="de-CH" sz="1340" dirty="0">
                <a:solidFill>
                  <a:srgbClr val="222222"/>
                </a:solidFill>
                <a:latin typeface="Arial" pitchFamily="34" charset="0"/>
                <a:ea typeface="Arial" pitchFamily="34" charset="-122"/>
                <a:cs typeface="Arial" pitchFamily="34" charset="-120"/>
              </a:rPr>
              <a:t>Demo-Daten vorbereitet
</a:t>
            </a:r>
            <a:r>
              <a:rPr lang="de-CH" sz="1340" b="1" dirty="0">
                <a:solidFill>
                  <a:srgbClr val="E30613"/>
                </a:solidFill>
                <a:latin typeface="Arial" pitchFamily="34" charset="0"/>
                <a:ea typeface="Arial" pitchFamily="34" charset="-122"/>
                <a:cs typeface="Arial" pitchFamily="34" charset="-120"/>
              </a:rPr>
              <a:t>• </a:t>
            </a:r>
            <a:r>
              <a:rPr lang="de-CH" sz="1340" dirty="0">
                <a:solidFill>
                  <a:srgbClr val="222222"/>
                </a:solidFill>
                <a:latin typeface="Arial" pitchFamily="34" charset="0"/>
                <a:ea typeface="Arial" pitchFamily="34" charset="-122"/>
                <a:cs typeface="Arial" pitchFamily="34" charset="-120"/>
              </a:rPr>
              <a:t>SSMS-Dateien offen
</a:t>
            </a:r>
            <a:r>
              <a:rPr lang="de-CH" sz="1340" b="1" dirty="0">
                <a:solidFill>
                  <a:srgbClr val="E30613"/>
                </a:solidFill>
                <a:latin typeface="Arial" pitchFamily="34" charset="0"/>
                <a:ea typeface="Arial" pitchFamily="34" charset="-122"/>
                <a:cs typeface="Arial" pitchFamily="34" charset="-120"/>
              </a:rPr>
              <a:t>• </a:t>
            </a:r>
            <a:r>
              <a:rPr lang="de-CH" sz="1340" dirty="0">
                <a:solidFill>
                  <a:srgbClr val="222222"/>
                </a:solidFill>
                <a:latin typeface="Arial" pitchFamily="34" charset="0"/>
                <a:ea typeface="Arial" pitchFamily="34" charset="-122"/>
                <a:cs typeface="Arial" pitchFamily="34" charset="-120"/>
              </a:rPr>
              <a:t>Backup: GitHub-Doku</a:t>
            </a:r>
            <a:endParaRPr lang="de-CH" sz="1340" dirty="0"/>
          </a:p>
        </p:txBody>
      </p:sp>
      <p:sp>
        <p:nvSpPr>
          <p:cNvPr id="14" name="Shape 11"/>
          <p:cNvSpPr/>
          <p:nvPr/>
        </p:nvSpPr>
        <p:spPr>
          <a:xfrm>
            <a:off x="4617720" y="1874520"/>
            <a:ext cx="3749040" cy="2423160"/>
          </a:xfrm>
          <a:prstGeom prst="roundRect">
            <a:avLst>
              <a:gd name="adj" fmla="val 3019"/>
            </a:avLst>
          </a:prstGeom>
          <a:solidFill>
            <a:srgbClr val="FFF1F1"/>
          </a:solidFill>
          <a:ln w="12700">
            <a:solidFill>
              <a:srgbClr val="E30613"/>
            </a:solidFill>
            <a:prstDash val="solid"/>
          </a:ln>
        </p:spPr>
        <p:txBody>
          <a:bodyPr/>
          <a:lstStyle/>
          <a:p>
            <a:endParaRPr lang="de-CH"/>
          </a:p>
        </p:txBody>
      </p:sp>
      <p:sp>
        <p:nvSpPr>
          <p:cNvPr id="15" name="Text 12"/>
          <p:cNvSpPr/>
          <p:nvPr/>
        </p:nvSpPr>
        <p:spPr>
          <a:xfrm>
            <a:off x="4846320" y="2103120"/>
            <a:ext cx="2377440" cy="228600"/>
          </a:xfrm>
          <a:prstGeom prst="rect">
            <a:avLst/>
          </a:prstGeom>
          <a:noFill/>
          <a:ln/>
        </p:spPr>
        <p:txBody>
          <a:bodyPr wrap="square" lIns="0" tIns="0" rIns="0" bIns="0" rtlCol="0" anchor="ctr"/>
          <a:lstStyle/>
          <a:p>
            <a:pPr marL="0" indent="0">
              <a:buNone/>
            </a:pPr>
            <a:r>
              <a:rPr lang="de-CH" sz="1800" b="1" dirty="0">
                <a:solidFill>
                  <a:srgbClr val="E30613"/>
                </a:solidFill>
              </a:rPr>
              <a:t>Live zeigen</a:t>
            </a:r>
            <a:endParaRPr lang="de-CH" sz="1800" dirty="0"/>
          </a:p>
        </p:txBody>
      </p:sp>
      <p:sp>
        <p:nvSpPr>
          <p:cNvPr id="16" name="Text 13"/>
          <p:cNvSpPr/>
          <p:nvPr/>
        </p:nvSpPr>
        <p:spPr>
          <a:xfrm>
            <a:off x="4846320" y="2606040"/>
            <a:ext cx="3063240" cy="1097280"/>
          </a:xfrm>
          <a:prstGeom prst="rect">
            <a:avLst/>
          </a:prstGeom>
          <a:noFill/>
          <a:ln/>
        </p:spPr>
        <p:txBody>
          <a:bodyPr wrap="square" lIns="635" tIns="635" rIns="635" bIns="635" rtlCol="0" anchor="ctr">
            <a:normAutofit/>
          </a:bodyPr>
          <a:lstStyle/>
          <a:p>
            <a:pPr marL="0" indent="0">
              <a:buNone/>
            </a:pPr>
            <a:r>
              <a:rPr lang="de-CH" sz="1340" b="1" dirty="0">
                <a:solidFill>
                  <a:srgbClr val="E30613"/>
                </a:solidFill>
                <a:latin typeface="Arial" pitchFamily="34" charset="0"/>
                <a:ea typeface="Arial" pitchFamily="34" charset="-122"/>
                <a:cs typeface="Arial" pitchFamily="34" charset="-120"/>
              </a:rPr>
              <a:t>• </a:t>
            </a:r>
            <a:r>
              <a:rPr lang="de-CH" sz="1340" dirty="0">
                <a:solidFill>
                  <a:srgbClr val="222222"/>
                </a:solidFill>
                <a:latin typeface="Arial" pitchFamily="34" charset="0"/>
                <a:ea typeface="Arial" pitchFamily="34" charset="-122"/>
                <a:cs typeface="Arial" pitchFamily="34" charset="-120"/>
              </a:rPr>
              <a:t>02_DemoAblauf.sql ausführen
</a:t>
            </a:r>
            <a:r>
              <a:rPr lang="de-CH" sz="1340" b="1" dirty="0">
                <a:solidFill>
                  <a:srgbClr val="E30613"/>
                </a:solidFill>
                <a:latin typeface="Arial" pitchFamily="34" charset="0"/>
                <a:ea typeface="Arial" pitchFamily="34" charset="-122"/>
                <a:cs typeface="Arial" pitchFamily="34" charset="-120"/>
              </a:rPr>
              <a:t>• </a:t>
            </a:r>
            <a:r>
              <a:rPr lang="de-CH" sz="1340" dirty="0">
                <a:solidFill>
                  <a:srgbClr val="222222"/>
                </a:solidFill>
                <a:latin typeface="Arial" pitchFamily="34" charset="0"/>
                <a:ea typeface="Arial" pitchFamily="34" charset="-122"/>
                <a:cs typeface="Arial" pitchFamily="34" charset="-120"/>
              </a:rPr>
              <a:t>Begegnung: 6:4 abgeschlossen
</a:t>
            </a:r>
            <a:r>
              <a:rPr lang="de-CH" sz="1340" b="1" dirty="0">
                <a:solidFill>
                  <a:srgbClr val="E30613"/>
                </a:solidFill>
                <a:latin typeface="Arial" pitchFamily="34" charset="0"/>
                <a:ea typeface="Arial" pitchFamily="34" charset="-122"/>
                <a:cs typeface="Arial" pitchFamily="34" charset="-120"/>
              </a:rPr>
              <a:t>• </a:t>
            </a:r>
            <a:r>
              <a:rPr lang="de-CH" sz="1340" dirty="0">
                <a:solidFill>
                  <a:srgbClr val="222222"/>
                </a:solidFill>
                <a:latin typeface="Arial" pitchFamily="34" charset="0"/>
                <a:ea typeface="Arial" pitchFamily="34" charset="-122"/>
                <a:cs typeface="Arial" pitchFamily="34" charset="-120"/>
              </a:rPr>
              <a:t>Elo: +9.590 / −9.590
</a:t>
            </a:r>
            <a:r>
              <a:rPr lang="de-CH" sz="1340" b="1" dirty="0">
                <a:solidFill>
                  <a:srgbClr val="E30613"/>
                </a:solidFill>
                <a:latin typeface="Arial" pitchFamily="34" charset="0"/>
                <a:ea typeface="Arial" pitchFamily="34" charset="-122"/>
                <a:cs typeface="Arial" pitchFamily="34" charset="-120"/>
              </a:rPr>
              <a:t>• </a:t>
            </a:r>
            <a:r>
              <a:rPr lang="de-CH" sz="1340" dirty="0">
                <a:solidFill>
                  <a:srgbClr val="222222"/>
                </a:solidFill>
                <a:latin typeface="Arial" pitchFamily="34" charset="0"/>
                <a:ea typeface="Arial" pitchFamily="34" charset="-122"/>
                <a:cs typeface="Arial" pitchFamily="34" charset="-120"/>
              </a:rPr>
              <a:t>Turnier: ANGEMELDET</a:t>
            </a:r>
            <a:endParaRPr lang="de-CH" sz="1340" dirty="0"/>
          </a:p>
        </p:txBody>
      </p:sp>
      <p:sp>
        <p:nvSpPr>
          <p:cNvPr id="17" name="Shape 14"/>
          <p:cNvSpPr/>
          <p:nvPr/>
        </p:nvSpPr>
        <p:spPr>
          <a:xfrm>
            <a:off x="914400" y="4800600"/>
            <a:ext cx="7315200" cy="475488"/>
          </a:xfrm>
          <a:prstGeom prst="roundRect">
            <a:avLst>
              <a:gd name="adj" fmla="val 15385"/>
            </a:avLst>
          </a:prstGeom>
          <a:solidFill>
            <a:srgbClr val="E30613"/>
          </a:solidFill>
          <a:ln w="12700">
            <a:solidFill>
              <a:srgbClr val="E30613"/>
            </a:solidFill>
            <a:prstDash val="solid"/>
          </a:ln>
        </p:spPr>
        <p:txBody>
          <a:bodyPr/>
          <a:lstStyle/>
          <a:p>
            <a:endParaRPr lang="de-CH"/>
          </a:p>
        </p:txBody>
      </p:sp>
      <p:sp>
        <p:nvSpPr>
          <p:cNvPr id="18" name="Text 15"/>
          <p:cNvSpPr/>
          <p:nvPr/>
        </p:nvSpPr>
        <p:spPr>
          <a:xfrm>
            <a:off x="1234440" y="4965192"/>
            <a:ext cx="6675120" cy="118872"/>
          </a:xfrm>
          <a:prstGeom prst="rect">
            <a:avLst/>
          </a:prstGeom>
          <a:noFill/>
          <a:ln/>
        </p:spPr>
        <p:txBody>
          <a:bodyPr wrap="square" lIns="0" tIns="0" rIns="0" bIns="0" rtlCol="0" anchor="ctr"/>
          <a:lstStyle/>
          <a:p>
            <a:pPr marL="0" indent="0" algn="ctr">
              <a:buNone/>
            </a:pPr>
            <a:r>
              <a:rPr lang="de-CH" sz="1260" b="1" dirty="0">
                <a:solidFill>
                  <a:srgbClr val="FFFFFF"/>
                </a:solidFill>
              </a:rPr>
              <a:t>Ziel der Demo: Geschäftsablauf und Datenintegrität sichtbar machen.</a:t>
            </a:r>
            <a:endParaRPr lang="de-CH" sz="1260" dirty="0"/>
          </a:p>
        </p:txBody>
      </p:sp>
      <p:sp>
        <p:nvSpPr>
          <p:cNvPr id="19" name="Text 16"/>
          <p:cNvSpPr/>
          <p:nvPr/>
        </p:nvSpPr>
        <p:spPr>
          <a:xfrm>
            <a:off x="1234440" y="5559552"/>
            <a:ext cx="6675120" cy="182880"/>
          </a:xfrm>
          <a:prstGeom prst="rect">
            <a:avLst/>
          </a:prstGeom>
          <a:noFill/>
          <a:ln/>
        </p:spPr>
        <p:txBody>
          <a:bodyPr wrap="square" lIns="0" tIns="0" rIns="0" bIns="0" rtlCol="0" anchor="ctr"/>
          <a:lstStyle/>
          <a:p>
            <a:pPr marL="0" indent="0" algn="ctr">
              <a:buNone/>
            </a:pPr>
            <a:r>
              <a:rPr lang="de-CH" sz="1450" b="1" dirty="0">
                <a:solidFill>
                  <a:srgbClr val="222222"/>
                </a:solidFill>
              </a:rPr>
              <a:t>Zeitbudget: ca. 2:30 bis 3:00 Minuten</a:t>
            </a:r>
            <a:endParaRPr lang="de-CH"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1081</Words>
  <Application>Microsoft Office PowerPoint</Application>
  <PresentationFormat>Bildschirmpräsentation (4:3)</PresentationFormat>
  <Paragraphs>137</Paragraphs>
  <Slides>7</Slides>
  <Notes>7</Notes>
  <HiddenSlides>0</HiddenSlides>
  <MMClips>0</MMClips>
  <ScaleCrop>false</ScaleCrop>
  <HeadingPairs>
    <vt:vector size="6" baseType="variant">
      <vt:variant>
        <vt:lpstr>Verwendete Schriftarten</vt:lpstr>
      </vt:variant>
      <vt:variant>
        <vt:i4>1</vt:i4>
      </vt:variant>
      <vt:variant>
        <vt:lpstr>Design</vt:lpstr>
      </vt:variant>
      <vt:variant>
        <vt:i4>1</vt:i4>
      </vt:variant>
      <vt:variant>
        <vt:lpstr>Folientitel</vt:lpstr>
      </vt:variant>
      <vt:variant>
        <vt:i4>7</vt:i4>
      </vt:variant>
    </vt:vector>
  </HeadingPairs>
  <TitlesOfParts>
    <vt:vector size="9" baseType="lpstr">
      <vt:lpstr>Arial</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STT-DB Modulararbeit II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STT-DB</dc:title>
  <dc:subject>Gekuerzte 10-Minuten-Praesentation</dc:subject>
  <dc:creator>Christian Abbuehl</dc:creator>
  <cp:lastModifiedBy>Christian Abbühl</cp:lastModifiedBy>
  <cp:revision>3</cp:revision>
  <dcterms:created xsi:type="dcterms:W3CDTF">2026-09-09T11:28:00Z</dcterms:created>
  <dcterms:modified xsi:type="dcterms:W3CDTF">2026-09-09T12:25:26Z</dcterms:modified>
</cp:coreProperties>
</file>