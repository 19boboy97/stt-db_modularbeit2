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7" r:id="rId6"/>
    <p:sldId id="268" r:id="rId7"/>
    <p:sldId id="269" r:id="rId8"/>
    <p:sldId id="263" r:id="rId9"/>
    <p:sldId id="264" r:id="rId10"/>
    <p:sldId id="265" r:id="rId11"/>
    <p:sldId id="266" r:id="rId12"/>
  </p:sldIdLst>
  <p:sldSz cx="9144000" cy="6858000" type="screen4x3"/>
  <p:notesSz cx="6858000" cy="9144000"/>
  <p:defaultTextStyle>
    <a:lvl1pPr marL="0" algn="l" defTabSz="914400" rtl="0" eaLnBrk="1" latinLnBrk="0" hangingPunct="1">
      <a:defRPr lang="de-CH" sz="1800" kern="1200">
        <a:solidFill>
          <a:schemeClr val="tx1"/>
        </a:solidFill>
        <a:latin typeface="+mn-lt"/>
        <a:ea typeface="+mn-ea"/>
        <a:cs typeface="+mn-cs"/>
      </a:defRPr>
    </a:lvl1pPr>
    <a:lvl2pPr marL="457200" algn="l" defTabSz="914400" rtl="0" eaLnBrk="1" latinLnBrk="0" hangingPunct="1">
      <a:defRPr lang="de-CH" sz="1800" kern="1200">
        <a:solidFill>
          <a:schemeClr val="tx1"/>
        </a:solidFill>
        <a:latin typeface="+mn-lt"/>
        <a:ea typeface="+mn-ea"/>
        <a:cs typeface="+mn-cs"/>
      </a:defRPr>
    </a:lvl2pPr>
    <a:lvl3pPr marL="914400" algn="l" defTabSz="914400" rtl="0" eaLnBrk="1" latinLnBrk="0" hangingPunct="1">
      <a:defRPr lang="de-CH" sz="1800" kern="1200">
        <a:solidFill>
          <a:schemeClr val="tx1"/>
        </a:solidFill>
        <a:latin typeface="+mn-lt"/>
        <a:ea typeface="+mn-ea"/>
        <a:cs typeface="+mn-cs"/>
      </a:defRPr>
    </a:lvl3pPr>
    <a:lvl4pPr marL="1371600" algn="l" defTabSz="914400" rtl="0" eaLnBrk="1" latinLnBrk="0" hangingPunct="1">
      <a:defRPr lang="de-CH" sz="1800" kern="1200">
        <a:solidFill>
          <a:schemeClr val="tx1"/>
        </a:solidFill>
        <a:latin typeface="+mn-lt"/>
        <a:ea typeface="+mn-ea"/>
        <a:cs typeface="+mn-cs"/>
      </a:defRPr>
    </a:lvl4pPr>
    <a:lvl5pPr marL="1828800" algn="l" defTabSz="914400" rtl="0" eaLnBrk="1" latinLnBrk="0" hangingPunct="1">
      <a:defRPr lang="de-CH" sz="1800" kern="1200">
        <a:solidFill>
          <a:schemeClr val="tx1"/>
        </a:solidFill>
        <a:latin typeface="+mn-lt"/>
        <a:ea typeface="+mn-ea"/>
        <a:cs typeface="+mn-cs"/>
      </a:defRPr>
    </a:lvl5pPr>
    <a:lvl6pPr marL="2286000" algn="l" defTabSz="914400" rtl="0" eaLnBrk="1" latinLnBrk="0" hangingPunct="1">
      <a:defRPr lang="de-CH" sz="1800" kern="1200">
        <a:solidFill>
          <a:schemeClr val="tx1"/>
        </a:solidFill>
        <a:latin typeface="+mn-lt"/>
        <a:ea typeface="+mn-ea"/>
        <a:cs typeface="+mn-cs"/>
      </a:defRPr>
    </a:lvl6pPr>
    <a:lvl7pPr marL="2743200" algn="l" defTabSz="914400" rtl="0" eaLnBrk="1" latinLnBrk="0" hangingPunct="1">
      <a:defRPr lang="de-CH" sz="1800" kern="1200">
        <a:solidFill>
          <a:schemeClr val="tx1"/>
        </a:solidFill>
        <a:latin typeface="+mn-lt"/>
        <a:ea typeface="+mn-ea"/>
        <a:cs typeface="+mn-cs"/>
      </a:defRPr>
    </a:lvl7pPr>
    <a:lvl8pPr marL="3200400" algn="l" defTabSz="914400" rtl="0" eaLnBrk="1" latinLnBrk="0" hangingPunct="1">
      <a:defRPr lang="de-CH" sz="1800" kern="1200">
        <a:solidFill>
          <a:schemeClr val="tx1"/>
        </a:solidFill>
        <a:latin typeface="+mn-lt"/>
        <a:ea typeface="+mn-ea"/>
        <a:cs typeface="+mn-cs"/>
      </a:defRPr>
    </a:lvl8pPr>
    <a:lvl9pPr marL="3657600" algn="l" defTabSz="914400" rtl="0" eaLnBrk="1" latinLnBrk="0" hangingPunct="1">
      <a:defRPr lang="de-CH"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83" autoAdjust="0"/>
    <p:restoredTop sz="77724" autoAdjust="0"/>
  </p:normalViewPr>
  <p:slideViewPr>
    <p:cSldViewPr snapToGrid="0" snapToObjects="1">
      <p:cViewPr>
        <p:scale>
          <a:sx n="100" d="100"/>
          <a:sy n="100" d="100"/>
        </p:scale>
        <p:origin x="1698"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7821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Guten Abend. Ich präsentiere meine Modulararbeit II: STT-DB, eine relationale Datenbank für zentrale Bereiche von Swiss Table Tennis.</a:t>
            </a:r>
          </a:p>
          <a:p>
            <a:r>
              <a:rPr lang="de-CH" dirty="0"/>
              <a:t>Der Fokus liegt nicht auf einer Benutzeroberfläche, sondern auf dem Datenbankkern: Datenmodell, Datenintegrität, Geschäftslogik, Tests, Rebuild und reproduzierbare Demo.</a:t>
            </a:r>
          </a:p>
          <a:p>
            <a:r>
              <a:rPr lang="de-CH" dirty="0"/>
              <a:t>Der finale Stand umfasst 39 Tabellen, 5 Views, 6 Stored Procedures, 5 Seed-Skripte und 2 Demo-Skripte.</a:t>
            </a:r>
          </a:p>
          <a:p>
            <a:r>
              <a:rPr lang="de-CH" dirty="0"/>
              <a:t>Am Ende zeige ich kurz, wie der fachliche Ablauf mit Demo-Daten reproduzierbar ausgeführt werden kann.</a:t>
            </a:r>
          </a:p>
          <a:p>
            <a:endParaRPr lang="de-CH" dirty="0"/>
          </a:p>
          <a:p>
            <a:r>
              <a:rPr lang="de-CH" dirty="0"/>
              <a:t>Sprechhinweis: ruhig starten, Projektname und Ziel klar nennen.</a:t>
            </a:r>
          </a:p>
        </p:txBody>
      </p:sp>
      <p:sp>
        <p:nvSpPr>
          <p:cNvPr id="4" name="Slide Number Placeholder 3"/>
          <p:cNvSpPr>
            <a:spLocks noGrp="1"/>
          </p:cNvSpPr>
          <p:nvPr>
            <p:ph type="sldNum" sz="quarter" idx="10"/>
          </p:nvPr>
        </p:nvSpPr>
        <p:spPr/>
        <p:txBody>
          <a:bodyPr/>
          <a:lstStyle/>
          <a:p>
            <a:fld id="{F7021451-1387-4CA6-816F-3879F97B5CBC}" type="slidenum">
              <a:rPr lang="de-CH"/>
              <a:t>1</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 Ausgangslage ist, dass ein Tischtennisverband viele zusammenhängende Daten verwaltet: Spieler, Clubs, Saisons, Ligen, Begegnungen, Resultate, Turniere und Elo-Werte.</a:t>
            </a:r>
          </a:p>
          <a:p>
            <a:r>
              <a:rPr lang="de-CH" dirty="0"/>
              <a:t>Diese Daten ändern sich nicht alle gleich. Ein Spieler bleibt zum Beispiel langfristig derselbe, seine Vereinszugehörigkeit oder Alterskategorie kann aber saisonabhängig sein.</a:t>
            </a:r>
          </a:p>
          <a:p>
            <a:r>
              <a:rPr lang="de-CH" dirty="0"/>
              <a:t>Ziel war deshalb ein relationales Modell, das solche Zusammenhänge sauber trennt und trotzdem konsistent hält.</a:t>
            </a:r>
          </a:p>
          <a:p>
            <a:r>
              <a:rPr lang="de-CH" dirty="0"/>
              <a:t>Wichtig war auch, dass Geschäftsregeln nicht nur in einer Anwendung stehen, sondern möglichst direkt in der Datenbank abgesichert werden.</a:t>
            </a:r>
          </a:p>
          <a:p>
            <a:endParaRPr lang="de-CH" dirty="0"/>
          </a:p>
          <a:p>
            <a:r>
              <a:rPr lang="de-CH" dirty="0"/>
              <a:t>Sprechhinweis: betonen, dass es um den Datenbankkern geht, nicht um eine vollständige Verbandssoftware.</a:t>
            </a:r>
          </a:p>
        </p:txBody>
      </p:sp>
      <p:sp>
        <p:nvSpPr>
          <p:cNvPr id="4" name="Slide Number Placeholder 3"/>
          <p:cNvSpPr>
            <a:spLocks noGrp="1"/>
          </p:cNvSpPr>
          <p:nvPr>
            <p:ph type="sldNum" sz="quarter" idx="10"/>
          </p:nvPr>
        </p:nvSpPr>
        <p:spPr/>
        <p:txBody>
          <a:bodyPr/>
          <a:lstStyle/>
          <a:p>
            <a:fld id="{F7021451-1387-4CA6-816F-3879F97B5CBC}" type="slidenum">
              <a:rPr lang="de-CH"/>
              <a:t>2</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 technische Umgebung besteht aus Windows 11 als Hostsystem, Vagrant und VirtualBox für die virtuelle Maschine, Ubuntu 22.04 als Gastbetriebssystem und Microsoft SQL Server 2022 als Datenbankserver.</a:t>
            </a:r>
          </a:p>
          <a:p>
            <a:r>
              <a:rPr lang="de-CH" dirty="0"/>
              <a:t>SQL-Server läuft also nicht direkt auf Windows, sondern in einer Linux-VM. Ich arbeite mit SQL Server Management Studio und verbinde mich über 127.0.0.1,1433.</a:t>
            </a:r>
          </a:p>
          <a:p>
            <a:r>
              <a:rPr lang="de-CH" dirty="0"/>
              <a:t>Git und GitHub versionieren Infrastruktur, SQL-Skripte, Dokumentation und Präsentationsunterlagen.</a:t>
            </a:r>
          </a:p>
          <a:p>
            <a:r>
              <a:rPr lang="de-CH" dirty="0"/>
              <a:t>Diese Architektur macht die Umgebung reproduzierbar und trennt die eigentliche Datenbank klar vom Windows-Host.</a:t>
            </a:r>
          </a:p>
          <a:p>
            <a:r>
              <a:rPr lang="de-CH" dirty="0"/>
              <a:t>Sprechhinweis: kurz erwähnen, dass die VM vor der Präsentation gestartet und SQL-Server geprüft wird.</a:t>
            </a:r>
          </a:p>
        </p:txBody>
      </p:sp>
      <p:sp>
        <p:nvSpPr>
          <p:cNvPr id="4" name="Slide Number Placeholder 3"/>
          <p:cNvSpPr>
            <a:spLocks noGrp="1"/>
          </p:cNvSpPr>
          <p:nvPr>
            <p:ph type="sldNum" sz="quarter" idx="10"/>
          </p:nvPr>
        </p:nvSpPr>
        <p:spPr/>
        <p:txBody>
          <a:bodyPr/>
          <a:lstStyle/>
          <a:p>
            <a:fld id="{F7021451-1387-4CA6-816F-3879F97B5CBC}" type="slidenum">
              <a:rPr lang="de-CH"/>
              <a:t>3</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Diese Folie zeigt nicht alle 39 Tabellen einzeln, sondern die fachliche Struktur des Datenmodells.</a:t>
            </a:r>
          </a:p>
          <a:p>
            <a:r>
              <a:rPr lang="de-CH" dirty="0"/>
              <a:t>Im Zentrum stehen Spieler, Saison und Club beziehungsweise Verein. </a:t>
            </a:r>
          </a:p>
          <a:p>
            <a:r>
              <a:rPr lang="de-CH" dirty="0"/>
              <a:t>Darauf bauen die Liga- und Turnierbereiche auf.</a:t>
            </a:r>
          </a:p>
          <a:p>
            <a:r>
              <a:rPr lang="de-CH" dirty="0"/>
              <a:t>Liga und Turniere nutzen gemeinsame Spiel- und Resultattabellen: Einzelspiel, Doppelspiel und Satz. Dadurch muss diese Logik nicht doppelt modelliert werden.</a:t>
            </a:r>
          </a:p>
          <a:p>
            <a:r>
              <a:rPr lang="de-CH" dirty="0"/>
              <a:t>Einzelspiele können zusätzlich in die Elo-Historie einfliessen. Dafür gibt es Tabellen wie SpielerBewertung, SpielerElo und </a:t>
            </a:r>
            <a:r>
              <a:rPr lang="de-CH" dirty="0" err="1"/>
              <a:t>EloProtokoll</a:t>
            </a:r>
            <a:r>
              <a:rPr lang="de-CH" dirty="0"/>
              <a:t>.</a:t>
            </a:r>
          </a:p>
          <a:p>
            <a:endParaRPr lang="de-CH" dirty="0"/>
          </a:p>
          <a:p>
            <a:r>
              <a:rPr lang="de-CH" dirty="0"/>
              <a:t>Eine zentrale Modellierungsentscheidung war die Trennung von dauerhaften Spielerdaten und saisonabhängigen Daten. </a:t>
            </a:r>
          </a:p>
          <a:p>
            <a:r>
              <a:rPr lang="de-CH" dirty="0"/>
              <a:t>Spieler enthält die Stammdaten, während SpielerSaison und SpielerVerein saisonbezogene Informationen speichern.</a:t>
            </a:r>
          </a:p>
          <a:p>
            <a:endParaRPr lang="de-CH" dirty="0"/>
          </a:p>
          <a:p>
            <a:r>
              <a:rPr lang="de-CH" dirty="0"/>
              <a:t>Sprechhinweis: nicht jede Tabelle erklären, sondern die Struktur und die wichtigsten Beziehungen verständlich machen.</a:t>
            </a:r>
          </a:p>
        </p:txBody>
      </p:sp>
      <p:sp>
        <p:nvSpPr>
          <p:cNvPr id="4" name="Slide Number Placeholder 3"/>
          <p:cNvSpPr>
            <a:spLocks noGrp="1"/>
          </p:cNvSpPr>
          <p:nvPr>
            <p:ph type="sldNum" sz="quarter" idx="10"/>
          </p:nvPr>
        </p:nvSpPr>
        <p:spPr/>
        <p:txBody>
          <a:bodyPr/>
          <a:lstStyle/>
          <a:p>
            <a:fld id="{F7021451-1387-4CA6-816F-3879F97B5CBC}" type="slidenum">
              <a:rPr lang="de-CH"/>
              <a:t>4</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Diese Folie ist bewusst einfacher gehalten. Ich erkläre drei Schutzebenen der Datenintegrität. </a:t>
            </a:r>
          </a:p>
          <a:p>
            <a:r>
              <a:rPr lang="de-CH" dirty="0"/>
              <a:t>Erstens sichern Primär- und Fremdschlüssel, dass Beziehungen stimmen. Zum Beispiel darf eine Vereinszuordnung nur auf vorhandene Spieler-, Saison- und Club-Datensätze zeigen. </a:t>
            </a:r>
          </a:p>
          <a:p>
            <a:r>
              <a:rPr lang="de-CH" dirty="0"/>
              <a:t>Zweitens verhindern UNIQUE-Regeln und gefilterte UNIQUE-Indizes fachliche Dubletten. Ein Spieler kann in einer Saison nur einen Hauptverein haben, und es darf nur eine aktuelle Saison geben. </a:t>
            </a:r>
          </a:p>
          <a:p>
            <a:r>
              <a:rPr lang="de-CH" dirty="0"/>
              <a:t>Drittens prüfen CHECK-Constraints und Defaultwerte plausible Zustände. Zum Beispiel dürfen Heim- und Gastmannschaft nicht identisch sein, und Statuswerte sind auf erlaubte Begriffe begrenzt. Die Kernaussage ist: Ungültige Daten werden bereits beim INSERT oder UPDATE blockiert, nicht erst später durch eine Anwendung.</a:t>
            </a:r>
          </a:p>
        </p:txBody>
      </p:sp>
      <p:sp>
        <p:nvSpPr>
          <p:cNvPr id="4" name="Slide Number Placeholder 3"/>
          <p:cNvSpPr>
            <a:spLocks noGrp="1"/>
          </p:cNvSpPr>
          <p:nvPr>
            <p:ph type="sldNum" sz="quarter" idx="10"/>
          </p:nvPr>
        </p:nvSpPr>
        <p:spPr/>
        <p:txBody>
          <a:bodyPr/>
          <a:lstStyle/>
          <a:p>
            <a:fld id="{F7021451-1387-4CA6-816F-3879F97B5CBC}" type="slidenum">
              <a:rPr lang="de-CH"/>
              <a:t>5</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Diese Folie soll zeigen, wofür Views und </a:t>
            </a:r>
            <a:r>
              <a:rPr lang="de-CH" dirty="0" err="1"/>
              <a:t>Stored</a:t>
            </a:r>
            <a:r>
              <a:rPr lang="de-CH" dirty="0"/>
              <a:t> </a:t>
            </a:r>
            <a:r>
              <a:rPr lang="de-CH" dirty="0" err="1"/>
              <a:t>Procedures</a:t>
            </a:r>
            <a:r>
              <a:rPr lang="de-CH" dirty="0"/>
              <a:t> im Projekt konkret verwendet werden. </a:t>
            </a:r>
          </a:p>
          <a:p>
            <a:r>
              <a:rPr lang="de-CH" dirty="0"/>
              <a:t>Views sind bei mir für lesende Auswertungen gedacht. Sie fassen Daten aus mehreren Tabellen zusammen, damit ich zum Beispiel aktuelle Spieler, Mannschaften einer Liga, Begegnungen, Turnieranmeldungen oder Spielresultate direkt anzeigen kann. </a:t>
            </a:r>
          </a:p>
          <a:p>
            <a:r>
              <a:rPr lang="de-CH" dirty="0" err="1"/>
              <a:t>Stored</a:t>
            </a:r>
            <a:r>
              <a:rPr lang="de-CH" dirty="0"/>
              <a:t> Procedures verwende ich dagegen für kontrollierte Geschäftsabläufe. Sie prüfen zuerst die Eingaben und Geschäftsregeln und führen danach die nötigen Änderungen aus. </a:t>
            </a:r>
          </a:p>
          <a:p>
            <a:r>
              <a:rPr lang="de-CH" dirty="0"/>
              <a:t>Beispiele sind Spieler anmelden, Spieler einer Mannschaft zuordnen, eine Begegnung erfassen, ein Resultat abschliessen, eine Turnieranmeldung durchführen oder den Elo-Wert aktualisieren. </a:t>
            </a:r>
          </a:p>
          <a:p>
            <a:r>
              <a:rPr lang="de-CH" dirty="0"/>
              <a:t>Der wichtigste Unterschied ist: Views lese ich, Stored Procedures ändern Daten kontrolliert.</a:t>
            </a:r>
          </a:p>
        </p:txBody>
      </p:sp>
      <p:sp>
        <p:nvSpPr>
          <p:cNvPr id="4" name="Slide Number Placeholder 3"/>
          <p:cNvSpPr>
            <a:spLocks noGrp="1"/>
          </p:cNvSpPr>
          <p:nvPr>
            <p:ph type="sldNum" sz="quarter" idx="10"/>
          </p:nvPr>
        </p:nvSpPr>
        <p:spPr/>
        <p:txBody>
          <a:bodyPr/>
          <a:lstStyle/>
          <a:p>
            <a:fld id="{F7021451-1387-4CA6-816F-3879F97B5CBC}" type="slidenum">
              <a:rPr lang="de-CH"/>
              <a:t>6</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Diese Folie zeigt einen konkreten Geschäftsablauf im Zusammenspiel mehrerer Datenbankobjekte.</a:t>
            </a:r>
          </a:p>
          <a:p>
            <a:r>
              <a:rPr lang="de-CH" dirty="0"/>
              <a:t>Ausgangspunkt ist ein abgeschlossenes Einzelspiel aus der Demo: Leon Berger gewinnt gegen Daniel Frei.</a:t>
            </a:r>
          </a:p>
          <a:p>
            <a:r>
              <a:rPr lang="de-CH" dirty="0"/>
              <a:t>Das Resultat wird gespeichert und danach verarbeitet die Stored Procedure sp_EloAktualisieren die Elo-Änderung.</a:t>
            </a:r>
          </a:p>
          <a:p>
            <a:r>
              <a:rPr lang="de-CH" dirty="0"/>
              <a:t>Dabei werden nicht einfach nur neue Werte überschrieben. Die Änderung wird im EloProtokoll nachvollziehbar dokumentiert und im SpielerElo als neuer Monatswert historisiert.</a:t>
            </a:r>
          </a:p>
          <a:p>
            <a:r>
              <a:rPr lang="de-CH" dirty="0"/>
              <a:t>Wichtig ist hier: mehrere Tabellen und eine Procedure arbeiten zusammen. Die Geschäftsregel wird kontrolliert ausgeführt, und durch die Transaktion bleibt der Ablauf konsistent.</a:t>
            </a:r>
          </a:p>
          <a:p>
            <a:r>
              <a:rPr lang="de-CH" dirty="0"/>
              <a:t>Sprechhinweis: Diese Folie kurz erklären und danach in der Live-Demo die konkreten Resultate zeigen.</a:t>
            </a:r>
          </a:p>
        </p:txBody>
      </p:sp>
      <p:sp>
        <p:nvSpPr>
          <p:cNvPr id="4" name="Slide Number Placeholder 3"/>
          <p:cNvSpPr>
            <a:spLocks noGrp="1"/>
          </p:cNvSpPr>
          <p:nvPr>
            <p:ph type="sldNum" sz="quarter" idx="10"/>
          </p:nvPr>
        </p:nvSpPr>
        <p:spPr/>
        <p:txBody>
          <a:bodyPr/>
          <a:lstStyle/>
          <a:p>
            <a:fld id="{F7021451-1387-4CA6-816F-3879F97B5CBC}" type="slidenum">
              <a:rPr lang="de-CH"/>
              <a:t>7</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 Qualitätssicherung besteht aus mehreren Ebenen. Ich habe Positivtests für gültige Abläufe und Negativtests für ungültige Eingaben durchgeführt.</a:t>
            </a:r>
          </a:p>
          <a:p>
            <a:r>
              <a:rPr lang="de-CH" dirty="0"/>
              <a:t>Zusätzlich werden Constraints, Fremdschlüssel, Seed-Daten und alle Views geprüft.</a:t>
            </a:r>
          </a:p>
          <a:p>
            <a:r>
              <a:rPr lang="de-CH" dirty="0"/>
              <a:t>Der wichtigste technische Abschlussnachweis ist der Rebuild-Test. Das Skript 99_RebuildTest.sql erstellt eine separate Testdatenbank neu, bindet Tabellen, Seeds, Views und Stored Procedures ein und prüft die erwarteten Objektzahlen.</a:t>
            </a:r>
          </a:p>
          <a:p>
            <a:r>
              <a:rPr lang="de-CH" dirty="0"/>
              <a:t>Ein erfolgreicher Lauf endet mit 39 Tabellen, 5 Views, 6 Stored Procedures und korrekten Seed-Daten.</a:t>
            </a:r>
          </a:p>
          <a:p>
            <a:r>
              <a:rPr lang="de-CH" dirty="0"/>
              <a:t>Sprechhinweis: falls gefragt, erwähnen, dass der SQLCMD-Modus notwendig ist, weil das Skript weitere SQL-Dateien mit :r einbindet.</a:t>
            </a:r>
          </a:p>
        </p:txBody>
      </p:sp>
      <p:sp>
        <p:nvSpPr>
          <p:cNvPr id="4" name="Slide Number Placeholder 3"/>
          <p:cNvSpPr>
            <a:spLocks noGrp="1"/>
          </p:cNvSpPr>
          <p:nvPr>
            <p:ph type="sldNum" sz="quarter" idx="10"/>
          </p:nvPr>
        </p:nvSpPr>
        <p:spPr/>
        <p:txBody>
          <a:bodyPr/>
          <a:lstStyle/>
          <a:p>
            <a:fld id="{F7021451-1387-4CA6-816F-3879F97B5CBC}" type="slidenum">
              <a:rPr lang="de-CH"/>
              <a:t>8</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Für die Live-Demo gibt es zwei Skripte. 01_DemoDaten.sql erstellt eine definierte Demo-Datenbasis mit Spielern, Clubs, Mannschaften, Liga, Turnier und Bewertungsdaten.</a:t>
            </a:r>
          </a:p>
          <a:p>
            <a:r>
              <a:rPr lang="de-CH" dirty="0"/>
              <a:t>02_DemoAblauf.sql führt danach den fachlichen Ablauf aus: Spieler anmelden, Mannschaft zuordnen, Begegnung erfassen, Spiel und Sätze speichern, Resultat abschliessen, Elo aktualisieren, Turnieranmeldung durchführen und Views auswerten.</a:t>
            </a:r>
          </a:p>
          <a:p>
            <a:r>
              <a:rPr lang="de-CH" dirty="0"/>
              <a:t>Der Vorteil ist, dass die Demo nicht von zufälligen Daten abhängt. Sie ist reproduzierbar und endet im Erfolgsfall mit 'DEMO ERFOLGREICH ABGESCHLOSSEN'.</a:t>
            </a:r>
          </a:p>
          <a:p>
            <a:r>
              <a:rPr lang="de-CH" dirty="0"/>
              <a:t>In der Präsentation zeige ich nur die wichtigsten Resultsets: Begegnung mit Resultat, Elo-Änderung und Turnieranmeldung.</a:t>
            </a:r>
          </a:p>
          <a:p>
            <a:r>
              <a:rPr lang="de-CH" dirty="0"/>
              <a:t>Sprechhinweis: Demo kurz halten. Falls die Live-Demo ausfällt, GitHub-Dokumentation und SQL-Skripte als Backup zeigen.</a:t>
            </a:r>
          </a:p>
        </p:txBody>
      </p:sp>
      <p:sp>
        <p:nvSpPr>
          <p:cNvPr id="4" name="Slide Number Placeholder 3"/>
          <p:cNvSpPr>
            <a:spLocks noGrp="1"/>
          </p:cNvSpPr>
          <p:nvPr>
            <p:ph type="sldNum" sz="quarter" idx="10"/>
          </p:nvPr>
        </p:nvSpPr>
        <p:spPr/>
        <p:txBody>
          <a:bodyPr/>
          <a:lstStyle/>
          <a:p>
            <a:fld id="{F7021451-1387-4CA6-816F-3879F97B5CBC}" type="slidenum">
              <a:rPr lang="de-CH"/>
              <a:t>9</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 grössten Herausforderungen lagen nicht im Anlegen einzelner Tabellen, sondern im Zusammenspiel.</a:t>
            </a:r>
          </a:p>
          <a:p>
            <a:r>
              <a:rPr lang="de-CH" dirty="0"/>
              <a:t>Bei 39 Tabellen ist die Fremdschlüssel-Reihenfolge wichtig, besonders beim vollständigen Rebuild.</a:t>
            </a:r>
          </a:p>
          <a:p>
            <a:r>
              <a:rPr lang="de-CH" dirty="0"/>
              <a:t>Eine weitere Entscheidung war, welche Regeln direkt als Constraint umgesetzt werden und welche besser in Stored Procedures gehören.</a:t>
            </a:r>
          </a:p>
          <a:p>
            <a:r>
              <a:rPr lang="de-CH" dirty="0"/>
              <a:t>Zusätzlich musste das ER-Modell trotz grossem Umfang lesbar bleiben und die Demo sollte reproduzierbar sein.</a:t>
            </a:r>
          </a:p>
          <a:p>
            <a:r>
              <a:rPr lang="de-CH" dirty="0"/>
              <a:t>Gelernt habe ich vor allem das Zusammenspiel von referentieller Integrität, gefilterten UNIQUE-Indizes, persistierten Spalten, Stored Procedures, Transaktionen, TRY/CATCH, THROW, SQLCMD und Vagrant.</a:t>
            </a:r>
          </a:p>
          <a:p>
            <a:r>
              <a:rPr lang="de-CH" dirty="0"/>
              <a:t>Sprechhinweis: hier persönlich formulieren, dass das Projekt schrittweise stabiler wurde.</a:t>
            </a:r>
          </a:p>
        </p:txBody>
      </p:sp>
      <p:sp>
        <p:nvSpPr>
          <p:cNvPr id="4" name="Slide Number Placeholder 3"/>
          <p:cNvSpPr>
            <a:spLocks noGrp="1"/>
          </p:cNvSpPr>
          <p:nvPr>
            <p:ph type="sldNum" sz="quarter" idx="10"/>
          </p:nvPr>
        </p:nvSpPr>
        <p:spPr/>
        <p:txBody>
          <a:bodyPr/>
          <a:lstStyle/>
          <a:p>
            <a:fld id="{F7021451-1387-4CA6-816F-3879F97B5CBC}" type="slidenum">
              <a:rPr lang="de-CH"/>
              <a:t>10</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Zusammenfassend liegt ein umfangreicher, getesteter und dokumentierter Datenbankkern vor.</a:t>
            </a:r>
          </a:p>
          <a:p>
            <a:r>
              <a:rPr lang="de-CH" dirty="0"/>
              <a:t>Der finale Stand umfasst 39 Tabellen, 5 Views, 6 Stored Procedures, 5 Seed-Skripte und 2 Demo-Skripte.</a:t>
            </a:r>
          </a:p>
          <a:p>
            <a:r>
              <a:rPr lang="de-CH" dirty="0"/>
              <a:t>Der vollständige Rebuild funktioniert, und der Demo-Ablauf wurde erfolgreich getestet.</a:t>
            </a:r>
          </a:p>
          <a:p>
            <a:r>
              <a:rPr lang="de-CH" dirty="0"/>
              <a:t>Das Projekt bildet nicht jede Spezialfunktion eines echten Verbandssystems ab, aber die gewählten Kernbereiche sind relational modelliert, technisch abgesichert und reproduzierbar dokumentiert.</a:t>
            </a:r>
          </a:p>
          <a:p>
            <a:r>
              <a:rPr lang="de-CH" dirty="0"/>
              <a:t>Der GitHub-Link enthält SQL-Skripte, Dokumentation, ER-Diagramm, Tests, Demo und Präsentationsunterlagen.</a:t>
            </a:r>
          </a:p>
          <a:p>
            <a:r>
              <a:rPr lang="de-CH" dirty="0"/>
              <a:t>Sprechhinweis: danach ruhig zu Fragen überleiten.</a:t>
            </a:r>
          </a:p>
        </p:txBody>
      </p:sp>
      <p:sp>
        <p:nvSpPr>
          <p:cNvPr id="4" name="Slide Number Placeholder 3"/>
          <p:cNvSpPr>
            <a:spLocks noGrp="1"/>
          </p:cNvSpPr>
          <p:nvPr>
            <p:ph type="sldNum" sz="quarter" idx="10"/>
          </p:nvPr>
        </p:nvSpPr>
        <p:spPr/>
        <p:txBody>
          <a:bodyPr/>
          <a:lstStyle/>
          <a:p>
            <a:fld id="{F7021451-1387-4CA6-816F-3879F97B5CBC}" type="slidenum">
              <a:rPr lang="de-CH"/>
              <a:t>11</a:t>
            </a:fld>
            <a:endParaRPr lang="de-CH"/>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TT_MAST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E5002B"/>
          </a:solidFill>
          <a:ln w="12700">
            <a:solidFill>
              <a:srgbClr val="E5002B"/>
            </a:solidFill>
            <a:prstDash val="solid"/>
          </a:ln>
        </p:spPr>
        <p:txBody>
          <a:bodyPr/>
          <a:lstStyle/>
          <a:p>
            <a:endParaRPr lang="de-CH"/>
          </a:p>
        </p:txBody>
      </p:sp>
      <p:pic>
        <p:nvPicPr>
          <p:cNvPr id="3" name="Image 0" descr="/mnt/data/stt_presentation_final/stt-logo-wide.png"/>
          <p:cNvPicPr>
            <a:picLocks noChangeAspect="1"/>
          </p:cNvPicPr>
          <p:nvPr/>
        </p:nvPicPr>
        <p:blipFill>
          <a:blip r:embed="rId2"/>
          <a:stretch>
            <a:fillRect/>
          </a:stretch>
        </p:blipFill>
        <p:spPr>
          <a:xfrm>
            <a:off x="7205472" y="171145"/>
            <a:ext cx="1691640" cy="425805"/>
          </a:xfrm>
          <a:prstGeom prst="rect">
            <a:avLst/>
          </a:prstGeom>
        </p:spPr>
      </p:pic>
      <p:sp>
        <p:nvSpPr>
          <p:cNvPr id="4" name="Text 1"/>
          <p:cNvSpPr/>
          <p:nvPr/>
        </p:nvSpPr>
        <p:spPr>
          <a:xfrm>
            <a:off x="384048" y="6473952"/>
            <a:ext cx="3657600" cy="182880"/>
          </a:xfrm>
          <a:prstGeom prst="rect">
            <a:avLst/>
          </a:prstGeom>
          <a:noFill/>
          <a:ln/>
        </p:spPr>
        <p:txBody>
          <a:bodyPr wrap="square" lIns="0" tIns="0" rIns="0" bIns="0" rtlCol="0" anchor="ctr"/>
          <a:lstStyle/>
          <a:p>
            <a:pPr marL="0" indent="0">
              <a:buNone/>
            </a:pPr>
            <a:r>
              <a:rPr lang="de-CH" sz="900" dirty="0">
                <a:solidFill>
                  <a:srgbClr val="777777"/>
                </a:solidFill>
                <a:latin typeface="Aptos" pitchFamily="34" charset="0"/>
                <a:ea typeface="Aptos" pitchFamily="34" charset="-122"/>
                <a:cs typeface="Aptos" pitchFamily="34" charset="-120"/>
              </a:rPr>
              <a:t>STT-DB · Modulararbeit II</a:t>
            </a:r>
            <a:endParaRPr lang="de-CH" sz="900" dirty="0"/>
          </a:p>
        </p:txBody>
      </p:sp>
      <p:sp>
        <p:nvSpPr>
          <p:cNvPr id="5" name="Text 2"/>
          <p:cNvSpPr/>
          <p:nvPr/>
        </p:nvSpPr>
        <p:spPr>
          <a:xfrm>
            <a:off x="5577840" y="6473952"/>
            <a:ext cx="3154680" cy="182880"/>
          </a:xfrm>
          <a:prstGeom prst="rect">
            <a:avLst/>
          </a:prstGeom>
          <a:noFill/>
          <a:ln/>
        </p:spPr>
        <p:txBody>
          <a:bodyPr wrap="square" lIns="0" tIns="0" rIns="0" bIns="0" rtlCol="0" anchor="ctr"/>
          <a:lstStyle/>
          <a:p>
            <a:pPr marL="0" indent="0" algn="r">
              <a:buNone/>
            </a:pPr>
            <a:r>
              <a:rPr lang="de-CH" sz="900" dirty="0">
                <a:solidFill>
                  <a:srgbClr val="777777"/>
                </a:solidFill>
                <a:latin typeface="Aptos" pitchFamily="34" charset="0"/>
                <a:ea typeface="Aptos" pitchFamily="34" charset="-122"/>
                <a:cs typeface="Aptos" pitchFamily="34" charset="-120"/>
              </a:rPr>
              <a:t>Christian Abbühl · B-TIP-24-T-a</a:t>
            </a:r>
            <a:endParaRPr lang="de-CH" sz="900" dirty="0"/>
          </a:p>
        </p:txBody>
      </p:sp>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‹Nr.›</a:t>
            </a:fld>
            <a:endParaRPr lang="de-CH"/>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‹Nr.›</a:t>
            </a:fld>
            <a:endParaRPr lang="de-CH"/>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lang="de-CH"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lang="de-CH"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lang="de-CH"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de-CH"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de-CH"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de-CH"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lang="de-CH"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lang="de-CH"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lang="de-CH"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lang="de-CH" sz="2000" kern="1200">
          <a:solidFill>
            <a:schemeClr val="tx1"/>
          </a:solidFill>
          <a:latin typeface="+mn-lt"/>
          <a:ea typeface="+mn-ea"/>
          <a:cs typeface="+mn-cs"/>
        </a:defRPr>
      </a:lvl9pPr>
    </p:bodyStyle>
    <p:otherStyle>
      <a:defPPr>
        <a:defRPr lang="de-CH"/>
      </a:defPPr>
      <a:lvl1pPr marL="0" algn="l" defTabSz="914400" rtl="0" eaLnBrk="1" latinLnBrk="0" hangingPunct="1">
        <a:defRPr lang="de-CH" sz="1800" kern="1200">
          <a:solidFill>
            <a:schemeClr val="tx1"/>
          </a:solidFill>
          <a:latin typeface="+mn-lt"/>
          <a:ea typeface="+mn-ea"/>
          <a:cs typeface="+mn-cs"/>
        </a:defRPr>
      </a:lvl1pPr>
      <a:lvl2pPr marL="457200" algn="l" defTabSz="914400" rtl="0" eaLnBrk="1" latinLnBrk="0" hangingPunct="1">
        <a:defRPr lang="de-CH" sz="1800" kern="1200">
          <a:solidFill>
            <a:schemeClr val="tx1"/>
          </a:solidFill>
          <a:latin typeface="+mn-lt"/>
          <a:ea typeface="+mn-ea"/>
          <a:cs typeface="+mn-cs"/>
        </a:defRPr>
      </a:lvl2pPr>
      <a:lvl3pPr marL="914400" algn="l" defTabSz="914400" rtl="0" eaLnBrk="1" latinLnBrk="0" hangingPunct="1">
        <a:defRPr lang="de-CH" sz="1800" kern="1200">
          <a:solidFill>
            <a:schemeClr val="tx1"/>
          </a:solidFill>
          <a:latin typeface="+mn-lt"/>
          <a:ea typeface="+mn-ea"/>
          <a:cs typeface="+mn-cs"/>
        </a:defRPr>
      </a:lvl3pPr>
      <a:lvl4pPr marL="1371600" algn="l" defTabSz="914400" rtl="0" eaLnBrk="1" latinLnBrk="0" hangingPunct="1">
        <a:defRPr lang="de-CH" sz="1800" kern="1200">
          <a:solidFill>
            <a:schemeClr val="tx1"/>
          </a:solidFill>
          <a:latin typeface="+mn-lt"/>
          <a:ea typeface="+mn-ea"/>
          <a:cs typeface="+mn-cs"/>
        </a:defRPr>
      </a:lvl4pPr>
      <a:lvl5pPr marL="1828800" algn="l" defTabSz="914400" rtl="0" eaLnBrk="1" latinLnBrk="0" hangingPunct="1">
        <a:defRPr lang="de-CH" sz="1800" kern="1200">
          <a:solidFill>
            <a:schemeClr val="tx1"/>
          </a:solidFill>
          <a:latin typeface="+mn-lt"/>
          <a:ea typeface="+mn-ea"/>
          <a:cs typeface="+mn-cs"/>
        </a:defRPr>
      </a:lvl5pPr>
      <a:lvl6pPr marL="2286000" algn="l" defTabSz="914400" rtl="0" eaLnBrk="1" latinLnBrk="0" hangingPunct="1">
        <a:defRPr lang="de-CH" sz="1800" kern="1200">
          <a:solidFill>
            <a:schemeClr val="tx1"/>
          </a:solidFill>
          <a:latin typeface="+mn-lt"/>
          <a:ea typeface="+mn-ea"/>
          <a:cs typeface="+mn-cs"/>
        </a:defRPr>
      </a:lvl6pPr>
      <a:lvl7pPr marL="2743200" algn="l" defTabSz="914400" rtl="0" eaLnBrk="1" latinLnBrk="0" hangingPunct="1">
        <a:defRPr lang="de-CH" sz="1800" kern="1200">
          <a:solidFill>
            <a:schemeClr val="tx1"/>
          </a:solidFill>
          <a:latin typeface="+mn-lt"/>
          <a:ea typeface="+mn-ea"/>
          <a:cs typeface="+mn-cs"/>
        </a:defRPr>
      </a:lvl7pPr>
      <a:lvl8pPr marL="3200400" algn="l" defTabSz="914400" rtl="0" eaLnBrk="1" latinLnBrk="0" hangingPunct="1">
        <a:defRPr lang="de-CH" sz="1800" kern="1200">
          <a:solidFill>
            <a:schemeClr val="tx1"/>
          </a:solidFill>
          <a:latin typeface="+mn-lt"/>
          <a:ea typeface="+mn-ea"/>
          <a:cs typeface="+mn-cs"/>
        </a:defRPr>
      </a:lvl8pPr>
      <a:lvl9pPr marL="3657600" algn="l" defTabSz="914400" rtl="0" eaLnBrk="1" latinLnBrk="0" hangingPunct="1">
        <a:defRPr lang="de-CH"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5002B"/>
          </a:solidFill>
          <a:ln w="12700">
            <a:solidFill>
              <a:srgbClr val="E5002B"/>
            </a:solidFill>
            <a:prstDash val="solid"/>
          </a:ln>
        </p:spPr>
        <p:txBody>
          <a:bodyPr/>
          <a:lstStyle/>
          <a:p>
            <a:endParaRPr lang="de-CH"/>
          </a:p>
        </p:txBody>
      </p:sp>
      <p:pic>
        <p:nvPicPr>
          <p:cNvPr id="3" name="Image 0" descr="/mnt/data/stt_presentation_final/stt-logo-wide.png"/>
          <p:cNvPicPr>
            <a:picLocks noChangeAspect="1"/>
          </p:cNvPicPr>
          <p:nvPr/>
        </p:nvPicPr>
        <p:blipFill>
          <a:blip r:embed="rId3"/>
          <a:stretch>
            <a:fillRect/>
          </a:stretch>
        </p:blipFill>
        <p:spPr>
          <a:xfrm>
            <a:off x="904596" y="502920"/>
            <a:ext cx="3814368" cy="960120"/>
          </a:xfrm>
          <a:prstGeom prst="rect">
            <a:avLst/>
          </a:prstGeom>
        </p:spPr>
      </p:pic>
      <p:sp>
        <p:nvSpPr>
          <p:cNvPr id="4" name="Text 1"/>
          <p:cNvSpPr/>
          <p:nvPr/>
        </p:nvSpPr>
        <p:spPr>
          <a:xfrm>
            <a:off x="713232" y="1874520"/>
            <a:ext cx="5074920" cy="777240"/>
          </a:xfrm>
          <a:prstGeom prst="rect">
            <a:avLst/>
          </a:prstGeom>
          <a:noFill/>
          <a:ln/>
        </p:spPr>
        <p:txBody>
          <a:bodyPr wrap="square" lIns="0" tIns="0" rIns="0" bIns="0" rtlCol="0" anchor="ctr"/>
          <a:lstStyle/>
          <a:p>
            <a:pPr marL="0" indent="0">
              <a:buNone/>
            </a:pPr>
            <a:r>
              <a:rPr lang="de-CH" sz="4500" b="1" dirty="0">
                <a:solidFill>
                  <a:srgbClr val="111111"/>
                </a:solidFill>
                <a:latin typeface="Aptos Display" pitchFamily="34" charset="0"/>
                <a:ea typeface="Aptos Display" pitchFamily="34" charset="-122"/>
                <a:cs typeface="Aptos Display" pitchFamily="34" charset="-120"/>
              </a:rPr>
              <a:t>STT-DB</a:t>
            </a:r>
            <a:endParaRPr lang="de-CH" sz="4500" dirty="0"/>
          </a:p>
        </p:txBody>
      </p:sp>
      <p:sp>
        <p:nvSpPr>
          <p:cNvPr id="5" name="Text 2"/>
          <p:cNvSpPr/>
          <p:nvPr/>
        </p:nvSpPr>
        <p:spPr>
          <a:xfrm>
            <a:off x="713232" y="2697480"/>
            <a:ext cx="5212080" cy="1051560"/>
          </a:xfrm>
          <a:prstGeom prst="rect">
            <a:avLst/>
          </a:prstGeom>
          <a:noFill/>
          <a:ln/>
        </p:spPr>
        <p:txBody>
          <a:bodyPr wrap="square" lIns="0" tIns="0" rIns="0" bIns="0" rtlCol="0" anchor="ctr"/>
          <a:lstStyle/>
          <a:p>
            <a:pPr marL="0" indent="0">
              <a:buNone/>
            </a:pPr>
            <a:r>
              <a:rPr lang="de-CH" sz="2700" b="1" dirty="0">
                <a:solidFill>
                  <a:srgbClr val="252525"/>
                </a:solidFill>
                <a:latin typeface="Aptos Display" pitchFamily="34" charset="0"/>
                <a:ea typeface="Aptos Display" pitchFamily="34" charset="-122"/>
                <a:cs typeface="Aptos Display" pitchFamily="34" charset="-120"/>
              </a:rPr>
              <a:t>Relationale Datenbank für</a:t>
            </a:r>
            <a:endParaRPr lang="de-CH" sz="2700" dirty="0"/>
          </a:p>
          <a:p>
            <a:pPr marL="0" indent="0">
              <a:buNone/>
            </a:pPr>
            <a:r>
              <a:rPr lang="de-CH" sz="2700" b="1" dirty="0">
                <a:solidFill>
                  <a:srgbClr val="252525"/>
                </a:solidFill>
                <a:latin typeface="Aptos Display" pitchFamily="34" charset="0"/>
                <a:ea typeface="Aptos Display" pitchFamily="34" charset="-122"/>
                <a:cs typeface="Aptos Display" pitchFamily="34" charset="-120"/>
              </a:rPr>
              <a:t>Swiss Table Tennis</a:t>
            </a:r>
            <a:endParaRPr lang="de-CH" sz="2700" dirty="0"/>
          </a:p>
        </p:txBody>
      </p:sp>
      <p:sp>
        <p:nvSpPr>
          <p:cNvPr id="6" name="Shape 3"/>
          <p:cNvSpPr/>
          <p:nvPr/>
        </p:nvSpPr>
        <p:spPr>
          <a:xfrm>
            <a:off x="713232" y="3977640"/>
            <a:ext cx="4526280" cy="0"/>
          </a:xfrm>
          <a:prstGeom prst="line">
            <a:avLst/>
          </a:prstGeom>
          <a:noFill/>
          <a:ln w="38100">
            <a:solidFill>
              <a:srgbClr val="E5002B"/>
            </a:solidFill>
            <a:prstDash val="solid"/>
          </a:ln>
        </p:spPr>
        <p:txBody>
          <a:bodyPr/>
          <a:lstStyle/>
          <a:p>
            <a:endParaRPr lang="de-CH"/>
          </a:p>
        </p:txBody>
      </p:sp>
      <p:sp>
        <p:nvSpPr>
          <p:cNvPr id="7" name="Text 4"/>
          <p:cNvSpPr/>
          <p:nvPr/>
        </p:nvSpPr>
        <p:spPr>
          <a:xfrm>
            <a:off x="713232" y="4133088"/>
            <a:ext cx="5440680" cy="320040"/>
          </a:xfrm>
          <a:prstGeom prst="rect">
            <a:avLst/>
          </a:prstGeom>
          <a:noFill/>
          <a:ln/>
        </p:spPr>
        <p:txBody>
          <a:bodyPr wrap="square" lIns="0" tIns="0" rIns="0" bIns="0" rtlCol="0" anchor="ctr"/>
          <a:lstStyle/>
          <a:p>
            <a:pPr marL="0" indent="0">
              <a:buNone/>
            </a:pPr>
            <a:r>
              <a:rPr lang="de-CH" sz="1700" dirty="0">
                <a:solidFill>
                  <a:srgbClr val="666666"/>
                </a:solidFill>
                <a:latin typeface="Aptos" pitchFamily="34" charset="0"/>
                <a:ea typeface="Aptos" pitchFamily="34" charset="-122"/>
                <a:cs typeface="Aptos" pitchFamily="34" charset="-120"/>
              </a:rPr>
              <a:t>Modulararbeit II · Datenbanken_und_Big_Data</a:t>
            </a:r>
            <a:endParaRPr lang="de-CH" sz="1700" dirty="0"/>
          </a:p>
        </p:txBody>
      </p:sp>
      <p:sp>
        <p:nvSpPr>
          <p:cNvPr id="8" name="Text 5"/>
          <p:cNvSpPr/>
          <p:nvPr/>
        </p:nvSpPr>
        <p:spPr>
          <a:xfrm>
            <a:off x="713232" y="4800600"/>
            <a:ext cx="3108960" cy="1005840"/>
          </a:xfrm>
          <a:prstGeom prst="rect">
            <a:avLst/>
          </a:prstGeom>
          <a:noFill/>
          <a:ln/>
        </p:spPr>
        <p:txBody>
          <a:bodyPr wrap="square" lIns="0" tIns="0" rIns="0" bIns="0" rtlCol="0" anchor="ctr"/>
          <a:lstStyle/>
          <a:p>
            <a:pPr marL="0" indent="0">
              <a:buNone/>
            </a:pPr>
            <a:r>
              <a:rPr lang="de-CH" sz="1800" dirty="0">
                <a:solidFill>
                  <a:srgbClr val="111111"/>
                </a:solidFill>
                <a:latin typeface="Aptos" pitchFamily="34" charset="0"/>
                <a:ea typeface="Aptos" pitchFamily="34" charset="-122"/>
                <a:cs typeface="Aptos" pitchFamily="34" charset="-120"/>
              </a:rPr>
              <a:t>Christian Abbühl</a:t>
            </a:r>
            <a:endParaRPr lang="de-CH" sz="1800" dirty="0"/>
          </a:p>
          <a:p>
            <a:pPr marL="0" indent="0">
              <a:buNone/>
            </a:pPr>
            <a:r>
              <a:rPr lang="de-CH" sz="1800" dirty="0">
                <a:solidFill>
                  <a:srgbClr val="111111"/>
                </a:solidFill>
                <a:latin typeface="Aptos" pitchFamily="34" charset="0"/>
                <a:ea typeface="Aptos" pitchFamily="34" charset="-122"/>
                <a:cs typeface="Aptos" pitchFamily="34" charset="-120"/>
              </a:rPr>
              <a:t>B-TIP-24-T-a</a:t>
            </a:r>
            <a:endParaRPr lang="de-CH" sz="1800" dirty="0"/>
          </a:p>
          <a:p>
            <a:pPr marL="0" indent="0">
              <a:buNone/>
            </a:pPr>
            <a:r>
              <a:rPr lang="de-CH" sz="1800" dirty="0">
                <a:solidFill>
                  <a:srgbClr val="111111"/>
                </a:solidFill>
                <a:latin typeface="Aptos" pitchFamily="34" charset="0"/>
                <a:ea typeface="Aptos" pitchFamily="34" charset="-122"/>
                <a:cs typeface="Aptos" pitchFamily="34" charset="-120"/>
              </a:rPr>
              <a:t>21.09.2026</a:t>
            </a:r>
            <a:endParaRPr lang="de-CH" sz="1800" dirty="0"/>
          </a:p>
        </p:txBody>
      </p:sp>
      <p:pic>
        <p:nvPicPr>
          <p:cNvPr id="9" name="Image 1" descr="/mnt/data/stt_presentation_final/stt-logo-round.png"/>
          <p:cNvPicPr>
            <a:picLocks noChangeAspect="1"/>
          </p:cNvPicPr>
          <p:nvPr/>
        </p:nvPicPr>
        <p:blipFill>
          <a:blip r:embed="rId4"/>
          <a:stretch>
            <a:fillRect/>
          </a:stretch>
        </p:blipFill>
        <p:spPr>
          <a:xfrm>
            <a:off x="7086600" y="4251960"/>
            <a:ext cx="1325880" cy="1325880"/>
          </a:xfrm>
          <a:prstGeom prst="rect">
            <a:avLst/>
          </a:prstGeom>
        </p:spPr>
      </p:pic>
      <p:sp>
        <p:nvSpPr>
          <p:cNvPr id="10" name="Text 6"/>
          <p:cNvSpPr/>
          <p:nvPr/>
        </p:nvSpPr>
        <p:spPr>
          <a:xfrm>
            <a:off x="3794760" y="5806440"/>
            <a:ext cx="4709160" cy="310896"/>
          </a:xfrm>
          <a:prstGeom prst="rect">
            <a:avLst/>
          </a:prstGeom>
          <a:noFill/>
          <a:ln/>
        </p:spPr>
        <p:txBody>
          <a:bodyPr wrap="square" lIns="0" tIns="0" rIns="0" bIns="0" rtlCol="0" anchor="ctr"/>
          <a:lstStyle/>
          <a:p>
            <a:pPr marL="0" indent="0" algn="r">
              <a:buNone/>
            </a:pPr>
            <a:r>
              <a:rPr lang="de-CH" sz="1500" b="1" dirty="0">
                <a:solidFill>
                  <a:srgbClr val="E5002B"/>
                </a:solidFill>
                <a:latin typeface="Aptos" pitchFamily="34" charset="0"/>
                <a:ea typeface="Aptos" pitchFamily="34" charset="-122"/>
                <a:cs typeface="Aptos" pitchFamily="34" charset="-120"/>
              </a:rPr>
              <a:t>39 Tabellen  ·  5 Views  ·  6 Stored Procedures</a:t>
            </a:r>
            <a:endParaRPr lang="de-CH"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Ausgangslage &amp; Ziel</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Warum dieses Projekt?</a:t>
            </a:r>
            <a:endParaRPr lang="de-CH" sz="1300" dirty="0"/>
          </a:p>
        </p:txBody>
      </p:sp>
      <p:sp>
        <p:nvSpPr>
          <p:cNvPr id="5" name="Text 3"/>
          <p:cNvSpPr/>
          <p:nvPr/>
        </p:nvSpPr>
        <p:spPr>
          <a:xfrm>
            <a:off x="594360" y="1417320"/>
            <a:ext cx="7955280" cy="2331720"/>
          </a:xfrm>
          <a:prstGeom prst="rect">
            <a:avLst/>
          </a:prstGeom>
          <a:noFill/>
          <a:ln/>
        </p:spPr>
        <p:txBody>
          <a:bodyPr wrap="square" lIns="635" tIns="635" rIns="635" bIns="635" rtlCol="0" anchor="t"/>
          <a:lstStyle/>
          <a:p>
            <a:pPr marL="177800" indent="-177800">
              <a:buSzPct val="100000"/>
              <a:buChar char="•"/>
            </a:pPr>
            <a:r>
              <a:rPr lang="de-CH" sz="2200" dirty="0">
                <a:solidFill>
                  <a:srgbClr val="252525"/>
                </a:solidFill>
                <a:latin typeface="Aptos" pitchFamily="34" charset="0"/>
                <a:ea typeface="Aptos" pitchFamily="34" charset="-122"/>
                <a:cs typeface="Aptos" pitchFamily="34" charset="-120"/>
              </a:rPr>
              <a:t>Viele miteinander verknüpfte Daten: Spieler, Clubs, Ligen, Resultate, Turniere</a:t>
            </a:r>
            <a:endParaRPr lang="de-CH" sz="2200" dirty="0"/>
          </a:p>
          <a:p>
            <a:pPr marL="177800" indent="-177800">
              <a:buSzPct val="100000"/>
              <a:buChar char="•"/>
            </a:pPr>
            <a:r>
              <a:rPr lang="de-CH" sz="2200" dirty="0">
                <a:solidFill>
                  <a:srgbClr val="252525"/>
                </a:solidFill>
                <a:latin typeface="Aptos" pitchFamily="34" charset="0"/>
                <a:ea typeface="Aptos" pitchFamily="34" charset="-122"/>
                <a:cs typeface="Aptos" pitchFamily="34" charset="-120"/>
              </a:rPr>
              <a:t>Saisonabhängige und historische Informationen müssen nachvollziehbar bleiben</a:t>
            </a:r>
            <a:endParaRPr lang="de-CH" sz="2200" dirty="0"/>
          </a:p>
          <a:p>
            <a:pPr marL="177800" indent="-177800">
              <a:buSzPct val="100000"/>
              <a:buChar char="•"/>
            </a:pPr>
            <a:r>
              <a:rPr lang="de-CH" sz="2200" dirty="0">
                <a:solidFill>
                  <a:srgbClr val="252525"/>
                </a:solidFill>
                <a:latin typeface="Aptos" pitchFamily="34" charset="0"/>
                <a:ea typeface="Aptos" pitchFamily="34" charset="-122"/>
                <a:cs typeface="Aptos" pitchFamily="34" charset="-120"/>
              </a:rPr>
              <a:t>Geschäftsregeln sollen möglichst direkt in der Datenbank abgesichert werden</a:t>
            </a:r>
            <a:endParaRPr lang="de-CH" sz="2200" dirty="0"/>
          </a:p>
          <a:p>
            <a:pPr marL="177800" indent="-177800">
              <a:buSzPct val="100000"/>
              <a:buChar char="•"/>
            </a:pPr>
            <a:r>
              <a:rPr lang="de-CH" sz="2200" dirty="0">
                <a:solidFill>
                  <a:srgbClr val="252525"/>
                </a:solidFill>
                <a:latin typeface="Aptos" pitchFamily="34" charset="0"/>
                <a:ea typeface="Aptos" pitchFamily="34" charset="-122"/>
                <a:cs typeface="Aptos" pitchFamily="34" charset="-120"/>
              </a:rPr>
              <a:t>Der komplette Datenbankaufbau soll reproduzierbar sein</a:t>
            </a:r>
            <a:endParaRPr lang="de-CH" sz="2200" dirty="0"/>
          </a:p>
        </p:txBody>
      </p:sp>
      <p:sp>
        <p:nvSpPr>
          <p:cNvPr id="6" name="Shape 4"/>
          <p:cNvSpPr/>
          <p:nvPr/>
        </p:nvSpPr>
        <p:spPr>
          <a:xfrm>
            <a:off x="640080" y="4160520"/>
            <a:ext cx="7818120" cy="1523588"/>
          </a:xfrm>
          <a:prstGeom prst="roundRect">
            <a:avLst>
              <a:gd name="adj" fmla="val 4138"/>
            </a:avLst>
          </a:prstGeom>
          <a:solidFill>
            <a:srgbClr val="FFF5F7"/>
          </a:solidFill>
          <a:ln w="12700">
            <a:solidFill>
              <a:srgbClr val="D9DDE3"/>
            </a:solidFill>
            <a:prstDash val="solid"/>
          </a:ln>
        </p:spPr>
        <p:txBody>
          <a:bodyPr/>
          <a:lstStyle/>
          <a:p>
            <a:endParaRPr lang="de-CH"/>
          </a:p>
        </p:txBody>
      </p:sp>
      <p:sp>
        <p:nvSpPr>
          <p:cNvPr id="7" name="Shape 5"/>
          <p:cNvSpPr/>
          <p:nvPr/>
        </p:nvSpPr>
        <p:spPr>
          <a:xfrm>
            <a:off x="640080" y="4160520"/>
            <a:ext cx="73152" cy="1325880"/>
          </a:xfrm>
          <a:prstGeom prst="rect">
            <a:avLst/>
          </a:prstGeom>
          <a:solidFill>
            <a:srgbClr val="E5002B"/>
          </a:solidFill>
          <a:ln w="12700">
            <a:solidFill>
              <a:srgbClr val="E5002B"/>
            </a:solidFill>
            <a:prstDash val="solid"/>
          </a:ln>
        </p:spPr>
        <p:txBody>
          <a:bodyPr/>
          <a:lstStyle/>
          <a:p>
            <a:endParaRPr lang="de-CH"/>
          </a:p>
        </p:txBody>
      </p:sp>
      <p:sp>
        <p:nvSpPr>
          <p:cNvPr id="8" name="Text 6"/>
          <p:cNvSpPr/>
          <p:nvPr/>
        </p:nvSpPr>
        <p:spPr>
          <a:xfrm>
            <a:off x="841248" y="4325112"/>
            <a:ext cx="7488936" cy="320040"/>
          </a:xfrm>
          <a:prstGeom prst="rect">
            <a:avLst/>
          </a:prstGeom>
          <a:noFill/>
          <a:ln/>
        </p:spPr>
        <p:txBody>
          <a:bodyPr wrap="square" lIns="0" tIns="0" rIns="0" bIns="0" rtlCol="0" anchor="ctr"/>
          <a:lstStyle/>
          <a:p>
            <a:pPr marL="0" indent="0">
              <a:buNone/>
            </a:pPr>
            <a:r>
              <a:rPr lang="de-CH" sz="2000" b="1" dirty="0">
                <a:solidFill>
                  <a:srgbClr val="111111"/>
                </a:solidFill>
                <a:latin typeface="Aptos Display" pitchFamily="34" charset="0"/>
                <a:ea typeface="Aptos Display" pitchFamily="34" charset="-122"/>
                <a:cs typeface="Aptos Display" pitchFamily="34" charset="-120"/>
              </a:rPr>
              <a:t>Projektziel</a:t>
            </a:r>
            <a:endParaRPr lang="de-CH" sz="2000" dirty="0"/>
          </a:p>
        </p:txBody>
      </p:sp>
      <p:sp>
        <p:nvSpPr>
          <p:cNvPr id="9" name="Text 7"/>
          <p:cNvSpPr/>
          <p:nvPr/>
        </p:nvSpPr>
        <p:spPr>
          <a:xfrm>
            <a:off x="841248" y="4754880"/>
            <a:ext cx="7488936" cy="576072"/>
          </a:xfrm>
          <a:prstGeom prst="rect">
            <a:avLst/>
          </a:prstGeom>
          <a:noFill/>
          <a:ln/>
        </p:spPr>
        <p:txBody>
          <a:bodyPr wrap="square" lIns="127" tIns="127" rIns="127" bIns="127" rtlCol="0" anchor="t"/>
          <a:lstStyle/>
          <a:p>
            <a:pPr marL="0" indent="0">
              <a:buNone/>
            </a:pPr>
            <a:r>
              <a:rPr lang="de-CH" sz="1800" dirty="0">
                <a:solidFill>
                  <a:srgbClr val="252525"/>
                </a:solidFill>
                <a:latin typeface="Aptos" pitchFamily="34" charset="0"/>
                <a:ea typeface="Aptos" pitchFamily="34" charset="-122"/>
                <a:cs typeface="Aptos" pitchFamily="34" charset="-120"/>
              </a:rPr>
              <a:t>Ein relationales, getestetes und dokumentiertes Datenbankmodell für zentrale Bereiche von Swiss Table Tennis – ohne vollständige Web- oder Desktop-Anwendung.</a:t>
            </a:r>
            <a:endParaRPr lang="de-CH" sz="1800" dirty="0"/>
          </a:p>
        </p:txBody>
      </p:sp>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2</a:t>
            </a:fld>
            <a:endParaRPr lang="de-CH"/>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Technische Architektur</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Reproduzierbare Umgebung</a:t>
            </a:r>
            <a:endParaRPr lang="de-CH" sz="1300" dirty="0"/>
          </a:p>
        </p:txBody>
      </p:sp>
      <p:sp>
        <p:nvSpPr>
          <p:cNvPr id="5" name="Shape 3"/>
          <p:cNvSpPr/>
          <p:nvPr/>
        </p:nvSpPr>
        <p:spPr>
          <a:xfrm>
            <a:off x="502920" y="2057400"/>
            <a:ext cx="1645920" cy="1463040"/>
          </a:xfrm>
          <a:prstGeom prst="roundRect">
            <a:avLst>
              <a:gd name="adj" fmla="val 3750"/>
            </a:avLst>
          </a:prstGeom>
          <a:solidFill>
            <a:srgbClr val="F4F5F7"/>
          </a:solidFill>
          <a:ln w="12700">
            <a:solidFill>
              <a:srgbClr val="D9DDE3"/>
            </a:solidFill>
            <a:prstDash val="solid"/>
          </a:ln>
        </p:spPr>
        <p:txBody>
          <a:bodyPr/>
          <a:lstStyle/>
          <a:p>
            <a:endParaRPr lang="de-CH"/>
          </a:p>
        </p:txBody>
      </p:sp>
      <p:sp>
        <p:nvSpPr>
          <p:cNvPr id="6" name="Shape 4"/>
          <p:cNvSpPr/>
          <p:nvPr/>
        </p:nvSpPr>
        <p:spPr>
          <a:xfrm>
            <a:off x="502920" y="2057400"/>
            <a:ext cx="73152" cy="1463040"/>
          </a:xfrm>
          <a:prstGeom prst="rect">
            <a:avLst/>
          </a:prstGeom>
          <a:solidFill>
            <a:srgbClr val="E5002B"/>
          </a:solidFill>
          <a:ln w="12700">
            <a:solidFill>
              <a:srgbClr val="E5002B"/>
            </a:solidFill>
            <a:prstDash val="solid"/>
          </a:ln>
        </p:spPr>
        <p:txBody>
          <a:bodyPr/>
          <a:lstStyle/>
          <a:p>
            <a:endParaRPr lang="de-CH"/>
          </a:p>
        </p:txBody>
      </p:sp>
      <p:sp>
        <p:nvSpPr>
          <p:cNvPr id="7" name="Text 5"/>
          <p:cNvSpPr/>
          <p:nvPr/>
        </p:nvSpPr>
        <p:spPr>
          <a:xfrm>
            <a:off x="704088" y="2221992"/>
            <a:ext cx="1316736" cy="320040"/>
          </a:xfrm>
          <a:prstGeom prst="rect">
            <a:avLst/>
          </a:prstGeom>
          <a:noFill/>
          <a:ln/>
        </p:spPr>
        <p:txBody>
          <a:bodyPr wrap="square" lIns="0" tIns="0" rIns="0" bIns="0" rtlCol="0" anchor="ctr"/>
          <a:lstStyle/>
          <a:p>
            <a:pPr marL="0" indent="0">
              <a:buNone/>
            </a:pPr>
            <a:r>
              <a:rPr lang="de-CH" sz="1600" b="1" dirty="0">
                <a:solidFill>
                  <a:srgbClr val="111111"/>
                </a:solidFill>
                <a:latin typeface="Aptos Display" pitchFamily="34" charset="0"/>
                <a:ea typeface="Aptos Display" pitchFamily="34" charset="-122"/>
                <a:cs typeface="Aptos Display" pitchFamily="34" charset="-120"/>
              </a:rPr>
              <a:t>Windows 11</a:t>
            </a:r>
            <a:endParaRPr lang="de-CH" sz="1600" dirty="0"/>
          </a:p>
        </p:txBody>
      </p:sp>
      <p:sp>
        <p:nvSpPr>
          <p:cNvPr id="8" name="Text 6"/>
          <p:cNvSpPr/>
          <p:nvPr/>
        </p:nvSpPr>
        <p:spPr>
          <a:xfrm>
            <a:off x="704088" y="2651760"/>
            <a:ext cx="1316736" cy="713232"/>
          </a:xfrm>
          <a:prstGeom prst="rect">
            <a:avLst/>
          </a:prstGeom>
          <a:noFill/>
          <a:ln/>
        </p:spPr>
        <p:txBody>
          <a:bodyPr wrap="square" lIns="127" tIns="127" rIns="127" bIns="127" rtlCol="0" anchor="t"/>
          <a:lstStyle/>
          <a:p>
            <a:pPr marL="0" indent="0">
              <a:buNone/>
            </a:pPr>
            <a:r>
              <a:rPr lang="de-CH" sz="1400" dirty="0">
                <a:solidFill>
                  <a:srgbClr val="252525"/>
                </a:solidFill>
                <a:latin typeface="Aptos" pitchFamily="34" charset="0"/>
                <a:ea typeface="Aptos" pitchFamily="34" charset="-122"/>
                <a:cs typeface="Aptos" pitchFamily="34" charset="-120"/>
              </a:rPr>
              <a:t>Host &amp; SSMS</a:t>
            </a:r>
            <a:endParaRPr lang="de-CH" sz="1400" dirty="0"/>
          </a:p>
        </p:txBody>
      </p:sp>
      <p:sp>
        <p:nvSpPr>
          <p:cNvPr id="9" name="Shape 7"/>
          <p:cNvSpPr/>
          <p:nvPr/>
        </p:nvSpPr>
        <p:spPr>
          <a:xfrm>
            <a:off x="2221992" y="2788920"/>
            <a:ext cx="347472" cy="0"/>
          </a:xfrm>
          <a:prstGeom prst="line">
            <a:avLst/>
          </a:prstGeom>
          <a:noFill/>
          <a:ln w="25400">
            <a:solidFill>
              <a:srgbClr val="E5002B"/>
            </a:solidFill>
            <a:prstDash val="solid"/>
            <a:headEnd type="none"/>
            <a:tailEnd type="triangle"/>
          </a:ln>
        </p:spPr>
        <p:txBody>
          <a:bodyPr/>
          <a:lstStyle/>
          <a:p>
            <a:endParaRPr lang="de-CH"/>
          </a:p>
        </p:txBody>
      </p:sp>
      <p:sp>
        <p:nvSpPr>
          <p:cNvPr id="10" name="Shape 8"/>
          <p:cNvSpPr/>
          <p:nvPr/>
        </p:nvSpPr>
        <p:spPr>
          <a:xfrm>
            <a:off x="2651760" y="2057400"/>
            <a:ext cx="1645920" cy="1463040"/>
          </a:xfrm>
          <a:prstGeom prst="roundRect">
            <a:avLst>
              <a:gd name="adj" fmla="val 3750"/>
            </a:avLst>
          </a:prstGeom>
          <a:solidFill>
            <a:srgbClr val="F4F5F7"/>
          </a:solidFill>
          <a:ln w="12700">
            <a:solidFill>
              <a:srgbClr val="D9DDE3"/>
            </a:solidFill>
            <a:prstDash val="solid"/>
          </a:ln>
        </p:spPr>
        <p:txBody>
          <a:bodyPr/>
          <a:lstStyle/>
          <a:p>
            <a:endParaRPr lang="de-CH"/>
          </a:p>
        </p:txBody>
      </p:sp>
      <p:sp>
        <p:nvSpPr>
          <p:cNvPr id="11" name="Shape 9"/>
          <p:cNvSpPr/>
          <p:nvPr/>
        </p:nvSpPr>
        <p:spPr>
          <a:xfrm>
            <a:off x="2651760" y="2057400"/>
            <a:ext cx="73152" cy="1463040"/>
          </a:xfrm>
          <a:prstGeom prst="rect">
            <a:avLst/>
          </a:prstGeom>
          <a:solidFill>
            <a:srgbClr val="E5002B"/>
          </a:solidFill>
          <a:ln w="12700">
            <a:solidFill>
              <a:srgbClr val="E5002B"/>
            </a:solidFill>
            <a:prstDash val="solid"/>
          </a:ln>
        </p:spPr>
        <p:txBody>
          <a:bodyPr/>
          <a:lstStyle/>
          <a:p>
            <a:endParaRPr lang="de-CH"/>
          </a:p>
        </p:txBody>
      </p:sp>
      <p:sp>
        <p:nvSpPr>
          <p:cNvPr id="12" name="Text 10"/>
          <p:cNvSpPr/>
          <p:nvPr/>
        </p:nvSpPr>
        <p:spPr>
          <a:xfrm>
            <a:off x="2852928" y="2221992"/>
            <a:ext cx="1316736" cy="320040"/>
          </a:xfrm>
          <a:prstGeom prst="rect">
            <a:avLst/>
          </a:prstGeom>
          <a:noFill/>
          <a:ln/>
        </p:spPr>
        <p:txBody>
          <a:bodyPr wrap="square" lIns="0" tIns="0" rIns="0" bIns="0" rtlCol="0" anchor="ctr"/>
          <a:lstStyle/>
          <a:p>
            <a:pPr marL="0" indent="0">
              <a:buNone/>
            </a:pPr>
            <a:r>
              <a:rPr lang="de-CH" sz="1600" b="1" dirty="0">
                <a:solidFill>
                  <a:srgbClr val="111111"/>
                </a:solidFill>
                <a:latin typeface="Aptos Display" pitchFamily="34" charset="0"/>
                <a:ea typeface="Aptos Display" pitchFamily="34" charset="-122"/>
                <a:cs typeface="Aptos Display" pitchFamily="34" charset="-120"/>
              </a:rPr>
              <a:t>Vagrant / VirtualBox</a:t>
            </a:r>
            <a:endParaRPr lang="de-CH" sz="1600" dirty="0"/>
          </a:p>
        </p:txBody>
      </p:sp>
      <p:sp>
        <p:nvSpPr>
          <p:cNvPr id="13" name="Text 11"/>
          <p:cNvSpPr/>
          <p:nvPr/>
        </p:nvSpPr>
        <p:spPr>
          <a:xfrm>
            <a:off x="2852928" y="2651760"/>
            <a:ext cx="1316736" cy="713232"/>
          </a:xfrm>
          <a:prstGeom prst="rect">
            <a:avLst/>
          </a:prstGeom>
          <a:noFill/>
          <a:ln/>
        </p:spPr>
        <p:txBody>
          <a:bodyPr wrap="square" lIns="127" tIns="127" rIns="127" bIns="127" rtlCol="0" anchor="t"/>
          <a:lstStyle/>
          <a:p>
            <a:pPr marL="0" indent="0">
              <a:buNone/>
            </a:pPr>
            <a:r>
              <a:rPr lang="de-CH" sz="1400" dirty="0">
                <a:solidFill>
                  <a:srgbClr val="252525"/>
                </a:solidFill>
                <a:latin typeface="Aptos" pitchFamily="34" charset="0"/>
                <a:ea typeface="Aptos" pitchFamily="34" charset="-122"/>
                <a:cs typeface="Aptos" pitchFamily="34" charset="-120"/>
              </a:rPr>
              <a:t>VM-Lifecycle</a:t>
            </a:r>
            <a:endParaRPr lang="de-CH" sz="1400" dirty="0"/>
          </a:p>
        </p:txBody>
      </p:sp>
      <p:sp>
        <p:nvSpPr>
          <p:cNvPr id="14" name="Shape 12"/>
          <p:cNvSpPr/>
          <p:nvPr/>
        </p:nvSpPr>
        <p:spPr>
          <a:xfrm>
            <a:off x="4370832" y="2788920"/>
            <a:ext cx="347472" cy="0"/>
          </a:xfrm>
          <a:prstGeom prst="line">
            <a:avLst/>
          </a:prstGeom>
          <a:noFill/>
          <a:ln w="25400">
            <a:solidFill>
              <a:srgbClr val="E5002B"/>
            </a:solidFill>
            <a:prstDash val="solid"/>
            <a:headEnd type="none"/>
            <a:tailEnd type="triangle"/>
          </a:ln>
        </p:spPr>
        <p:txBody>
          <a:bodyPr/>
          <a:lstStyle/>
          <a:p>
            <a:endParaRPr lang="de-CH"/>
          </a:p>
        </p:txBody>
      </p:sp>
      <p:sp>
        <p:nvSpPr>
          <p:cNvPr id="15" name="Shape 13"/>
          <p:cNvSpPr/>
          <p:nvPr/>
        </p:nvSpPr>
        <p:spPr>
          <a:xfrm>
            <a:off x="4800600" y="2057400"/>
            <a:ext cx="1645920" cy="1463040"/>
          </a:xfrm>
          <a:prstGeom prst="roundRect">
            <a:avLst>
              <a:gd name="adj" fmla="val 3750"/>
            </a:avLst>
          </a:prstGeom>
          <a:solidFill>
            <a:srgbClr val="F4F5F7"/>
          </a:solidFill>
          <a:ln w="12700">
            <a:solidFill>
              <a:srgbClr val="D9DDE3"/>
            </a:solidFill>
            <a:prstDash val="solid"/>
          </a:ln>
        </p:spPr>
        <p:txBody>
          <a:bodyPr/>
          <a:lstStyle/>
          <a:p>
            <a:endParaRPr lang="de-CH"/>
          </a:p>
        </p:txBody>
      </p:sp>
      <p:sp>
        <p:nvSpPr>
          <p:cNvPr id="16" name="Shape 14"/>
          <p:cNvSpPr/>
          <p:nvPr/>
        </p:nvSpPr>
        <p:spPr>
          <a:xfrm>
            <a:off x="4800600" y="2057400"/>
            <a:ext cx="73152" cy="1463040"/>
          </a:xfrm>
          <a:prstGeom prst="rect">
            <a:avLst/>
          </a:prstGeom>
          <a:solidFill>
            <a:srgbClr val="E5002B"/>
          </a:solidFill>
          <a:ln w="12700">
            <a:solidFill>
              <a:srgbClr val="E5002B"/>
            </a:solidFill>
            <a:prstDash val="solid"/>
          </a:ln>
        </p:spPr>
        <p:txBody>
          <a:bodyPr/>
          <a:lstStyle/>
          <a:p>
            <a:endParaRPr lang="de-CH"/>
          </a:p>
        </p:txBody>
      </p:sp>
      <p:sp>
        <p:nvSpPr>
          <p:cNvPr id="17" name="Text 15"/>
          <p:cNvSpPr/>
          <p:nvPr/>
        </p:nvSpPr>
        <p:spPr>
          <a:xfrm>
            <a:off x="5001768" y="2221992"/>
            <a:ext cx="1316736" cy="320040"/>
          </a:xfrm>
          <a:prstGeom prst="rect">
            <a:avLst/>
          </a:prstGeom>
          <a:noFill/>
          <a:ln/>
        </p:spPr>
        <p:txBody>
          <a:bodyPr wrap="square" lIns="0" tIns="0" rIns="0" bIns="0" rtlCol="0" anchor="ctr"/>
          <a:lstStyle/>
          <a:p>
            <a:pPr marL="0" indent="0">
              <a:buNone/>
            </a:pPr>
            <a:r>
              <a:rPr lang="de-CH" sz="1600" b="1" dirty="0">
                <a:solidFill>
                  <a:srgbClr val="111111"/>
                </a:solidFill>
                <a:latin typeface="Aptos Display" pitchFamily="34" charset="0"/>
                <a:ea typeface="Aptos Display" pitchFamily="34" charset="-122"/>
                <a:cs typeface="Aptos Display" pitchFamily="34" charset="-120"/>
              </a:rPr>
              <a:t>Ubuntu 22.04</a:t>
            </a:r>
            <a:endParaRPr lang="de-CH" sz="1600" dirty="0"/>
          </a:p>
        </p:txBody>
      </p:sp>
      <p:sp>
        <p:nvSpPr>
          <p:cNvPr id="18" name="Text 16"/>
          <p:cNvSpPr/>
          <p:nvPr/>
        </p:nvSpPr>
        <p:spPr>
          <a:xfrm>
            <a:off x="5001768" y="2651760"/>
            <a:ext cx="1316736" cy="713232"/>
          </a:xfrm>
          <a:prstGeom prst="rect">
            <a:avLst/>
          </a:prstGeom>
          <a:noFill/>
          <a:ln/>
        </p:spPr>
        <p:txBody>
          <a:bodyPr wrap="square" lIns="127" tIns="127" rIns="127" bIns="127" rtlCol="0" anchor="t"/>
          <a:lstStyle/>
          <a:p>
            <a:pPr marL="0" indent="0">
              <a:buNone/>
            </a:pPr>
            <a:r>
              <a:rPr lang="de-CH" sz="1400" dirty="0">
                <a:solidFill>
                  <a:srgbClr val="252525"/>
                </a:solidFill>
                <a:latin typeface="Aptos" pitchFamily="34" charset="0"/>
                <a:ea typeface="Aptos" pitchFamily="34" charset="-122"/>
                <a:cs typeface="Aptos" pitchFamily="34" charset="-120"/>
              </a:rPr>
              <a:t>Gastbetriebssystem</a:t>
            </a:r>
            <a:endParaRPr lang="de-CH" sz="1400" dirty="0"/>
          </a:p>
        </p:txBody>
      </p:sp>
      <p:sp>
        <p:nvSpPr>
          <p:cNvPr id="19" name="Shape 17"/>
          <p:cNvSpPr/>
          <p:nvPr/>
        </p:nvSpPr>
        <p:spPr>
          <a:xfrm>
            <a:off x="6519672" y="2788920"/>
            <a:ext cx="347472" cy="0"/>
          </a:xfrm>
          <a:prstGeom prst="line">
            <a:avLst/>
          </a:prstGeom>
          <a:noFill/>
          <a:ln w="25400">
            <a:solidFill>
              <a:srgbClr val="E5002B"/>
            </a:solidFill>
            <a:prstDash val="solid"/>
            <a:headEnd type="none"/>
            <a:tailEnd type="triangle"/>
          </a:ln>
        </p:spPr>
        <p:txBody>
          <a:bodyPr/>
          <a:lstStyle/>
          <a:p>
            <a:endParaRPr lang="de-CH"/>
          </a:p>
        </p:txBody>
      </p:sp>
      <p:sp>
        <p:nvSpPr>
          <p:cNvPr id="20" name="Shape 18"/>
          <p:cNvSpPr/>
          <p:nvPr/>
        </p:nvSpPr>
        <p:spPr>
          <a:xfrm>
            <a:off x="6949440" y="2057400"/>
            <a:ext cx="1645920" cy="1463040"/>
          </a:xfrm>
          <a:prstGeom prst="roundRect">
            <a:avLst>
              <a:gd name="adj" fmla="val 3750"/>
            </a:avLst>
          </a:prstGeom>
          <a:solidFill>
            <a:srgbClr val="FFF1F4"/>
          </a:solidFill>
          <a:ln w="12700">
            <a:solidFill>
              <a:srgbClr val="D9DDE3"/>
            </a:solidFill>
            <a:prstDash val="solid"/>
          </a:ln>
        </p:spPr>
        <p:txBody>
          <a:bodyPr/>
          <a:lstStyle/>
          <a:p>
            <a:endParaRPr lang="de-CH"/>
          </a:p>
        </p:txBody>
      </p:sp>
      <p:sp>
        <p:nvSpPr>
          <p:cNvPr id="21" name="Shape 19"/>
          <p:cNvSpPr/>
          <p:nvPr/>
        </p:nvSpPr>
        <p:spPr>
          <a:xfrm>
            <a:off x="6949440" y="2057400"/>
            <a:ext cx="73152" cy="1463040"/>
          </a:xfrm>
          <a:prstGeom prst="rect">
            <a:avLst/>
          </a:prstGeom>
          <a:solidFill>
            <a:srgbClr val="E5002B"/>
          </a:solidFill>
          <a:ln w="12700">
            <a:solidFill>
              <a:srgbClr val="E5002B"/>
            </a:solidFill>
            <a:prstDash val="solid"/>
          </a:ln>
        </p:spPr>
        <p:txBody>
          <a:bodyPr/>
          <a:lstStyle/>
          <a:p>
            <a:endParaRPr lang="de-CH"/>
          </a:p>
        </p:txBody>
      </p:sp>
      <p:sp>
        <p:nvSpPr>
          <p:cNvPr id="22" name="Text 20"/>
          <p:cNvSpPr/>
          <p:nvPr/>
        </p:nvSpPr>
        <p:spPr>
          <a:xfrm>
            <a:off x="7150608" y="2221992"/>
            <a:ext cx="1316736" cy="320040"/>
          </a:xfrm>
          <a:prstGeom prst="rect">
            <a:avLst/>
          </a:prstGeom>
          <a:noFill/>
          <a:ln/>
        </p:spPr>
        <p:txBody>
          <a:bodyPr wrap="square" lIns="0" tIns="0" rIns="0" bIns="0" rtlCol="0" anchor="ctr"/>
          <a:lstStyle/>
          <a:p>
            <a:pPr marL="0" indent="0">
              <a:buNone/>
            </a:pPr>
            <a:r>
              <a:rPr lang="de-CH" sz="1600" b="1" dirty="0">
                <a:solidFill>
                  <a:srgbClr val="111111"/>
                </a:solidFill>
                <a:latin typeface="Aptos Display" pitchFamily="34" charset="0"/>
                <a:ea typeface="Aptos Display" pitchFamily="34" charset="-122"/>
                <a:cs typeface="Aptos Display" pitchFamily="34" charset="-120"/>
              </a:rPr>
              <a:t>SQL-Server 2022</a:t>
            </a:r>
            <a:endParaRPr lang="de-CH" sz="1600" dirty="0"/>
          </a:p>
        </p:txBody>
      </p:sp>
      <p:sp>
        <p:nvSpPr>
          <p:cNvPr id="23" name="Text 21"/>
          <p:cNvSpPr/>
          <p:nvPr/>
        </p:nvSpPr>
        <p:spPr>
          <a:xfrm>
            <a:off x="7150608" y="2651760"/>
            <a:ext cx="1316736" cy="713232"/>
          </a:xfrm>
          <a:prstGeom prst="rect">
            <a:avLst/>
          </a:prstGeom>
          <a:noFill/>
          <a:ln/>
        </p:spPr>
        <p:txBody>
          <a:bodyPr wrap="square" lIns="127" tIns="127" rIns="127" bIns="127" rtlCol="0" anchor="t"/>
          <a:lstStyle/>
          <a:p>
            <a:pPr marL="0" indent="0">
              <a:buNone/>
            </a:pPr>
            <a:r>
              <a:rPr lang="de-CH" sz="1400" dirty="0">
                <a:solidFill>
                  <a:srgbClr val="252525"/>
                </a:solidFill>
                <a:latin typeface="Aptos" pitchFamily="34" charset="0"/>
                <a:ea typeface="Aptos" pitchFamily="34" charset="-122"/>
                <a:cs typeface="Aptos" pitchFamily="34" charset="-120"/>
              </a:rPr>
              <a:t>Datenbankserver</a:t>
            </a:r>
            <a:endParaRPr lang="de-CH" sz="1400" dirty="0"/>
          </a:p>
        </p:txBody>
      </p:sp>
      <p:sp>
        <p:nvSpPr>
          <p:cNvPr id="24" name="Text 22"/>
          <p:cNvSpPr/>
          <p:nvPr/>
        </p:nvSpPr>
        <p:spPr>
          <a:xfrm>
            <a:off x="685800" y="4160520"/>
            <a:ext cx="7772400" cy="411480"/>
          </a:xfrm>
          <a:prstGeom prst="rect">
            <a:avLst/>
          </a:prstGeom>
          <a:noFill/>
          <a:ln/>
        </p:spPr>
        <p:txBody>
          <a:bodyPr wrap="square" lIns="0" tIns="0" rIns="0" bIns="0" rtlCol="0" anchor="ctr"/>
          <a:lstStyle/>
          <a:p>
            <a:pPr marL="0" indent="0" algn="ctr">
              <a:buNone/>
            </a:pPr>
            <a:r>
              <a:rPr lang="de-CH" sz="2000" dirty="0">
                <a:solidFill>
                  <a:srgbClr val="252525"/>
                </a:solidFill>
                <a:latin typeface="Aptos" pitchFamily="34" charset="0"/>
                <a:ea typeface="Aptos" pitchFamily="34" charset="-122"/>
                <a:cs typeface="Aptos" pitchFamily="34" charset="-120"/>
              </a:rPr>
              <a:t>SSMS verbindet sich über 127.0.0.1,1433 mit SQL-Server in der VM.</a:t>
            </a:r>
            <a:endParaRPr lang="de-CH" sz="2000" dirty="0"/>
          </a:p>
        </p:txBody>
      </p:sp>
      <p:sp>
        <p:nvSpPr>
          <p:cNvPr id="25" name="Text 23"/>
          <p:cNvSpPr/>
          <p:nvPr/>
        </p:nvSpPr>
        <p:spPr>
          <a:xfrm>
            <a:off x="685800" y="4754880"/>
            <a:ext cx="7772400" cy="411480"/>
          </a:xfrm>
          <a:prstGeom prst="rect">
            <a:avLst/>
          </a:prstGeom>
          <a:noFill/>
          <a:ln/>
        </p:spPr>
        <p:txBody>
          <a:bodyPr wrap="square" lIns="0" tIns="0" rIns="0" bIns="0" rtlCol="0" anchor="ctr"/>
          <a:lstStyle/>
          <a:p>
            <a:pPr marL="0" indent="0" algn="ctr">
              <a:buNone/>
            </a:pPr>
            <a:r>
              <a:rPr lang="de-CH" sz="2000" dirty="0">
                <a:solidFill>
                  <a:srgbClr val="252525"/>
                </a:solidFill>
                <a:latin typeface="Aptos" pitchFamily="34" charset="0"/>
                <a:ea typeface="Aptos" pitchFamily="34" charset="-122"/>
                <a:cs typeface="Aptos" pitchFamily="34" charset="-120"/>
              </a:rPr>
              <a:t>Git + GitHub versionieren Infrastruktur, SQL-Skripte und Dokumentation.</a:t>
            </a:r>
            <a:endParaRPr lang="de-CH" sz="2000" dirty="0"/>
          </a:p>
        </p:txBody>
      </p:sp>
      <p:sp>
        <p:nvSpPr>
          <p:cNvPr id="26"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3</a:t>
            </a:fld>
            <a:endParaRPr lang="de-CH"/>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Datenmodell</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39 Tabellen in klaren Fachbereichen – zentral verknüpft</a:t>
            </a:r>
            <a:endParaRPr lang="de-CH" sz="1300" dirty="0"/>
          </a:p>
        </p:txBody>
      </p:sp>
      <p:sp>
        <p:nvSpPr>
          <p:cNvPr id="6" name="Text 4"/>
          <p:cNvSpPr/>
          <p:nvPr/>
        </p:nvSpPr>
        <p:spPr>
          <a:xfrm>
            <a:off x="73152" y="1435608"/>
            <a:ext cx="329184" cy="182880"/>
          </a:xfrm>
          <a:prstGeom prst="rect">
            <a:avLst/>
          </a:prstGeom>
          <a:noFill/>
          <a:ln/>
        </p:spPr>
        <p:txBody>
          <a:bodyPr wrap="square" lIns="0" tIns="0" rIns="0" bIns="0" rtlCol="0" anchor="ctr"/>
          <a:lstStyle/>
          <a:p>
            <a:pPr marL="0" indent="0" algn="ctr">
              <a:buNone/>
            </a:pPr>
            <a:r>
              <a:rPr lang="de-CH" sz="1500" b="1" dirty="0">
                <a:solidFill>
                  <a:srgbClr val="FFFFFF"/>
                </a:solidFill>
                <a:latin typeface="Aptos Display" pitchFamily="34" charset="0"/>
                <a:ea typeface="Aptos Display" pitchFamily="34" charset="-122"/>
                <a:cs typeface="Aptos Display" pitchFamily="34" charset="-120"/>
              </a:rPr>
              <a:t>4</a:t>
            </a:r>
            <a:endParaRPr lang="de-CH" sz="1500" dirty="0"/>
          </a:p>
        </p:txBody>
      </p:sp>
      <p:sp>
        <p:nvSpPr>
          <p:cNvPr id="7" name="Shape 5"/>
          <p:cNvSpPr/>
          <p:nvPr/>
        </p:nvSpPr>
        <p:spPr>
          <a:xfrm>
            <a:off x="640080" y="1828800"/>
            <a:ext cx="1709928" cy="841248"/>
          </a:xfrm>
          <a:prstGeom prst="roundRect">
            <a:avLst>
              <a:gd name="adj" fmla="val 6522"/>
            </a:avLst>
          </a:prstGeom>
          <a:solidFill>
            <a:srgbClr val="EDF5FF"/>
          </a:solidFill>
          <a:ln w="16510">
            <a:solidFill>
              <a:srgbClr val="1E5B9E"/>
            </a:solidFill>
            <a:prstDash val="solid"/>
          </a:ln>
        </p:spPr>
        <p:txBody>
          <a:bodyPr/>
          <a:lstStyle/>
          <a:p>
            <a:endParaRPr lang="de-CH"/>
          </a:p>
        </p:txBody>
      </p:sp>
      <p:sp>
        <p:nvSpPr>
          <p:cNvPr id="8" name="Shape 6"/>
          <p:cNvSpPr/>
          <p:nvPr/>
        </p:nvSpPr>
        <p:spPr>
          <a:xfrm>
            <a:off x="640080" y="1828800"/>
            <a:ext cx="91440" cy="841248"/>
          </a:xfrm>
          <a:prstGeom prst="rect">
            <a:avLst/>
          </a:prstGeom>
          <a:solidFill>
            <a:srgbClr val="1E5B9E"/>
          </a:solidFill>
          <a:ln w="12700">
            <a:solidFill>
              <a:srgbClr val="1E5B9E"/>
            </a:solidFill>
            <a:prstDash val="solid"/>
          </a:ln>
        </p:spPr>
        <p:txBody>
          <a:bodyPr/>
          <a:lstStyle/>
          <a:p>
            <a:endParaRPr lang="de-CH"/>
          </a:p>
        </p:txBody>
      </p:sp>
      <p:sp>
        <p:nvSpPr>
          <p:cNvPr id="9" name="Text 7"/>
          <p:cNvSpPr/>
          <p:nvPr/>
        </p:nvSpPr>
        <p:spPr>
          <a:xfrm>
            <a:off x="841248" y="1965960"/>
            <a:ext cx="1417320" cy="256032"/>
          </a:xfrm>
          <a:prstGeom prst="rect">
            <a:avLst/>
          </a:prstGeom>
          <a:noFill/>
          <a:ln/>
        </p:spPr>
        <p:txBody>
          <a:bodyPr wrap="square" lIns="0" tIns="0" rIns="0" bIns="0" rtlCol="0" anchor="ctr"/>
          <a:lstStyle/>
          <a:p>
            <a:pPr marL="0" indent="0">
              <a:buNone/>
            </a:pPr>
            <a:r>
              <a:rPr lang="de-CH" sz="1550" b="1" dirty="0">
                <a:solidFill>
                  <a:srgbClr val="111111"/>
                </a:solidFill>
                <a:latin typeface="Aptos Display" pitchFamily="34" charset="0"/>
                <a:ea typeface="Aptos Display" pitchFamily="34" charset="-122"/>
                <a:cs typeface="Aptos Display" pitchFamily="34" charset="-120"/>
              </a:rPr>
              <a:t>Saison / Verband</a:t>
            </a:r>
            <a:endParaRPr lang="de-CH" sz="1550" dirty="0"/>
          </a:p>
        </p:txBody>
      </p:sp>
      <p:sp>
        <p:nvSpPr>
          <p:cNvPr id="10" name="Text 8"/>
          <p:cNvSpPr/>
          <p:nvPr/>
        </p:nvSpPr>
        <p:spPr>
          <a:xfrm>
            <a:off x="868680" y="2295144"/>
            <a:ext cx="1307592" cy="292608"/>
          </a:xfrm>
          <a:prstGeom prst="rect">
            <a:avLst/>
          </a:prstGeom>
          <a:noFill/>
          <a:ln/>
        </p:spPr>
        <p:txBody>
          <a:bodyPr wrap="square" lIns="0" tIns="0" rIns="0" bIns="0" rtlCol="0" anchor="ctr">
            <a:normAutofit fontScale="92500" lnSpcReduction="10000"/>
          </a:bodyPr>
          <a:lstStyle/>
          <a:p>
            <a:pPr marL="0" indent="0">
              <a:buNone/>
            </a:pPr>
            <a:r>
              <a:rPr lang="de-CH" sz="1120" dirty="0">
                <a:solidFill>
                  <a:srgbClr val="252525"/>
                </a:solidFill>
                <a:latin typeface="Aptos" pitchFamily="34" charset="0"/>
                <a:ea typeface="Aptos" pitchFamily="34" charset="-122"/>
                <a:cs typeface="Aptos" pitchFamily="34" charset="-120"/>
              </a:rPr>
              <a:t>• Saison</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Verband</a:t>
            </a:r>
            <a:endParaRPr lang="de-CH" sz="1120" dirty="0"/>
          </a:p>
        </p:txBody>
      </p:sp>
      <p:sp>
        <p:nvSpPr>
          <p:cNvPr id="11" name="Shape 9"/>
          <p:cNvSpPr/>
          <p:nvPr/>
        </p:nvSpPr>
        <p:spPr>
          <a:xfrm>
            <a:off x="2788920" y="1783080"/>
            <a:ext cx="1719072" cy="932688"/>
          </a:xfrm>
          <a:prstGeom prst="roundRect">
            <a:avLst>
              <a:gd name="adj" fmla="val 5882"/>
            </a:avLst>
          </a:prstGeom>
          <a:solidFill>
            <a:srgbClr val="FFF0F3"/>
          </a:solidFill>
          <a:ln w="16510">
            <a:solidFill>
              <a:srgbClr val="E5002B"/>
            </a:solidFill>
            <a:prstDash val="solid"/>
          </a:ln>
        </p:spPr>
        <p:txBody>
          <a:bodyPr/>
          <a:lstStyle/>
          <a:p>
            <a:endParaRPr lang="de-CH"/>
          </a:p>
        </p:txBody>
      </p:sp>
      <p:sp>
        <p:nvSpPr>
          <p:cNvPr id="12" name="Shape 10"/>
          <p:cNvSpPr/>
          <p:nvPr/>
        </p:nvSpPr>
        <p:spPr>
          <a:xfrm>
            <a:off x="2788920" y="1783080"/>
            <a:ext cx="91440" cy="932688"/>
          </a:xfrm>
          <a:prstGeom prst="rect">
            <a:avLst/>
          </a:prstGeom>
          <a:solidFill>
            <a:srgbClr val="E5002B"/>
          </a:solidFill>
          <a:ln w="12700">
            <a:solidFill>
              <a:srgbClr val="E5002B"/>
            </a:solidFill>
            <a:prstDash val="solid"/>
          </a:ln>
        </p:spPr>
        <p:txBody>
          <a:bodyPr/>
          <a:lstStyle/>
          <a:p>
            <a:endParaRPr lang="de-CH"/>
          </a:p>
        </p:txBody>
      </p:sp>
      <p:sp>
        <p:nvSpPr>
          <p:cNvPr id="13" name="Text 11"/>
          <p:cNvSpPr/>
          <p:nvPr/>
        </p:nvSpPr>
        <p:spPr>
          <a:xfrm>
            <a:off x="2990088" y="1920240"/>
            <a:ext cx="1399032" cy="256032"/>
          </a:xfrm>
          <a:prstGeom prst="rect">
            <a:avLst/>
          </a:prstGeom>
          <a:noFill/>
          <a:ln/>
        </p:spPr>
        <p:txBody>
          <a:bodyPr wrap="square" lIns="0" tIns="0" rIns="0" bIns="0" rtlCol="0" anchor="ctr"/>
          <a:lstStyle/>
          <a:p>
            <a:pPr marL="0" indent="0">
              <a:buNone/>
            </a:pPr>
            <a:r>
              <a:rPr lang="de-CH" sz="1550" b="1" dirty="0">
                <a:solidFill>
                  <a:srgbClr val="111111"/>
                </a:solidFill>
                <a:latin typeface="Aptos Display" pitchFamily="34" charset="0"/>
                <a:ea typeface="Aptos Display" pitchFamily="34" charset="-122"/>
                <a:cs typeface="Aptos Display" pitchFamily="34" charset="-120"/>
              </a:rPr>
              <a:t>Spieler</a:t>
            </a:r>
            <a:endParaRPr lang="de-CH" sz="1550" dirty="0"/>
          </a:p>
        </p:txBody>
      </p:sp>
      <p:sp>
        <p:nvSpPr>
          <p:cNvPr id="14" name="Text 12"/>
          <p:cNvSpPr/>
          <p:nvPr/>
        </p:nvSpPr>
        <p:spPr>
          <a:xfrm>
            <a:off x="3017520" y="2249424"/>
            <a:ext cx="1399032" cy="384048"/>
          </a:xfrm>
          <a:prstGeom prst="rect">
            <a:avLst/>
          </a:prstGeom>
          <a:noFill/>
          <a:ln/>
        </p:spPr>
        <p:txBody>
          <a:bodyPr wrap="square" lIns="0" tIns="0" rIns="0" bIns="0" rtlCol="0" anchor="ctr">
            <a:normAutofit fontScale="92500" lnSpcReduction="20000"/>
          </a:bodyPr>
          <a:lstStyle/>
          <a:p>
            <a:pPr marL="0" indent="0">
              <a:buNone/>
            </a:pPr>
            <a:r>
              <a:rPr lang="de-CH" sz="1120" dirty="0">
                <a:solidFill>
                  <a:srgbClr val="252525"/>
                </a:solidFill>
                <a:latin typeface="Aptos" pitchFamily="34" charset="0"/>
                <a:ea typeface="Aptos" pitchFamily="34" charset="-122"/>
                <a:cs typeface="Aptos" pitchFamily="34" charset="-120"/>
              </a:rPr>
              <a:t>• Spieler</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SpielerSaison</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SpielerVerein</a:t>
            </a:r>
            <a:endParaRPr lang="de-CH" sz="1120" dirty="0"/>
          </a:p>
        </p:txBody>
      </p:sp>
      <p:sp>
        <p:nvSpPr>
          <p:cNvPr id="15" name="Shape 13"/>
          <p:cNvSpPr/>
          <p:nvPr/>
        </p:nvSpPr>
        <p:spPr>
          <a:xfrm>
            <a:off x="5029200" y="1828800"/>
            <a:ext cx="1627632" cy="841248"/>
          </a:xfrm>
          <a:prstGeom prst="roundRect">
            <a:avLst>
              <a:gd name="adj" fmla="val 6522"/>
            </a:avLst>
          </a:prstGeom>
          <a:solidFill>
            <a:srgbClr val="F5F5F5"/>
          </a:solidFill>
          <a:ln w="16510">
            <a:solidFill>
              <a:srgbClr val="555555"/>
            </a:solidFill>
            <a:prstDash val="solid"/>
          </a:ln>
        </p:spPr>
        <p:txBody>
          <a:bodyPr/>
          <a:lstStyle/>
          <a:p>
            <a:endParaRPr lang="de-CH"/>
          </a:p>
        </p:txBody>
      </p:sp>
      <p:sp>
        <p:nvSpPr>
          <p:cNvPr id="16" name="Shape 14"/>
          <p:cNvSpPr/>
          <p:nvPr/>
        </p:nvSpPr>
        <p:spPr>
          <a:xfrm>
            <a:off x="5029200" y="1828800"/>
            <a:ext cx="91440" cy="841248"/>
          </a:xfrm>
          <a:prstGeom prst="rect">
            <a:avLst/>
          </a:prstGeom>
          <a:solidFill>
            <a:srgbClr val="555555"/>
          </a:solidFill>
          <a:ln w="12700">
            <a:solidFill>
              <a:srgbClr val="555555"/>
            </a:solidFill>
            <a:prstDash val="solid"/>
          </a:ln>
        </p:spPr>
        <p:txBody>
          <a:bodyPr/>
          <a:lstStyle/>
          <a:p>
            <a:endParaRPr lang="de-CH"/>
          </a:p>
        </p:txBody>
      </p:sp>
      <p:sp>
        <p:nvSpPr>
          <p:cNvPr id="17" name="Text 15"/>
          <p:cNvSpPr/>
          <p:nvPr/>
        </p:nvSpPr>
        <p:spPr>
          <a:xfrm>
            <a:off x="5230368" y="1965960"/>
            <a:ext cx="1307592" cy="256032"/>
          </a:xfrm>
          <a:prstGeom prst="rect">
            <a:avLst/>
          </a:prstGeom>
          <a:noFill/>
          <a:ln/>
        </p:spPr>
        <p:txBody>
          <a:bodyPr wrap="square" lIns="0" tIns="0" rIns="0" bIns="0" rtlCol="0" anchor="ctr"/>
          <a:lstStyle/>
          <a:p>
            <a:pPr marL="0" indent="0">
              <a:buNone/>
            </a:pPr>
            <a:r>
              <a:rPr lang="de-CH" sz="1550" b="1" dirty="0">
                <a:solidFill>
                  <a:srgbClr val="111111"/>
                </a:solidFill>
                <a:latin typeface="Aptos Display" pitchFamily="34" charset="0"/>
                <a:ea typeface="Aptos Display" pitchFamily="34" charset="-122"/>
                <a:cs typeface="Aptos Display" pitchFamily="34" charset="-120"/>
              </a:rPr>
              <a:t>Club / Verein</a:t>
            </a:r>
            <a:endParaRPr lang="de-CH" sz="1550" dirty="0"/>
          </a:p>
        </p:txBody>
      </p:sp>
      <p:sp>
        <p:nvSpPr>
          <p:cNvPr id="18" name="Text 16"/>
          <p:cNvSpPr/>
          <p:nvPr/>
        </p:nvSpPr>
        <p:spPr>
          <a:xfrm>
            <a:off x="5257800" y="2295144"/>
            <a:ext cx="1307592" cy="292608"/>
          </a:xfrm>
          <a:prstGeom prst="rect">
            <a:avLst/>
          </a:prstGeom>
          <a:noFill/>
          <a:ln/>
        </p:spPr>
        <p:txBody>
          <a:bodyPr wrap="square" lIns="0" tIns="0" rIns="0" bIns="0" rtlCol="0" anchor="ctr">
            <a:normAutofit fontScale="92500" lnSpcReduction="10000"/>
          </a:bodyPr>
          <a:lstStyle/>
          <a:p>
            <a:pPr marL="0" indent="0">
              <a:buNone/>
            </a:pPr>
            <a:r>
              <a:rPr lang="de-CH" sz="1120" dirty="0">
                <a:solidFill>
                  <a:srgbClr val="252525"/>
                </a:solidFill>
                <a:latin typeface="Aptos" pitchFamily="34" charset="0"/>
                <a:ea typeface="Aptos" pitchFamily="34" charset="-122"/>
                <a:cs typeface="Aptos" pitchFamily="34" charset="-120"/>
              </a:rPr>
              <a:t>• Club</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Spielort</a:t>
            </a:r>
            <a:endParaRPr lang="de-CH" sz="1120" dirty="0"/>
          </a:p>
        </p:txBody>
      </p:sp>
      <p:sp>
        <p:nvSpPr>
          <p:cNvPr id="19" name="Shape 17"/>
          <p:cNvSpPr/>
          <p:nvPr/>
        </p:nvSpPr>
        <p:spPr>
          <a:xfrm>
            <a:off x="868680" y="3246120"/>
            <a:ext cx="2148840" cy="1005840"/>
          </a:xfrm>
          <a:prstGeom prst="roundRect">
            <a:avLst>
              <a:gd name="adj" fmla="val 5882"/>
            </a:avLst>
          </a:prstGeom>
          <a:solidFill>
            <a:srgbClr val="EEF9EF"/>
          </a:solidFill>
          <a:ln w="16510">
            <a:solidFill>
              <a:srgbClr val="2F8A3B"/>
            </a:solidFill>
            <a:prstDash val="solid"/>
          </a:ln>
        </p:spPr>
        <p:txBody>
          <a:bodyPr/>
          <a:lstStyle/>
          <a:p>
            <a:endParaRPr lang="de-CH"/>
          </a:p>
        </p:txBody>
      </p:sp>
      <p:sp>
        <p:nvSpPr>
          <p:cNvPr id="20" name="Shape 18"/>
          <p:cNvSpPr/>
          <p:nvPr/>
        </p:nvSpPr>
        <p:spPr>
          <a:xfrm>
            <a:off x="868680" y="3246120"/>
            <a:ext cx="91440" cy="932688"/>
          </a:xfrm>
          <a:prstGeom prst="rect">
            <a:avLst/>
          </a:prstGeom>
          <a:solidFill>
            <a:srgbClr val="2F8A3B"/>
          </a:solidFill>
          <a:ln w="12700">
            <a:solidFill>
              <a:srgbClr val="2F8A3B"/>
            </a:solidFill>
            <a:prstDash val="solid"/>
          </a:ln>
        </p:spPr>
        <p:txBody>
          <a:bodyPr/>
          <a:lstStyle/>
          <a:p>
            <a:endParaRPr lang="de-CH"/>
          </a:p>
        </p:txBody>
      </p:sp>
      <p:sp>
        <p:nvSpPr>
          <p:cNvPr id="21" name="Text 19"/>
          <p:cNvSpPr/>
          <p:nvPr/>
        </p:nvSpPr>
        <p:spPr>
          <a:xfrm>
            <a:off x="1069848" y="3383280"/>
            <a:ext cx="1828800" cy="256032"/>
          </a:xfrm>
          <a:prstGeom prst="rect">
            <a:avLst/>
          </a:prstGeom>
          <a:noFill/>
          <a:ln/>
        </p:spPr>
        <p:txBody>
          <a:bodyPr wrap="square" lIns="0" tIns="0" rIns="0" bIns="0" rtlCol="0" anchor="ctr"/>
          <a:lstStyle/>
          <a:p>
            <a:pPr marL="0" indent="0">
              <a:buNone/>
            </a:pPr>
            <a:r>
              <a:rPr lang="de-CH" sz="1550" b="1" dirty="0">
                <a:solidFill>
                  <a:srgbClr val="111111"/>
                </a:solidFill>
                <a:latin typeface="Aptos Display" pitchFamily="34" charset="0"/>
                <a:ea typeface="Aptos Display" pitchFamily="34" charset="-122"/>
                <a:cs typeface="Aptos Display" pitchFamily="34" charset="-120"/>
              </a:rPr>
              <a:t>Liga / Mannschaften</a:t>
            </a:r>
            <a:endParaRPr lang="de-CH" sz="1550" dirty="0"/>
          </a:p>
        </p:txBody>
      </p:sp>
      <p:sp>
        <p:nvSpPr>
          <p:cNvPr id="22" name="Text 20"/>
          <p:cNvSpPr/>
          <p:nvPr/>
        </p:nvSpPr>
        <p:spPr>
          <a:xfrm>
            <a:off x="1097280" y="3712464"/>
            <a:ext cx="1828800" cy="384048"/>
          </a:xfrm>
          <a:prstGeom prst="rect">
            <a:avLst/>
          </a:prstGeom>
          <a:noFill/>
          <a:ln/>
        </p:spPr>
        <p:txBody>
          <a:bodyPr wrap="square" lIns="0" tIns="0" rIns="0" bIns="0" rtlCol="0" anchor="ctr">
            <a:normAutofit fontScale="92500" lnSpcReduction="20000"/>
          </a:bodyPr>
          <a:lstStyle/>
          <a:p>
            <a:pPr marL="0" indent="0">
              <a:buNone/>
            </a:pPr>
            <a:r>
              <a:rPr lang="de-CH" sz="1120" dirty="0">
                <a:solidFill>
                  <a:srgbClr val="252525"/>
                </a:solidFill>
                <a:latin typeface="Aptos" pitchFamily="34" charset="0"/>
                <a:ea typeface="Aptos" pitchFamily="34" charset="-122"/>
                <a:cs typeface="Aptos" pitchFamily="34" charset="-120"/>
              </a:rPr>
              <a:t>• Ligawettbewerb</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Ligaphase</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Mannschaft</a:t>
            </a:r>
            <a:endParaRPr lang="de-CH" sz="1120" dirty="0"/>
          </a:p>
        </p:txBody>
      </p:sp>
      <p:sp>
        <p:nvSpPr>
          <p:cNvPr id="23" name="Shape 21"/>
          <p:cNvSpPr/>
          <p:nvPr/>
        </p:nvSpPr>
        <p:spPr>
          <a:xfrm>
            <a:off x="4114800" y="3246120"/>
            <a:ext cx="2148840" cy="992166"/>
          </a:xfrm>
          <a:prstGeom prst="roundRect">
            <a:avLst>
              <a:gd name="adj" fmla="val 5882"/>
            </a:avLst>
          </a:prstGeom>
          <a:solidFill>
            <a:srgbClr val="FFF3E9"/>
          </a:solidFill>
          <a:ln w="16510">
            <a:solidFill>
              <a:srgbClr val="D9701B"/>
            </a:solidFill>
            <a:prstDash val="solid"/>
          </a:ln>
        </p:spPr>
        <p:txBody>
          <a:bodyPr/>
          <a:lstStyle/>
          <a:p>
            <a:endParaRPr lang="de-CH"/>
          </a:p>
        </p:txBody>
      </p:sp>
      <p:sp>
        <p:nvSpPr>
          <p:cNvPr id="24" name="Shape 22"/>
          <p:cNvSpPr/>
          <p:nvPr/>
        </p:nvSpPr>
        <p:spPr>
          <a:xfrm>
            <a:off x="4114800" y="3246120"/>
            <a:ext cx="91440" cy="932688"/>
          </a:xfrm>
          <a:prstGeom prst="rect">
            <a:avLst/>
          </a:prstGeom>
          <a:solidFill>
            <a:srgbClr val="D9701B"/>
          </a:solidFill>
          <a:ln w="12700">
            <a:solidFill>
              <a:srgbClr val="D9701B"/>
            </a:solidFill>
            <a:prstDash val="solid"/>
          </a:ln>
        </p:spPr>
        <p:txBody>
          <a:bodyPr/>
          <a:lstStyle/>
          <a:p>
            <a:endParaRPr lang="de-CH"/>
          </a:p>
        </p:txBody>
      </p:sp>
      <p:sp>
        <p:nvSpPr>
          <p:cNvPr id="25" name="Text 23"/>
          <p:cNvSpPr/>
          <p:nvPr/>
        </p:nvSpPr>
        <p:spPr>
          <a:xfrm>
            <a:off x="4315968" y="3383280"/>
            <a:ext cx="1828800" cy="256032"/>
          </a:xfrm>
          <a:prstGeom prst="rect">
            <a:avLst/>
          </a:prstGeom>
          <a:noFill/>
          <a:ln/>
        </p:spPr>
        <p:txBody>
          <a:bodyPr wrap="square" lIns="0" tIns="0" rIns="0" bIns="0" rtlCol="0" anchor="ctr"/>
          <a:lstStyle/>
          <a:p>
            <a:pPr marL="0" indent="0">
              <a:buNone/>
            </a:pPr>
            <a:r>
              <a:rPr lang="de-CH" sz="1550" b="1" dirty="0">
                <a:solidFill>
                  <a:srgbClr val="111111"/>
                </a:solidFill>
                <a:latin typeface="Aptos Display" pitchFamily="34" charset="0"/>
                <a:ea typeface="Aptos Display" pitchFamily="34" charset="-122"/>
                <a:cs typeface="Aptos Display" pitchFamily="34" charset="-120"/>
              </a:rPr>
              <a:t>Turniere</a:t>
            </a:r>
            <a:endParaRPr lang="de-CH" sz="1550" dirty="0"/>
          </a:p>
        </p:txBody>
      </p:sp>
      <p:sp>
        <p:nvSpPr>
          <p:cNvPr id="26" name="Text 24"/>
          <p:cNvSpPr/>
          <p:nvPr/>
        </p:nvSpPr>
        <p:spPr>
          <a:xfrm>
            <a:off x="4343400" y="3712464"/>
            <a:ext cx="1828800" cy="384048"/>
          </a:xfrm>
          <a:prstGeom prst="rect">
            <a:avLst/>
          </a:prstGeom>
          <a:noFill/>
          <a:ln/>
        </p:spPr>
        <p:txBody>
          <a:bodyPr wrap="square" lIns="0" tIns="0" rIns="0" bIns="0" rtlCol="0" anchor="ctr">
            <a:normAutofit fontScale="92500" lnSpcReduction="20000"/>
          </a:bodyPr>
          <a:lstStyle/>
          <a:p>
            <a:pPr marL="0" indent="0">
              <a:buNone/>
            </a:pPr>
            <a:r>
              <a:rPr lang="de-CH" sz="1120" dirty="0">
                <a:solidFill>
                  <a:srgbClr val="252525"/>
                </a:solidFill>
                <a:latin typeface="Aptos" pitchFamily="34" charset="0"/>
                <a:ea typeface="Aptos" pitchFamily="34" charset="-122"/>
                <a:cs typeface="Aptos" pitchFamily="34" charset="-120"/>
              </a:rPr>
              <a:t>• Turnier</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Kategorie</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Anmeldungen</a:t>
            </a:r>
            <a:endParaRPr lang="de-CH" sz="1120" dirty="0"/>
          </a:p>
        </p:txBody>
      </p:sp>
      <p:sp>
        <p:nvSpPr>
          <p:cNvPr id="27" name="Shape 25"/>
          <p:cNvSpPr/>
          <p:nvPr/>
        </p:nvSpPr>
        <p:spPr>
          <a:xfrm>
            <a:off x="2148840" y="4480560"/>
            <a:ext cx="2788920" cy="932688"/>
          </a:xfrm>
          <a:prstGeom prst="roundRect">
            <a:avLst>
              <a:gd name="adj" fmla="val 5882"/>
            </a:avLst>
          </a:prstGeom>
          <a:solidFill>
            <a:srgbClr val="F4EFFB"/>
          </a:solidFill>
          <a:ln w="16510">
            <a:solidFill>
              <a:srgbClr val="5D36A6"/>
            </a:solidFill>
            <a:prstDash val="solid"/>
          </a:ln>
        </p:spPr>
        <p:txBody>
          <a:bodyPr/>
          <a:lstStyle/>
          <a:p>
            <a:endParaRPr lang="de-CH"/>
          </a:p>
        </p:txBody>
      </p:sp>
      <p:sp>
        <p:nvSpPr>
          <p:cNvPr id="28" name="Shape 26"/>
          <p:cNvSpPr/>
          <p:nvPr/>
        </p:nvSpPr>
        <p:spPr>
          <a:xfrm>
            <a:off x="2148840" y="4480560"/>
            <a:ext cx="91440" cy="932688"/>
          </a:xfrm>
          <a:prstGeom prst="rect">
            <a:avLst/>
          </a:prstGeom>
          <a:solidFill>
            <a:srgbClr val="5D36A6"/>
          </a:solidFill>
          <a:ln w="12700">
            <a:solidFill>
              <a:srgbClr val="5D36A6"/>
            </a:solidFill>
            <a:prstDash val="solid"/>
          </a:ln>
        </p:spPr>
        <p:txBody>
          <a:bodyPr/>
          <a:lstStyle/>
          <a:p>
            <a:endParaRPr lang="de-CH"/>
          </a:p>
        </p:txBody>
      </p:sp>
      <p:sp>
        <p:nvSpPr>
          <p:cNvPr id="29" name="Text 27"/>
          <p:cNvSpPr/>
          <p:nvPr/>
        </p:nvSpPr>
        <p:spPr>
          <a:xfrm>
            <a:off x="2350008" y="4617720"/>
            <a:ext cx="2468880" cy="256032"/>
          </a:xfrm>
          <a:prstGeom prst="rect">
            <a:avLst/>
          </a:prstGeom>
          <a:noFill/>
          <a:ln/>
        </p:spPr>
        <p:txBody>
          <a:bodyPr wrap="square" lIns="0" tIns="0" rIns="0" bIns="0" rtlCol="0" anchor="ctr"/>
          <a:lstStyle/>
          <a:p>
            <a:pPr marL="0" indent="0">
              <a:buNone/>
            </a:pPr>
            <a:r>
              <a:rPr lang="de-CH" sz="1550" b="1" dirty="0">
                <a:solidFill>
                  <a:srgbClr val="111111"/>
                </a:solidFill>
                <a:latin typeface="Aptos Display" pitchFamily="34" charset="0"/>
                <a:ea typeface="Aptos Display" pitchFamily="34" charset="-122"/>
                <a:cs typeface="Aptos Display" pitchFamily="34" charset="-120"/>
              </a:rPr>
              <a:t>Begegnungen / Spiele</a:t>
            </a:r>
            <a:endParaRPr lang="de-CH" sz="1550" dirty="0"/>
          </a:p>
        </p:txBody>
      </p:sp>
      <p:sp>
        <p:nvSpPr>
          <p:cNvPr id="30" name="Text 28"/>
          <p:cNvSpPr/>
          <p:nvPr/>
        </p:nvSpPr>
        <p:spPr>
          <a:xfrm>
            <a:off x="2377440" y="4946904"/>
            <a:ext cx="2468880" cy="384048"/>
          </a:xfrm>
          <a:prstGeom prst="rect">
            <a:avLst/>
          </a:prstGeom>
          <a:noFill/>
          <a:ln/>
        </p:spPr>
        <p:txBody>
          <a:bodyPr wrap="square" lIns="0" tIns="0" rIns="0" bIns="0" rtlCol="0" anchor="ctr">
            <a:normAutofit fontScale="92500" lnSpcReduction="20000"/>
          </a:bodyPr>
          <a:lstStyle/>
          <a:p>
            <a:pPr marL="0" indent="0">
              <a:buNone/>
            </a:pPr>
            <a:r>
              <a:rPr lang="de-CH" sz="1120" dirty="0">
                <a:solidFill>
                  <a:srgbClr val="252525"/>
                </a:solidFill>
                <a:latin typeface="Aptos" pitchFamily="34" charset="0"/>
                <a:ea typeface="Aptos" pitchFamily="34" charset="-122"/>
                <a:cs typeface="Aptos" pitchFamily="34" charset="-120"/>
              </a:rPr>
              <a:t>• Aufstellung</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Einzelspiel / Doppelspiel</a:t>
            </a:r>
            <a:endParaRPr lang="de-CH" sz="1120" dirty="0"/>
          </a:p>
          <a:p>
            <a:pPr marL="0" indent="0">
              <a:buNone/>
            </a:pPr>
            <a:r>
              <a:rPr lang="de-CH" sz="1120" dirty="0">
                <a:solidFill>
                  <a:srgbClr val="252525"/>
                </a:solidFill>
                <a:latin typeface="Aptos" pitchFamily="34" charset="0"/>
                <a:ea typeface="Aptos" pitchFamily="34" charset="-122"/>
                <a:cs typeface="Aptos" pitchFamily="34" charset="-120"/>
              </a:rPr>
              <a:t>• Satz</a:t>
            </a:r>
            <a:endParaRPr lang="de-CH" sz="1120" dirty="0"/>
          </a:p>
        </p:txBody>
      </p:sp>
      <p:sp>
        <p:nvSpPr>
          <p:cNvPr id="31" name="Shape 29"/>
          <p:cNvSpPr/>
          <p:nvPr/>
        </p:nvSpPr>
        <p:spPr>
          <a:xfrm>
            <a:off x="2240280" y="5532119"/>
            <a:ext cx="2606040" cy="827491"/>
          </a:xfrm>
          <a:prstGeom prst="roundRect">
            <a:avLst>
              <a:gd name="adj" fmla="val 8219"/>
            </a:avLst>
          </a:prstGeom>
          <a:solidFill>
            <a:srgbClr val="EEF6FF"/>
          </a:solidFill>
          <a:ln w="16510">
            <a:solidFill>
              <a:srgbClr val="1175CF"/>
            </a:solidFill>
            <a:prstDash val="solid"/>
          </a:ln>
        </p:spPr>
        <p:txBody>
          <a:bodyPr/>
          <a:lstStyle/>
          <a:p>
            <a:endParaRPr lang="de-CH"/>
          </a:p>
        </p:txBody>
      </p:sp>
      <p:sp>
        <p:nvSpPr>
          <p:cNvPr id="32" name="Shape 30"/>
          <p:cNvSpPr/>
          <p:nvPr/>
        </p:nvSpPr>
        <p:spPr>
          <a:xfrm>
            <a:off x="2240280" y="5532120"/>
            <a:ext cx="91440" cy="667512"/>
          </a:xfrm>
          <a:prstGeom prst="rect">
            <a:avLst/>
          </a:prstGeom>
          <a:solidFill>
            <a:srgbClr val="1175CF"/>
          </a:solidFill>
          <a:ln w="12700">
            <a:solidFill>
              <a:srgbClr val="1175CF"/>
            </a:solidFill>
            <a:prstDash val="solid"/>
          </a:ln>
        </p:spPr>
        <p:txBody>
          <a:bodyPr/>
          <a:lstStyle/>
          <a:p>
            <a:endParaRPr lang="de-CH"/>
          </a:p>
        </p:txBody>
      </p:sp>
      <p:sp>
        <p:nvSpPr>
          <p:cNvPr id="33" name="Text 31"/>
          <p:cNvSpPr/>
          <p:nvPr/>
        </p:nvSpPr>
        <p:spPr>
          <a:xfrm>
            <a:off x="2441448" y="5669280"/>
            <a:ext cx="2286000" cy="256032"/>
          </a:xfrm>
          <a:prstGeom prst="rect">
            <a:avLst/>
          </a:prstGeom>
          <a:noFill/>
          <a:ln/>
        </p:spPr>
        <p:txBody>
          <a:bodyPr wrap="square" lIns="0" tIns="0" rIns="0" bIns="0" rtlCol="0" anchor="ctr"/>
          <a:lstStyle/>
          <a:p>
            <a:pPr marL="0" indent="0">
              <a:buNone/>
            </a:pPr>
            <a:r>
              <a:rPr lang="de-CH" sz="1550" b="1" dirty="0">
                <a:solidFill>
                  <a:srgbClr val="111111"/>
                </a:solidFill>
                <a:latin typeface="Aptos Display" pitchFamily="34" charset="0"/>
                <a:ea typeface="Aptos Display" pitchFamily="34" charset="-122"/>
                <a:cs typeface="Aptos Display" pitchFamily="34" charset="-120"/>
              </a:rPr>
              <a:t>Elo / Klassierung</a:t>
            </a:r>
            <a:endParaRPr lang="de-CH" sz="1550" dirty="0"/>
          </a:p>
        </p:txBody>
      </p:sp>
      <p:sp>
        <p:nvSpPr>
          <p:cNvPr id="34" name="Text 32"/>
          <p:cNvSpPr/>
          <p:nvPr/>
        </p:nvSpPr>
        <p:spPr>
          <a:xfrm>
            <a:off x="2468880" y="5998464"/>
            <a:ext cx="2286000" cy="118872"/>
          </a:xfrm>
          <a:prstGeom prst="rect">
            <a:avLst/>
          </a:prstGeom>
          <a:noFill/>
          <a:ln/>
        </p:spPr>
        <p:txBody>
          <a:bodyPr wrap="square" lIns="0" tIns="0" rIns="0" bIns="0" rtlCol="0" anchor="ctr">
            <a:normAutofit fontScale="70000" lnSpcReduction="20000"/>
          </a:bodyPr>
          <a:lstStyle/>
          <a:p>
            <a:pPr marL="0" indent="0">
              <a:buNone/>
            </a:pPr>
            <a:r>
              <a:rPr lang="de-CH" sz="1120" dirty="0">
                <a:solidFill>
                  <a:srgbClr val="252525"/>
                </a:solidFill>
                <a:latin typeface="Aptos" pitchFamily="34" charset="0"/>
                <a:ea typeface="Aptos" pitchFamily="34" charset="-122"/>
                <a:cs typeface="Aptos" pitchFamily="34" charset="-120"/>
              </a:rPr>
              <a:t>• SpielerBewertung  • SpielerElo  • EloProtokoll</a:t>
            </a:r>
            <a:endParaRPr lang="de-CH" sz="1120" dirty="0"/>
          </a:p>
        </p:txBody>
      </p:sp>
      <p:sp>
        <p:nvSpPr>
          <p:cNvPr id="35" name="Shape 33"/>
          <p:cNvSpPr/>
          <p:nvPr/>
        </p:nvSpPr>
        <p:spPr>
          <a:xfrm>
            <a:off x="2350008" y="2249424"/>
            <a:ext cx="438912" cy="0"/>
          </a:xfrm>
          <a:prstGeom prst="line">
            <a:avLst/>
          </a:prstGeom>
          <a:noFill/>
          <a:ln w="20320">
            <a:solidFill>
              <a:srgbClr val="252525"/>
            </a:solidFill>
            <a:prstDash val="solid"/>
            <a:headEnd type="triangle"/>
            <a:tailEnd type="triangle"/>
          </a:ln>
        </p:spPr>
        <p:txBody>
          <a:bodyPr/>
          <a:lstStyle/>
          <a:p>
            <a:endParaRPr lang="de-CH"/>
          </a:p>
        </p:txBody>
      </p:sp>
      <p:sp>
        <p:nvSpPr>
          <p:cNvPr id="36" name="Shape 34"/>
          <p:cNvSpPr/>
          <p:nvPr/>
        </p:nvSpPr>
        <p:spPr>
          <a:xfrm>
            <a:off x="4507992" y="2249424"/>
            <a:ext cx="521208" cy="0"/>
          </a:xfrm>
          <a:prstGeom prst="line">
            <a:avLst/>
          </a:prstGeom>
          <a:noFill/>
          <a:ln w="20320">
            <a:solidFill>
              <a:srgbClr val="252525"/>
            </a:solidFill>
            <a:prstDash val="solid"/>
            <a:headEnd type="triangle"/>
            <a:tailEnd type="triangle"/>
          </a:ln>
        </p:spPr>
        <p:txBody>
          <a:bodyPr/>
          <a:lstStyle/>
          <a:p>
            <a:endParaRPr lang="de-CH"/>
          </a:p>
        </p:txBody>
      </p:sp>
      <p:sp>
        <p:nvSpPr>
          <p:cNvPr id="37" name="Shape 35"/>
          <p:cNvSpPr/>
          <p:nvPr/>
        </p:nvSpPr>
        <p:spPr>
          <a:xfrm flipH="1">
            <a:off x="1965960" y="2724912"/>
            <a:ext cx="1682496" cy="521206"/>
          </a:xfrm>
          <a:prstGeom prst="line">
            <a:avLst/>
          </a:prstGeom>
          <a:noFill/>
          <a:ln w="21590">
            <a:solidFill>
              <a:srgbClr val="252525"/>
            </a:solidFill>
            <a:prstDash val="solid"/>
            <a:headEnd type="none"/>
            <a:tailEnd type="triangle"/>
          </a:ln>
        </p:spPr>
        <p:txBody>
          <a:bodyPr/>
          <a:lstStyle/>
          <a:p>
            <a:endParaRPr lang="de-CH"/>
          </a:p>
        </p:txBody>
      </p:sp>
      <p:sp>
        <p:nvSpPr>
          <p:cNvPr id="38" name="Shape 36"/>
          <p:cNvSpPr/>
          <p:nvPr/>
        </p:nvSpPr>
        <p:spPr>
          <a:xfrm>
            <a:off x="3675888" y="2724912"/>
            <a:ext cx="1463040" cy="521208"/>
          </a:xfrm>
          <a:prstGeom prst="line">
            <a:avLst/>
          </a:prstGeom>
          <a:noFill/>
          <a:ln w="21590">
            <a:solidFill>
              <a:srgbClr val="252525"/>
            </a:solidFill>
            <a:prstDash val="solid"/>
            <a:headEnd type="none"/>
            <a:tailEnd type="triangle"/>
          </a:ln>
        </p:spPr>
        <p:txBody>
          <a:bodyPr/>
          <a:lstStyle/>
          <a:p>
            <a:endParaRPr lang="de-CH"/>
          </a:p>
        </p:txBody>
      </p:sp>
      <p:sp>
        <p:nvSpPr>
          <p:cNvPr id="39" name="Shape 37"/>
          <p:cNvSpPr/>
          <p:nvPr/>
        </p:nvSpPr>
        <p:spPr>
          <a:xfrm>
            <a:off x="1920240" y="4251960"/>
            <a:ext cx="1645920" cy="228599"/>
          </a:xfrm>
          <a:prstGeom prst="line">
            <a:avLst/>
          </a:prstGeom>
          <a:noFill/>
          <a:ln w="21590">
            <a:solidFill>
              <a:srgbClr val="252525"/>
            </a:solidFill>
            <a:prstDash val="solid"/>
            <a:headEnd type="none"/>
            <a:tailEnd type="triangle"/>
          </a:ln>
        </p:spPr>
        <p:txBody>
          <a:bodyPr/>
          <a:lstStyle/>
          <a:p>
            <a:endParaRPr lang="de-CH"/>
          </a:p>
        </p:txBody>
      </p:sp>
      <p:sp>
        <p:nvSpPr>
          <p:cNvPr id="40" name="Shape 38"/>
          <p:cNvSpPr/>
          <p:nvPr/>
        </p:nvSpPr>
        <p:spPr>
          <a:xfrm flipH="1">
            <a:off x="3611880" y="4251960"/>
            <a:ext cx="1600200" cy="228600"/>
          </a:xfrm>
          <a:prstGeom prst="line">
            <a:avLst/>
          </a:prstGeom>
          <a:noFill/>
          <a:ln w="21590">
            <a:solidFill>
              <a:srgbClr val="252525"/>
            </a:solidFill>
            <a:prstDash val="solid"/>
            <a:headEnd type="none"/>
            <a:tailEnd type="triangle"/>
          </a:ln>
        </p:spPr>
        <p:txBody>
          <a:bodyPr/>
          <a:lstStyle/>
          <a:p>
            <a:endParaRPr lang="de-CH"/>
          </a:p>
        </p:txBody>
      </p:sp>
      <p:sp>
        <p:nvSpPr>
          <p:cNvPr id="41" name="Shape 39"/>
          <p:cNvSpPr/>
          <p:nvPr/>
        </p:nvSpPr>
        <p:spPr>
          <a:xfrm>
            <a:off x="3566160" y="5413248"/>
            <a:ext cx="0" cy="118872"/>
          </a:xfrm>
          <a:prstGeom prst="line">
            <a:avLst/>
          </a:prstGeom>
          <a:noFill/>
          <a:ln w="21590">
            <a:solidFill>
              <a:srgbClr val="252525"/>
            </a:solidFill>
            <a:prstDash val="solid"/>
            <a:headEnd type="none"/>
            <a:tailEnd type="triangle"/>
          </a:ln>
        </p:spPr>
        <p:txBody>
          <a:bodyPr/>
          <a:lstStyle/>
          <a:p>
            <a:endParaRPr lang="de-CH"/>
          </a:p>
        </p:txBody>
      </p:sp>
      <p:sp>
        <p:nvSpPr>
          <p:cNvPr id="42" name="Shape 40"/>
          <p:cNvSpPr/>
          <p:nvPr/>
        </p:nvSpPr>
        <p:spPr>
          <a:xfrm>
            <a:off x="594360" y="5468112"/>
            <a:ext cx="1325880" cy="658368"/>
          </a:xfrm>
          <a:prstGeom prst="roundRect">
            <a:avLst>
              <a:gd name="adj" fmla="val 8333"/>
            </a:avLst>
          </a:prstGeom>
          <a:solidFill>
            <a:srgbClr val="F5F5F5"/>
          </a:solidFill>
          <a:ln w="12700">
            <a:solidFill>
              <a:srgbClr val="D9DDE3"/>
            </a:solidFill>
            <a:prstDash val="solid"/>
          </a:ln>
        </p:spPr>
        <p:txBody>
          <a:bodyPr/>
          <a:lstStyle/>
          <a:p>
            <a:endParaRPr lang="de-CH"/>
          </a:p>
        </p:txBody>
      </p:sp>
      <p:sp>
        <p:nvSpPr>
          <p:cNvPr id="43" name="Text 41"/>
          <p:cNvSpPr/>
          <p:nvPr/>
        </p:nvSpPr>
        <p:spPr>
          <a:xfrm>
            <a:off x="731520" y="5605272"/>
            <a:ext cx="1051560" cy="201168"/>
          </a:xfrm>
          <a:prstGeom prst="rect">
            <a:avLst/>
          </a:prstGeom>
          <a:noFill/>
          <a:ln/>
        </p:spPr>
        <p:txBody>
          <a:bodyPr wrap="square" lIns="0" tIns="0" rIns="0" bIns="0" rtlCol="0" anchor="ctr"/>
          <a:lstStyle/>
          <a:p>
            <a:pPr marL="0" indent="0" algn="ctr">
              <a:buNone/>
            </a:pPr>
            <a:r>
              <a:rPr lang="de-CH" sz="1450" b="1" dirty="0">
                <a:solidFill>
                  <a:srgbClr val="111111"/>
                </a:solidFill>
                <a:latin typeface="Aptos Display" pitchFamily="34" charset="0"/>
                <a:ea typeface="Aptos Display" pitchFamily="34" charset="-122"/>
                <a:cs typeface="Aptos Display" pitchFamily="34" charset="-120"/>
              </a:rPr>
              <a:t>39 Tabellen</a:t>
            </a:r>
            <a:endParaRPr lang="de-CH" sz="1450" dirty="0"/>
          </a:p>
        </p:txBody>
      </p:sp>
      <p:sp>
        <p:nvSpPr>
          <p:cNvPr id="44" name="Text 42"/>
          <p:cNvSpPr/>
          <p:nvPr/>
        </p:nvSpPr>
        <p:spPr>
          <a:xfrm>
            <a:off x="731520" y="5843016"/>
            <a:ext cx="1051560" cy="182880"/>
          </a:xfrm>
          <a:prstGeom prst="rect">
            <a:avLst/>
          </a:prstGeom>
          <a:noFill/>
          <a:ln/>
        </p:spPr>
        <p:txBody>
          <a:bodyPr wrap="square" lIns="0" tIns="0" rIns="0" bIns="0" rtlCol="0" anchor="ctr"/>
          <a:lstStyle/>
          <a:p>
            <a:pPr marL="0" indent="0" algn="ctr">
              <a:buNone/>
            </a:pPr>
            <a:r>
              <a:rPr lang="de-CH" sz="1050" dirty="0">
                <a:solidFill>
                  <a:srgbClr val="666666"/>
                </a:solidFill>
                <a:latin typeface="Aptos" pitchFamily="34" charset="0"/>
                <a:ea typeface="Aptos" pitchFamily="34" charset="-122"/>
                <a:cs typeface="Aptos" pitchFamily="34" charset="-120"/>
              </a:rPr>
              <a:t>Gesamtumfang</a:t>
            </a:r>
            <a:endParaRPr lang="de-CH" sz="1050" dirty="0"/>
          </a:p>
        </p:txBody>
      </p:sp>
      <p:sp>
        <p:nvSpPr>
          <p:cNvPr id="45" name="Shape 43"/>
          <p:cNvSpPr/>
          <p:nvPr/>
        </p:nvSpPr>
        <p:spPr>
          <a:xfrm>
            <a:off x="6858000" y="1353312"/>
            <a:ext cx="27432" cy="4828032"/>
          </a:xfrm>
          <a:prstGeom prst="rect">
            <a:avLst/>
          </a:prstGeom>
          <a:solidFill>
            <a:srgbClr val="E5002B"/>
          </a:solidFill>
          <a:ln w="12700">
            <a:solidFill>
              <a:srgbClr val="E5002B"/>
            </a:solidFill>
            <a:prstDash val="solid"/>
          </a:ln>
        </p:spPr>
        <p:txBody>
          <a:bodyPr/>
          <a:lstStyle/>
          <a:p>
            <a:endParaRPr lang="de-CH"/>
          </a:p>
        </p:txBody>
      </p:sp>
      <p:sp>
        <p:nvSpPr>
          <p:cNvPr id="46" name="Shape 44"/>
          <p:cNvSpPr/>
          <p:nvPr/>
        </p:nvSpPr>
        <p:spPr>
          <a:xfrm>
            <a:off x="7040880" y="1417320"/>
            <a:ext cx="2002536" cy="4617720"/>
          </a:xfrm>
          <a:prstGeom prst="roundRect">
            <a:avLst>
              <a:gd name="adj" fmla="val 2162"/>
            </a:avLst>
          </a:prstGeom>
          <a:solidFill>
            <a:srgbClr val="FAFAFA"/>
          </a:solidFill>
          <a:ln w="12700">
            <a:solidFill>
              <a:srgbClr val="E8E8E8"/>
            </a:solidFill>
            <a:prstDash val="solid"/>
          </a:ln>
        </p:spPr>
        <p:txBody>
          <a:bodyPr/>
          <a:lstStyle/>
          <a:p>
            <a:endParaRPr lang="de-CH"/>
          </a:p>
        </p:txBody>
      </p:sp>
      <p:sp>
        <p:nvSpPr>
          <p:cNvPr id="47" name="Text 45"/>
          <p:cNvSpPr/>
          <p:nvPr/>
        </p:nvSpPr>
        <p:spPr>
          <a:xfrm>
            <a:off x="7242048" y="1664208"/>
            <a:ext cx="1554480" cy="274320"/>
          </a:xfrm>
          <a:prstGeom prst="rect">
            <a:avLst/>
          </a:prstGeom>
          <a:noFill/>
          <a:ln/>
        </p:spPr>
        <p:txBody>
          <a:bodyPr wrap="square" lIns="0" tIns="0" rIns="0" bIns="0" rtlCol="0" anchor="ctr"/>
          <a:lstStyle/>
          <a:p>
            <a:pPr marL="0" indent="0">
              <a:buNone/>
            </a:pPr>
            <a:r>
              <a:rPr lang="de-CH" sz="1550" b="1" dirty="0">
                <a:solidFill>
                  <a:srgbClr val="E5002B"/>
                </a:solidFill>
                <a:latin typeface="Aptos Display" pitchFamily="34" charset="0"/>
                <a:ea typeface="Aptos Display" pitchFamily="34" charset="-122"/>
                <a:cs typeface="Aptos Display" pitchFamily="34" charset="-120"/>
              </a:rPr>
              <a:t>Zentrale Punkte</a:t>
            </a:r>
            <a:endParaRPr lang="de-CH" sz="1550" dirty="0"/>
          </a:p>
        </p:txBody>
      </p:sp>
      <p:sp>
        <p:nvSpPr>
          <p:cNvPr id="48" name="Shape 46"/>
          <p:cNvSpPr/>
          <p:nvPr/>
        </p:nvSpPr>
        <p:spPr>
          <a:xfrm>
            <a:off x="7251192" y="2112264"/>
            <a:ext cx="73152" cy="73152"/>
          </a:xfrm>
          <a:prstGeom prst="rect">
            <a:avLst/>
          </a:prstGeom>
          <a:solidFill>
            <a:srgbClr val="E5002B"/>
          </a:solidFill>
          <a:ln w="12700">
            <a:solidFill>
              <a:srgbClr val="E5002B"/>
            </a:solidFill>
            <a:prstDash val="solid"/>
          </a:ln>
        </p:spPr>
        <p:txBody>
          <a:bodyPr/>
          <a:lstStyle/>
          <a:p>
            <a:endParaRPr lang="de-CH"/>
          </a:p>
        </p:txBody>
      </p:sp>
      <p:sp>
        <p:nvSpPr>
          <p:cNvPr id="49" name="Text 47"/>
          <p:cNvSpPr/>
          <p:nvPr/>
        </p:nvSpPr>
        <p:spPr>
          <a:xfrm>
            <a:off x="7424928" y="1984248"/>
            <a:ext cx="1097280" cy="320040"/>
          </a:xfrm>
          <a:prstGeom prst="rect">
            <a:avLst/>
          </a:prstGeom>
          <a:noFill/>
          <a:ln/>
        </p:spPr>
        <p:txBody>
          <a:bodyPr wrap="square" lIns="0" tIns="0" rIns="0" bIns="0" rtlCol="0" anchor="ctr">
            <a:normAutofit/>
          </a:bodyPr>
          <a:lstStyle/>
          <a:p>
            <a:pPr marL="0" indent="0">
              <a:buNone/>
            </a:pPr>
            <a:r>
              <a:rPr lang="de-CH" sz="1080" dirty="0">
                <a:solidFill>
                  <a:srgbClr val="252525"/>
                </a:solidFill>
                <a:latin typeface="Aptos" pitchFamily="34" charset="0"/>
                <a:ea typeface="Aptos" pitchFamily="34" charset="-122"/>
                <a:cs typeface="Aptos" pitchFamily="34" charset="-120"/>
              </a:rPr>
              <a:t>fachlich gegliedert</a:t>
            </a:r>
            <a:endParaRPr lang="de-CH" sz="1080" dirty="0"/>
          </a:p>
        </p:txBody>
      </p:sp>
      <p:sp>
        <p:nvSpPr>
          <p:cNvPr id="50" name="Shape 48"/>
          <p:cNvSpPr/>
          <p:nvPr/>
        </p:nvSpPr>
        <p:spPr>
          <a:xfrm>
            <a:off x="7251192" y="2606040"/>
            <a:ext cx="73152" cy="73152"/>
          </a:xfrm>
          <a:prstGeom prst="rect">
            <a:avLst/>
          </a:prstGeom>
          <a:solidFill>
            <a:srgbClr val="E5002B"/>
          </a:solidFill>
          <a:ln w="12700">
            <a:solidFill>
              <a:srgbClr val="E5002B"/>
            </a:solidFill>
            <a:prstDash val="solid"/>
          </a:ln>
        </p:spPr>
        <p:txBody>
          <a:bodyPr/>
          <a:lstStyle/>
          <a:p>
            <a:endParaRPr lang="de-CH"/>
          </a:p>
        </p:txBody>
      </p:sp>
      <p:sp>
        <p:nvSpPr>
          <p:cNvPr id="51" name="Text 49"/>
          <p:cNvSpPr/>
          <p:nvPr/>
        </p:nvSpPr>
        <p:spPr>
          <a:xfrm>
            <a:off x="7424928" y="2519172"/>
            <a:ext cx="1581912" cy="320040"/>
          </a:xfrm>
          <a:prstGeom prst="rect">
            <a:avLst/>
          </a:prstGeom>
          <a:noFill/>
          <a:ln/>
        </p:spPr>
        <p:txBody>
          <a:bodyPr wrap="square" lIns="0" tIns="0" rIns="0" bIns="0" rtlCol="0" anchor="ctr">
            <a:normAutofit/>
          </a:bodyPr>
          <a:lstStyle/>
          <a:p>
            <a:pPr marL="0" indent="0">
              <a:buNone/>
            </a:pPr>
            <a:r>
              <a:rPr lang="de-CH" sz="1080" dirty="0">
                <a:solidFill>
                  <a:srgbClr val="252525"/>
                </a:solidFill>
                <a:latin typeface="Aptos" pitchFamily="34" charset="0"/>
                <a:ea typeface="Aptos" pitchFamily="34" charset="-122"/>
                <a:cs typeface="Aptos" pitchFamily="34" charset="-120"/>
              </a:rPr>
              <a:t>Spieler als zentrale Entität</a:t>
            </a:r>
            <a:endParaRPr lang="de-CH" sz="1080" dirty="0"/>
          </a:p>
        </p:txBody>
      </p:sp>
      <p:sp>
        <p:nvSpPr>
          <p:cNvPr id="52" name="Shape 50"/>
          <p:cNvSpPr/>
          <p:nvPr/>
        </p:nvSpPr>
        <p:spPr>
          <a:xfrm>
            <a:off x="7251192" y="3099816"/>
            <a:ext cx="73152" cy="73152"/>
          </a:xfrm>
          <a:prstGeom prst="rect">
            <a:avLst/>
          </a:prstGeom>
          <a:solidFill>
            <a:srgbClr val="E5002B"/>
          </a:solidFill>
          <a:ln w="12700">
            <a:solidFill>
              <a:srgbClr val="E5002B"/>
            </a:solidFill>
            <a:prstDash val="solid"/>
          </a:ln>
        </p:spPr>
        <p:txBody>
          <a:bodyPr/>
          <a:lstStyle/>
          <a:p>
            <a:endParaRPr lang="de-CH"/>
          </a:p>
        </p:txBody>
      </p:sp>
      <p:sp>
        <p:nvSpPr>
          <p:cNvPr id="53" name="Text 51"/>
          <p:cNvSpPr/>
          <p:nvPr/>
        </p:nvSpPr>
        <p:spPr>
          <a:xfrm>
            <a:off x="7424928" y="3054096"/>
            <a:ext cx="1472184" cy="320040"/>
          </a:xfrm>
          <a:prstGeom prst="rect">
            <a:avLst/>
          </a:prstGeom>
          <a:noFill/>
          <a:ln/>
        </p:spPr>
        <p:txBody>
          <a:bodyPr wrap="square" lIns="0" tIns="0" rIns="0" bIns="0" rtlCol="0" anchor="ctr">
            <a:normAutofit lnSpcReduction="10000"/>
          </a:bodyPr>
          <a:lstStyle/>
          <a:p>
            <a:pPr marL="0" indent="0">
              <a:buNone/>
            </a:pPr>
            <a:r>
              <a:rPr lang="de-CH" sz="1080" dirty="0">
                <a:solidFill>
                  <a:srgbClr val="252525"/>
                </a:solidFill>
                <a:latin typeface="Aptos" pitchFamily="34" charset="0"/>
                <a:ea typeface="Aptos" pitchFamily="34" charset="-122"/>
                <a:cs typeface="Aptos" pitchFamily="34" charset="-120"/>
              </a:rPr>
              <a:t>Stammdaten getrennt von Saison-Daten</a:t>
            </a:r>
            <a:endParaRPr lang="de-CH" sz="1080" dirty="0"/>
          </a:p>
        </p:txBody>
      </p:sp>
      <p:sp>
        <p:nvSpPr>
          <p:cNvPr id="54" name="Shape 52"/>
          <p:cNvSpPr/>
          <p:nvPr/>
        </p:nvSpPr>
        <p:spPr>
          <a:xfrm>
            <a:off x="7251192" y="3593592"/>
            <a:ext cx="73152" cy="73152"/>
          </a:xfrm>
          <a:prstGeom prst="rect">
            <a:avLst/>
          </a:prstGeom>
          <a:solidFill>
            <a:srgbClr val="E5002B"/>
          </a:solidFill>
          <a:ln w="12700">
            <a:solidFill>
              <a:srgbClr val="E5002B"/>
            </a:solidFill>
            <a:prstDash val="solid"/>
          </a:ln>
        </p:spPr>
        <p:txBody>
          <a:bodyPr/>
          <a:lstStyle/>
          <a:p>
            <a:endParaRPr lang="de-CH"/>
          </a:p>
        </p:txBody>
      </p:sp>
      <p:sp>
        <p:nvSpPr>
          <p:cNvPr id="55" name="Text 53"/>
          <p:cNvSpPr/>
          <p:nvPr/>
        </p:nvSpPr>
        <p:spPr>
          <a:xfrm>
            <a:off x="7424928" y="3547872"/>
            <a:ext cx="1472184" cy="320040"/>
          </a:xfrm>
          <a:prstGeom prst="rect">
            <a:avLst/>
          </a:prstGeom>
          <a:noFill/>
          <a:ln/>
        </p:spPr>
        <p:txBody>
          <a:bodyPr wrap="square" lIns="0" tIns="0" rIns="0" bIns="0" rtlCol="0" anchor="ctr">
            <a:noAutofit/>
          </a:bodyPr>
          <a:lstStyle/>
          <a:p>
            <a:pPr marL="0" indent="0">
              <a:buNone/>
            </a:pPr>
            <a:r>
              <a:rPr lang="de-CH" sz="1080" dirty="0">
                <a:solidFill>
                  <a:srgbClr val="252525"/>
                </a:solidFill>
                <a:latin typeface="Aptos" pitchFamily="34" charset="0"/>
                <a:ea typeface="Aptos" pitchFamily="34" charset="-122"/>
                <a:cs typeface="Aptos" pitchFamily="34" charset="-120"/>
              </a:rPr>
              <a:t>Liga und Turnier nutzen gleiche Spieltabellen</a:t>
            </a:r>
            <a:endParaRPr lang="de-CH" sz="1080" dirty="0"/>
          </a:p>
        </p:txBody>
      </p:sp>
      <p:sp>
        <p:nvSpPr>
          <p:cNvPr id="56" name="Shape 54"/>
          <p:cNvSpPr/>
          <p:nvPr/>
        </p:nvSpPr>
        <p:spPr>
          <a:xfrm>
            <a:off x="7251192" y="4087368"/>
            <a:ext cx="73152" cy="73152"/>
          </a:xfrm>
          <a:prstGeom prst="rect">
            <a:avLst/>
          </a:prstGeom>
          <a:solidFill>
            <a:srgbClr val="E5002B"/>
          </a:solidFill>
          <a:ln w="12700">
            <a:solidFill>
              <a:srgbClr val="E5002B"/>
            </a:solidFill>
            <a:prstDash val="solid"/>
          </a:ln>
        </p:spPr>
        <p:txBody>
          <a:bodyPr/>
          <a:lstStyle/>
          <a:p>
            <a:endParaRPr lang="de-CH"/>
          </a:p>
        </p:txBody>
      </p:sp>
      <p:sp>
        <p:nvSpPr>
          <p:cNvPr id="57" name="Text 55"/>
          <p:cNvSpPr/>
          <p:nvPr/>
        </p:nvSpPr>
        <p:spPr>
          <a:xfrm>
            <a:off x="7424928" y="4041648"/>
            <a:ext cx="1380744" cy="320040"/>
          </a:xfrm>
          <a:prstGeom prst="rect">
            <a:avLst/>
          </a:prstGeom>
          <a:noFill/>
          <a:ln/>
        </p:spPr>
        <p:txBody>
          <a:bodyPr wrap="square" lIns="0" tIns="0" rIns="0" bIns="0" rtlCol="0" anchor="ctr">
            <a:noAutofit/>
          </a:bodyPr>
          <a:lstStyle/>
          <a:p>
            <a:pPr marL="0" indent="0">
              <a:buNone/>
            </a:pPr>
            <a:r>
              <a:rPr lang="de-CH" sz="1080" dirty="0">
                <a:solidFill>
                  <a:srgbClr val="252525"/>
                </a:solidFill>
                <a:latin typeface="Aptos" pitchFamily="34" charset="0"/>
                <a:ea typeface="Aptos" pitchFamily="34" charset="-122"/>
                <a:cs typeface="Aptos" pitchFamily="34" charset="-120"/>
              </a:rPr>
              <a:t>Elo-Historie basiert auf Einzelspielen</a:t>
            </a:r>
            <a:endParaRPr lang="de-CH" sz="1080" dirty="0"/>
          </a:p>
        </p:txBody>
      </p:sp>
      <p:sp>
        <p:nvSpPr>
          <p:cNvPr id="58" name="Shape 56"/>
          <p:cNvSpPr/>
          <p:nvPr/>
        </p:nvSpPr>
        <p:spPr>
          <a:xfrm>
            <a:off x="7242048" y="4617720"/>
            <a:ext cx="1234440" cy="0"/>
          </a:xfrm>
          <a:prstGeom prst="line">
            <a:avLst/>
          </a:prstGeom>
          <a:noFill/>
          <a:ln w="12700">
            <a:solidFill>
              <a:srgbClr val="D9DDE3"/>
            </a:solidFill>
            <a:prstDash val="solid"/>
          </a:ln>
        </p:spPr>
        <p:txBody>
          <a:bodyPr/>
          <a:lstStyle/>
          <a:p>
            <a:endParaRPr lang="de-CH"/>
          </a:p>
        </p:txBody>
      </p:sp>
      <p:sp>
        <p:nvSpPr>
          <p:cNvPr id="59" name="Text 57"/>
          <p:cNvSpPr/>
          <p:nvPr/>
        </p:nvSpPr>
        <p:spPr>
          <a:xfrm>
            <a:off x="7242048" y="4773168"/>
            <a:ext cx="1280160" cy="219456"/>
          </a:xfrm>
          <a:prstGeom prst="rect">
            <a:avLst/>
          </a:prstGeom>
          <a:noFill/>
          <a:ln/>
        </p:spPr>
        <p:txBody>
          <a:bodyPr wrap="square" lIns="0" tIns="0" rIns="0" bIns="0" rtlCol="0" anchor="ctr"/>
          <a:lstStyle/>
          <a:p>
            <a:pPr marL="0" indent="0">
              <a:buNone/>
            </a:pPr>
            <a:r>
              <a:rPr lang="de-CH" sz="1350" b="1" dirty="0">
                <a:solidFill>
                  <a:srgbClr val="111111"/>
                </a:solidFill>
                <a:latin typeface="Aptos Display" pitchFamily="34" charset="0"/>
                <a:ea typeface="Aptos Display" pitchFamily="34" charset="-122"/>
                <a:cs typeface="Aptos Display" pitchFamily="34" charset="-120"/>
              </a:rPr>
              <a:t>Beispiel: Spieler</a:t>
            </a:r>
            <a:endParaRPr lang="de-CH" sz="1350" dirty="0"/>
          </a:p>
        </p:txBody>
      </p:sp>
      <p:sp>
        <p:nvSpPr>
          <p:cNvPr id="60" name="Shape 58"/>
          <p:cNvSpPr/>
          <p:nvPr/>
        </p:nvSpPr>
        <p:spPr>
          <a:xfrm>
            <a:off x="7351776" y="5120640"/>
            <a:ext cx="786384" cy="256032"/>
          </a:xfrm>
          <a:prstGeom prst="roundRect">
            <a:avLst>
              <a:gd name="adj" fmla="val 14286"/>
            </a:avLst>
          </a:prstGeom>
          <a:solidFill>
            <a:srgbClr val="FFF0F3"/>
          </a:solidFill>
          <a:ln w="12700">
            <a:solidFill>
              <a:srgbClr val="E5002B"/>
            </a:solidFill>
            <a:prstDash val="solid"/>
          </a:ln>
        </p:spPr>
        <p:txBody>
          <a:bodyPr/>
          <a:lstStyle/>
          <a:p>
            <a:endParaRPr lang="de-CH"/>
          </a:p>
        </p:txBody>
      </p:sp>
      <p:sp>
        <p:nvSpPr>
          <p:cNvPr id="61" name="Text 59"/>
          <p:cNvSpPr/>
          <p:nvPr/>
        </p:nvSpPr>
        <p:spPr>
          <a:xfrm>
            <a:off x="7360920" y="5175504"/>
            <a:ext cx="768096" cy="109728"/>
          </a:xfrm>
          <a:prstGeom prst="rect">
            <a:avLst/>
          </a:prstGeom>
          <a:noFill/>
          <a:ln/>
        </p:spPr>
        <p:txBody>
          <a:bodyPr wrap="square" lIns="0" tIns="0" rIns="0" bIns="0" rtlCol="0" anchor="ctr"/>
          <a:lstStyle/>
          <a:p>
            <a:pPr marL="0" indent="0" algn="ctr">
              <a:buNone/>
            </a:pPr>
            <a:r>
              <a:rPr lang="de-CH" sz="950" b="1" dirty="0">
                <a:solidFill>
                  <a:srgbClr val="111111"/>
                </a:solidFill>
                <a:latin typeface="Aptos" pitchFamily="34" charset="0"/>
                <a:ea typeface="Aptos" pitchFamily="34" charset="-122"/>
                <a:cs typeface="Aptos" pitchFamily="34" charset="-120"/>
              </a:rPr>
              <a:t>Spieler</a:t>
            </a:r>
            <a:endParaRPr lang="de-CH" sz="950" dirty="0"/>
          </a:p>
        </p:txBody>
      </p:sp>
      <p:sp>
        <p:nvSpPr>
          <p:cNvPr id="62" name="Shape 60"/>
          <p:cNvSpPr/>
          <p:nvPr/>
        </p:nvSpPr>
        <p:spPr>
          <a:xfrm>
            <a:off x="7744968" y="5376672"/>
            <a:ext cx="0" cy="502920"/>
          </a:xfrm>
          <a:prstGeom prst="line">
            <a:avLst/>
          </a:prstGeom>
          <a:noFill/>
          <a:ln w="12700">
            <a:solidFill>
              <a:srgbClr val="111111"/>
            </a:solidFill>
            <a:prstDash val="solid"/>
          </a:ln>
        </p:spPr>
        <p:txBody>
          <a:bodyPr/>
          <a:lstStyle/>
          <a:p>
            <a:endParaRPr lang="de-CH"/>
          </a:p>
        </p:txBody>
      </p:sp>
      <p:sp>
        <p:nvSpPr>
          <p:cNvPr id="63" name="Shape 61"/>
          <p:cNvSpPr/>
          <p:nvPr/>
        </p:nvSpPr>
        <p:spPr>
          <a:xfrm>
            <a:off x="7744968" y="5596128"/>
            <a:ext cx="320040" cy="0"/>
          </a:xfrm>
          <a:prstGeom prst="line">
            <a:avLst/>
          </a:prstGeom>
          <a:noFill/>
          <a:ln w="12700">
            <a:solidFill>
              <a:srgbClr val="111111"/>
            </a:solidFill>
            <a:prstDash val="solid"/>
          </a:ln>
        </p:spPr>
        <p:txBody>
          <a:bodyPr/>
          <a:lstStyle/>
          <a:p>
            <a:endParaRPr lang="de-CH"/>
          </a:p>
        </p:txBody>
      </p:sp>
      <p:sp>
        <p:nvSpPr>
          <p:cNvPr id="64" name="Shape 62"/>
          <p:cNvSpPr/>
          <p:nvPr/>
        </p:nvSpPr>
        <p:spPr>
          <a:xfrm>
            <a:off x="7744968" y="5879592"/>
            <a:ext cx="320040" cy="0"/>
          </a:xfrm>
          <a:prstGeom prst="line">
            <a:avLst/>
          </a:prstGeom>
          <a:noFill/>
          <a:ln w="12700">
            <a:solidFill>
              <a:srgbClr val="111111"/>
            </a:solidFill>
            <a:prstDash val="solid"/>
          </a:ln>
        </p:spPr>
        <p:txBody>
          <a:bodyPr/>
          <a:lstStyle/>
          <a:p>
            <a:endParaRPr lang="de-CH"/>
          </a:p>
        </p:txBody>
      </p:sp>
      <p:sp>
        <p:nvSpPr>
          <p:cNvPr id="65" name="Shape 63"/>
          <p:cNvSpPr/>
          <p:nvPr/>
        </p:nvSpPr>
        <p:spPr>
          <a:xfrm>
            <a:off x="8065008" y="5468112"/>
            <a:ext cx="640080" cy="256032"/>
          </a:xfrm>
          <a:prstGeom prst="roundRect">
            <a:avLst>
              <a:gd name="adj" fmla="val 14286"/>
            </a:avLst>
          </a:prstGeom>
          <a:solidFill>
            <a:srgbClr val="FFF0F3"/>
          </a:solidFill>
          <a:ln w="12700">
            <a:solidFill>
              <a:srgbClr val="E5002B"/>
            </a:solidFill>
            <a:prstDash val="solid"/>
          </a:ln>
        </p:spPr>
        <p:txBody>
          <a:bodyPr/>
          <a:lstStyle/>
          <a:p>
            <a:endParaRPr lang="de-CH"/>
          </a:p>
        </p:txBody>
      </p:sp>
      <p:sp>
        <p:nvSpPr>
          <p:cNvPr id="66" name="Text 64"/>
          <p:cNvSpPr/>
          <p:nvPr/>
        </p:nvSpPr>
        <p:spPr>
          <a:xfrm>
            <a:off x="8074152" y="5522976"/>
            <a:ext cx="621792" cy="109728"/>
          </a:xfrm>
          <a:prstGeom prst="rect">
            <a:avLst/>
          </a:prstGeom>
          <a:noFill/>
          <a:ln/>
        </p:spPr>
        <p:txBody>
          <a:bodyPr wrap="square" lIns="0" tIns="0" rIns="0" bIns="0" rtlCol="0" anchor="ctr"/>
          <a:lstStyle/>
          <a:p>
            <a:pPr marL="0" indent="0" algn="ctr">
              <a:buNone/>
            </a:pPr>
            <a:r>
              <a:rPr lang="de-CH" sz="850" b="1" dirty="0">
                <a:solidFill>
                  <a:srgbClr val="111111"/>
                </a:solidFill>
                <a:latin typeface="Aptos" pitchFamily="34" charset="0"/>
                <a:ea typeface="Aptos" pitchFamily="34" charset="-122"/>
                <a:cs typeface="Aptos" pitchFamily="34" charset="-120"/>
              </a:rPr>
              <a:t>Saison</a:t>
            </a:r>
            <a:endParaRPr lang="de-CH" sz="850" dirty="0"/>
          </a:p>
        </p:txBody>
      </p:sp>
      <p:sp>
        <p:nvSpPr>
          <p:cNvPr id="67" name="Shape 65"/>
          <p:cNvSpPr/>
          <p:nvPr/>
        </p:nvSpPr>
        <p:spPr>
          <a:xfrm>
            <a:off x="8065008" y="5751576"/>
            <a:ext cx="640080" cy="256032"/>
          </a:xfrm>
          <a:prstGeom prst="roundRect">
            <a:avLst>
              <a:gd name="adj" fmla="val 14286"/>
            </a:avLst>
          </a:prstGeom>
          <a:solidFill>
            <a:srgbClr val="FFF0F3"/>
          </a:solidFill>
          <a:ln w="12700">
            <a:solidFill>
              <a:srgbClr val="E5002B"/>
            </a:solidFill>
            <a:prstDash val="solid"/>
          </a:ln>
        </p:spPr>
        <p:txBody>
          <a:bodyPr/>
          <a:lstStyle/>
          <a:p>
            <a:endParaRPr lang="de-CH"/>
          </a:p>
        </p:txBody>
      </p:sp>
      <p:sp>
        <p:nvSpPr>
          <p:cNvPr id="68" name="Text 66"/>
          <p:cNvSpPr/>
          <p:nvPr/>
        </p:nvSpPr>
        <p:spPr>
          <a:xfrm>
            <a:off x="8074152" y="5806440"/>
            <a:ext cx="621792" cy="109728"/>
          </a:xfrm>
          <a:prstGeom prst="rect">
            <a:avLst/>
          </a:prstGeom>
          <a:noFill/>
          <a:ln/>
        </p:spPr>
        <p:txBody>
          <a:bodyPr wrap="square" lIns="0" tIns="0" rIns="0" bIns="0" rtlCol="0" anchor="ctr"/>
          <a:lstStyle/>
          <a:p>
            <a:pPr marL="0" indent="0" algn="ctr">
              <a:buNone/>
            </a:pPr>
            <a:r>
              <a:rPr lang="de-CH" sz="850" b="1" dirty="0">
                <a:solidFill>
                  <a:srgbClr val="111111"/>
                </a:solidFill>
                <a:latin typeface="Aptos" pitchFamily="34" charset="0"/>
                <a:ea typeface="Aptos" pitchFamily="34" charset="-122"/>
                <a:cs typeface="Aptos" pitchFamily="34" charset="-120"/>
              </a:rPr>
              <a:t>Verein</a:t>
            </a:r>
            <a:endParaRPr lang="de-CH" sz="850" dirty="0"/>
          </a:p>
        </p:txBody>
      </p:sp>
      <p:sp>
        <p:nvSpPr>
          <p:cNvPr id="69"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4</a:t>
            </a:fld>
            <a:endParaRPr lang="de-CH"/>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rPr>
              <a:t>Datenintegrität</a:t>
            </a:r>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77777"/>
                </a:solidFill>
                <a:latin typeface="Aptos"/>
                <a:ea typeface="Aptos"/>
                <a:cs typeface="Aptos"/>
              </a:defRPr>
            </a:lvl1pPr>
          </a:lstStyle>
          <a:p>
            <a:pPr algn="l"/>
            <a:fld id="{F7021451-1387-4CA6-816F-3879F97B5CBC}" type="slidenum">
              <a:rPr lang="de-CH" b="0"/>
              <a:t>5</a:t>
            </a:fld>
            <a:endParaRPr lang="de-CH"/>
          </a:p>
        </p:txBody>
      </p:sp>
      <p:sp>
        <p:nvSpPr>
          <p:cNvPr id="26" name="TextBox 25"/>
          <p:cNvSpPr txBox="1"/>
          <p:nvPr/>
        </p:nvSpPr>
        <p:spPr>
          <a:xfrm>
            <a:off x="502920" y="1014984"/>
            <a:ext cx="3470822" cy="292388"/>
          </a:xfrm>
          <a:prstGeom prst="rect">
            <a:avLst/>
          </a:prstGeom>
          <a:noFill/>
        </p:spPr>
        <p:txBody>
          <a:bodyPr wrap="none">
            <a:spAutoFit/>
          </a:bodyPr>
          <a:lstStyle/>
          <a:p>
            <a:r>
              <a:rPr sz="1300" dirty="0">
                <a:solidFill>
                  <a:srgbClr val="5F5F5F"/>
                </a:solidFill>
                <a:latin typeface="Arial"/>
              </a:rPr>
              <a:t>Drei Schutzebenen mit konkreten Beispielen</a:t>
            </a:r>
          </a:p>
        </p:txBody>
      </p:sp>
      <p:sp>
        <p:nvSpPr>
          <p:cNvPr id="27" name="Rounded Rectangle 26"/>
          <p:cNvSpPr/>
          <p:nvPr/>
        </p:nvSpPr>
        <p:spPr>
          <a:xfrm>
            <a:off x="502920" y="1325880"/>
            <a:ext cx="2606040" cy="2606040"/>
          </a:xfrm>
          <a:prstGeom prst="roundRect">
            <a:avLst/>
          </a:prstGeom>
          <a:solidFill>
            <a:srgbClr val="F8F8F8"/>
          </a:solidFill>
          <a:ln w="16510">
            <a:solidFill>
              <a:srgbClr val="E200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67512" y="1481328"/>
            <a:ext cx="393192" cy="393192"/>
          </a:xfrm>
          <a:prstGeom prst="ellipse">
            <a:avLst/>
          </a:prstGeom>
          <a:solidFill>
            <a:srgbClr val="E2001A"/>
          </a:solidFill>
          <a:ln>
            <a:solidFill>
              <a:srgbClr val="E200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7512" y="1527048"/>
            <a:ext cx="393192" cy="228600"/>
          </a:xfrm>
          <a:prstGeom prst="rect">
            <a:avLst/>
          </a:prstGeom>
          <a:noFill/>
        </p:spPr>
        <p:txBody>
          <a:bodyPr wrap="square" lIns="18288" tIns="9144" rIns="18288" bIns="9144">
            <a:spAutoFit/>
          </a:bodyPr>
          <a:lstStyle/>
          <a:p>
            <a:pPr algn="ctr"/>
            <a:r>
              <a:rPr sz="1400" b="1">
                <a:solidFill>
                  <a:srgbClr val="FFFFFF"/>
                </a:solidFill>
                <a:latin typeface="Arial"/>
              </a:rPr>
              <a:t>1</a:t>
            </a:r>
          </a:p>
        </p:txBody>
      </p:sp>
      <p:sp>
        <p:nvSpPr>
          <p:cNvPr id="30" name="TextBox 29"/>
          <p:cNvSpPr txBox="1"/>
          <p:nvPr/>
        </p:nvSpPr>
        <p:spPr>
          <a:xfrm>
            <a:off x="1188720" y="1463039"/>
            <a:ext cx="1737360" cy="475488"/>
          </a:xfrm>
          <a:prstGeom prst="rect">
            <a:avLst/>
          </a:prstGeom>
          <a:noFill/>
        </p:spPr>
        <p:txBody>
          <a:bodyPr wrap="square" lIns="18288" tIns="9144" rIns="18288" bIns="9144">
            <a:spAutoFit/>
          </a:bodyPr>
          <a:lstStyle/>
          <a:p>
            <a:r>
              <a:rPr sz="1750" b="1">
                <a:solidFill>
                  <a:srgbClr val="191919"/>
                </a:solidFill>
                <a:latin typeface="Arial"/>
              </a:rPr>
              <a:t>Beziehungen
stimmen</a:t>
            </a:r>
          </a:p>
        </p:txBody>
      </p:sp>
      <p:sp>
        <p:nvSpPr>
          <p:cNvPr id="31" name="TextBox 30"/>
          <p:cNvSpPr txBox="1"/>
          <p:nvPr/>
        </p:nvSpPr>
        <p:spPr>
          <a:xfrm>
            <a:off x="731520" y="2075688"/>
            <a:ext cx="2148840" cy="256032"/>
          </a:xfrm>
          <a:prstGeom prst="rect">
            <a:avLst/>
          </a:prstGeom>
          <a:noFill/>
        </p:spPr>
        <p:txBody>
          <a:bodyPr wrap="square" lIns="18288" tIns="9144" rIns="18288" bIns="9144">
            <a:spAutoFit/>
          </a:bodyPr>
          <a:lstStyle/>
          <a:p>
            <a:r>
              <a:rPr sz="1300" b="1">
                <a:solidFill>
                  <a:srgbClr val="191919"/>
                </a:solidFill>
                <a:latin typeface="Arial"/>
              </a:rPr>
              <a:t>Mechanismus</a:t>
            </a:r>
          </a:p>
        </p:txBody>
      </p:sp>
      <p:sp>
        <p:nvSpPr>
          <p:cNvPr id="32" name="TextBox 31"/>
          <p:cNvSpPr txBox="1"/>
          <p:nvPr/>
        </p:nvSpPr>
        <p:spPr>
          <a:xfrm>
            <a:off x="731520" y="2359152"/>
            <a:ext cx="2148840" cy="438912"/>
          </a:xfrm>
          <a:prstGeom prst="rect">
            <a:avLst/>
          </a:prstGeom>
          <a:noFill/>
        </p:spPr>
        <p:txBody>
          <a:bodyPr wrap="square" lIns="18288" tIns="9144" rIns="18288" bIns="9144">
            <a:spAutoFit/>
          </a:bodyPr>
          <a:lstStyle/>
          <a:p>
            <a:r>
              <a:rPr sz="1350" b="0">
                <a:solidFill>
                  <a:srgbClr val="505050"/>
                </a:solidFill>
                <a:latin typeface="Arial"/>
              </a:rPr>
              <a:t>PRIMARY KEY +
FOREIGN KEY</a:t>
            </a:r>
          </a:p>
        </p:txBody>
      </p:sp>
      <p:sp>
        <p:nvSpPr>
          <p:cNvPr id="33" name="TextBox 32"/>
          <p:cNvSpPr txBox="1"/>
          <p:nvPr/>
        </p:nvSpPr>
        <p:spPr>
          <a:xfrm>
            <a:off x="731520" y="2898648"/>
            <a:ext cx="2148840" cy="256032"/>
          </a:xfrm>
          <a:prstGeom prst="rect">
            <a:avLst/>
          </a:prstGeom>
          <a:noFill/>
        </p:spPr>
        <p:txBody>
          <a:bodyPr wrap="square" lIns="18288" tIns="9144" rIns="18288" bIns="9144">
            <a:spAutoFit/>
          </a:bodyPr>
          <a:lstStyle/>
          <a:p>
            <a:r>
              <a:rPr sz="1300" b="1">
                <a:solidFill>
                  <a:srgbClr val="191919"/>
                </a:solidFill>
                <a:latin typeface="Arial"/>
              </a:rPr>
              <a:t>Beispiel</a:t>
            </a:r>
          </a:p>
        </p:txBody>
      </p:sp>
      <p:sp>
        <p:nvSpPr>
          <p:cNvPr id="34" name="TextBox 33"/>
          <p:cNvSpPr txBox="1"/>
          <p:nvPr/>
        </p:nvSpPr>
        <p:spPr>
          <a:xfrm>
            <a:off x="731520" y="3172968"/>
            <a:ext cx="2148840" cy="704088"/>
          </a:xfrm>
          <a:prstGeom prst="rect">
            <a:avLst/>
          </a:prstGeom>
          <a:noFill/>
        </p:spPr>
        <p:txBody>
          <a:bodyPr wrap="square" lIns="18288" tIns="9144" rIns="18288" bIns="9144">
            <a:spAutoFit/>
          </a:bodyPr>
          <a:lstStyle/>
          <a:p>
            <a:r>
              <a:rPr sz="1320" b="0">
                <a:solidFill>
                  <a:srgbClr val="505050"/>
                </a:solidFill>
                <a:latin typeface="Arial"/>
              </a:rPr>
              <a:t>SpielerVerein braucht gültige Spieler, Saison und Club.</a:t>
            </a:r>
          </a:p>
        </p:txBody>
      </p:sp>
      <p:sp>
        <p:nvSpPr>
          <p:cNvPr id="35" name="Rounded Rectangle 34"/>
          <p:cNvSpPr/>
          <p:nvPr/>
        </p:nvSpPr>
        <p:spPr>
          <a:xfrm>
            <a:off x="3273552" y="1325880"/>
            <a:ext cx="2606040" cy="2606040"/>
          </a:xfrm>
          <a:prstGeom prst="roundRect">
            <a:avLst/>
          </a:prstGeom>
          <a:solidFill>
            <a:srgbClr val="FFEBEE"/>
          </a:solidFill>
          <a:ln w="16510">
            <a:solidFill>
              <a:srgbClr val="E200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3438144" y="1481328"/>
            <a:ext cx="393192" cy="393192"/>
          </a:xfrm>
          <a:prstGeom prst="ellipse">
            <a:avLst/>
          </a:prstGeom>
          <a:solidFill>
            <a:srgbClr val="E2001A"/>
          </a:solidFill>
          <a:ln>
            <a:solidFill>
              <a:srgbClr val="E200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1527048"/>
            <a:ext cx="393192" cy="228600"/>
          </a:xfrm>
          <a:prstGeom prst="rect">
            <a:avLst/>
          </a:prstGeom>
          <a:noFill/>
        </p:spPr>
        <p:txBody>
          <a:bodyPr wrap="square" lIns="18288" tIns="9144" rIns="18288" bIns="9144">
            <a:spAutoFit/>
          </a:bodyPr>
          <a:lstStyle/>
          <a:p>
            <a:pPr algn="ctr"/>
            <a:r>
              <a:rPr sz="1400" b="1">
                <a:solidFill>
                  <a:srgbClr val="FFFFFF"/>
                </a:solidFill>
                <a:latin typeface="Arial"/>
              </a:rPr>
              <a:t>2</a:t>
            </a:r>
          </a:p>
        </p:txBody>
      </p:sp>
      <p:sp>
        <p:nvSpPr>
          <p:cNvPr id="38" name="TextBox 37"/>
          <p:cNvSpPr txBox="1"/>
          <p:nvPr/>
        </p:nvSpPr>
        <p:spPr>
          <a:xfrm>
            <a:off x="3959352" y="1463039"/>
            <a:ext cx="1737360" cy="475488"/>
          </a:xfrm>
          <a:prstGeom prst="rect">
            <a:avLst/>
          </a:prstGeom>
          <a:noFill/>
        </p:spPr>
        <p:txBody>
          <a:bodyPr wrap="square" lIns="18288" tIns="9144" rIns="18288" bIns="9144">
            <a:spAutoFit/>
          </a:bodyPr>
          <a:lstStyle/>
          <a:p>
            <a:r>
              <a:rPr sz="1750" b="1">
                <a:solidFill>
                  <a:srgbClr val="191919"/>
                </a:solidFill>
                <a:latin typeface="Arial"/>
              </a:rPr>
              <a:t>Keine
Dubletten</a:t>
            </a:r>
          </a:p>
        </p:txBody>
      </p:sp>
      <p:sp>
        <p:nvSpPr>
          <p:cNvPr id="39" name="TextBox 38"/>
          <p:cNvSpPr txBox="1"/>
          <p:nvPr/>
        </p:nvSpPr>
        <p:spPr>
          <a:xfrm>
            <a:off x="3502152" y="2075688"/>
            <a:ext cx="2148840" cy="256032"/>
          </a:xfrm>
          <a:prstGeom prst="rect">
            <a:avLst/>
          </a:prstGeom>
          <a:noFill/>
        </p:spPr>
        <p:txBody>
          <a:bodyPr wrap="square" lIns="18288" tIns="9144" rIns="18288" bIns="9144">
            <a:spAutoFit/>
          </a:bodyPr>
          <a:lstStyle/>
          <a:p>
            <a:r>
              <a:rPr sz="1300" b="1">
                <a:solidFill>
                  <a:srgbClr val="191919"/>
                </a:solidFill>
                <a:latin typeface="Arial"/>
              </a:rPr>
              <a:t>Mechanismus</a:t>
            </a:r>
          </a:p>
        </p:txBody>
      </p:sp>
      <p:sp>
        <p:nvSpPr>
          <p:cNvPr id="40" name="TextBox 39"/>
          <p:cNvSpPr txBox="1"/>
          <p:nvPr/>
        </p:nvSpPr>
        <p:spPr>
          <a:xfrm>
            <a:off x="3502152" y="2359152"/>
            <a:ext cx="2148840" cy="438912"/>
          </a:xfrm>
          <a:prstGeom prst="rect">
            <a:avLst/>
          </a:prstGeom>
          <a:noFill/>
        </p:spPr>
        <p:txBody>
          <a:bodyPr wrap="square" lIns="18288" tIns="9144" rIns="18288" bIns="9144">
            <a:spAutoFit/>
          </a:bodyPr>
          <a:lstStyle/>
          <a:p>
            <a:r>
              <a:rPr sz="1350" b="0">
                <a:solidFill>
                  <a:srgbClr val="505050"/>
                </a:solidFill>
                <a:latin typeface="Arial"/>
              </a:rPr>
              <a:t>UNIQUE + gefilterte
UNIQUE-Indizes</a:t>
            </a:r>
          </a:p>
        </p:txBody>
      </p:sp>
      <p:sp>
        <p:nvSpPr>
          <p:cNvPr id="41" name="TextBox 40"/>
          <p:cNvSpPr txBox="1"/>
          <p:nvPr/>
        </p:nvSpPr>
        <p:spPr>
          <a:xfrm>
            <a:off x="3502152" y="2898648"/>
            <a:ext cx="2148840" cy="256032"/>
          </a:xfrm>
          <a:prstGeom prst="rect">
            <a:avLst/>
          </a:prstGeom>
          <a:noFill/>
        </p:spPr>
        <p:txBody>
          <a:bodyPr wrap="square" lIns="18288" tIns="9144" rIns="18288" bIns="9144">
            <a:spAutoFit/>
          </a:bodyPr>
          <a:lstStyle/>
          <a:p>
            <a:r>
              <a:rPr sz="1300" b="1">
                <a:solidFill>
                  <a:srgbClr val="191919"/>
                </a:solidFill>
                <a:latin typeface="Arial"/>
              </a:rPr>
              <a:t>Beispiel</a:t>
            </a:r>
          </a:p>
        </p:txBody>
      </p:sp>
      <p:sp>
        <p:nvSpPr>
          <p:cNvPr id="42" name="TextBox 41"/>
          <p:cNvSpPr txBox="1"/>
          <p:nvPr/>
        </p:nvSpPr>
        <p:spPr>
          <a:xfrm>
            <a:off x="3502152" y="3172968"/>
            <a:ext cx="2148840" cy="627864"/>
          </a:xfrm>
          <a:prstGeom prst="rect">
            <a:avLst/>
          </a:prstGeom>
          <a:noFill/>
        </p:spPr>
        <p:txBody>
          <a:bodyPr wrap="square" lIns="18288" tIns="9144" rIns="18288" bIns="9144">
            <a:spAutoFit/>
          </a:bodyPr>
          <a:lstStyle/>
          <a:p>
            <a:r>
              <a:rPr sz="1320" b="0" dirty="0">
                <a:solidFill>
                  <a:srgbClr val="505050"/>
                </a:solidFill>
                <a:latin typeface="Arial"/>
              </a:rPr>
              <a:t>Nur ein Hauptverein pro Saison; nur eine laufende Saison existiert.</a:t>
            </a:r>
          </a:p>
        </p:txBody>
      </p:sp>
      <p:sp>
        <p:nvSpPr>
          <p:cNvPr id="43" name="Rounded Rectangle 42"/>
          <p:cNvSpPr/>
          <p:nvPr/>
        </p:nvSpPr>
        <p:spPr>
          <a:xfrm>
            <a:off x="6044184" y="1325880"/>
            <a:ext cx="2606040" cy="2606040"/>
          </a:xfrm>
          <a:prstGeom prst="roundRect">
            <a:avLst/>
          </a:prstGeom>
          <a:solidFill>
            <a:srgbClr val="F8F8F8"/>
          </a:solidFill>
          <a:ln w="16510">
            <a:solidFill>
              <a:srgbClr val="E200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6208776" y="1481328"/>
            <a:ext cx="393192" cy="393192"/>
          </a:xfrm>
          <a:prstGeom prst="ellipse">
            <a:avLst/>
          </a:prstGeom>
          <a:solidFill>
            <a:srgbClr val="E2001A"/>
          </a:solidFill>
          <a:ln>
            <a:solidFill>
              <a:srgbClr val="E200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08776" y="1527048"/>
            <a:ext cx="393192" cy="228600"/>
          </a:xfrm>
          <a:prstGeom prst="rect">
            <a:avLst/>
          </a:prstGeom>
          <a:noFill/>
        </p:spPr>
        <p:txBody>
          <a:bodyPr wrap="square" lIns="18288" tIns="9144" rIns="18288" bIns="9144">
            <a:spAutoFit/>
          </a:bodyPr>
          <a:lstStyle/>
          <a:p>
            <a:pPr algn="ctr"/>
            <a:r>
              <a:rPr sz="1400" b="1">
                <a:solidFill>
                  <a:srgbClr val="FFFFFF"/>
                </a:solidFill>
                <a:latin typeface="Arial"/>
              </a:rPr>
              <a:t>3</a:t>
            </a:r>
          </a:p>
        </p:txBody>
      </p:sp>
      <p:sp>
        <p:nvSpPr>
          <p:cNvPr id="46" name="TextBox 45"/>
          <p:cNvSpPr txBox="1"/>
          <p:nvPr/>
        </p:nvSpPr>
        <p:spPr>
          <a:xfrm>
            <a:off x="6729984" y="1463039"/>
            <a:ext cx="1737360" cy="475488"/>
          </a:xfrm>
          <a:prstGeom prst="rect">
            <a:avLst/>
          </a:prstGeom>
          <a:noFill/>
        </p:spPr>
        <p:txBody>
          <a:bodyPr wrap="square" lIns="18288" tIns="9144" rIns="18288" bIns="9144">
            <a:spAutoFit/>
          </a:bodyPr>
          <a:lstStyle/>
          <a:p>
            <a:r>
              <a:rPr sz="1750" b="1">
                <a:solidFill>
                  <a:srgbClr val="191919"/>
                </a:solidFill>
                <a:latin typeface="Arial"/>
              </a:rPr>
              <a:t>Werte sind
plausibel</a:t>
            </a:r>
          </a:p>
        </p:txBody>
      </p:sp>
      <p:sp>
        <p:nvSpPr>
          <p:cNvPr id="47" name="TextBox 46"/>
          <p:cNvSpPr txBox="1"/>
          <p:nvPr/>
        </p:nvSpPr>
        <p:spPr>
          <a:xfrm>
            <a:off x="6272784" y="2075688"/>
            <a:ext cx="2148840" cy="256032"/>
          </a:xfrm>
          <a:prstGeom prst="rect">
            <a:avLst/>
          </a:prstGeom>
          <a:noFill/>
        </p:spPr>
        <p:txBody>
          <a:bodyPr wrap="square" lIns="18288" tIns="9144" rIns="18288" bIns="9144">
            <a:spAutoFit/>
          </a:bodyPr>
          <a:lstStyle/>
          <a:p>
            <a:r>
              <a:rPr sz="1300" b="1" dirty="0" err="1">
                <a:solidFill>
                  <a:srgbClr val="191919"/>
                </a:solidFill>
                <a:latin typeface="Arial"/>
              </a:rPr>
              <a:t>Mechanismus</a:t>
            </a:r>
            <a:endParaRPr sz="1300" b="1" dirty="0">
              <a:solidFill>
                <a:srgbClr val="191919"/>
              </a:solidFill>
              <a:latin typeface="Arial"/>
            </a:endParaRPr>
          </a:p>
        </p:txBody>
      </p:sp>
      <p:sp>
        <p:nvSpPr>
          <p:cNvPr id="48" name="TextBox 47"/>
          <p:cNvSpPr txBox="1"/>
          <p:nvPr/>
        </p:nvSpPr>
        <p:spPr>
          <a:xfrm>
            <a:off x="6272784" y="2359152"/>
            <a:ext cx="2148840" cy="438912"/>
          </a:xfrm>
          <a:prstGeom prst="rect">
            <a:avLst/>
          </a:prstGeom>
          <a:noFill/>
        </p:spPr>
        <p:txBody>
          <a:bodyPr wrap="square" lIns="18288" tIns="9144" rIns="18288" bIns="9144">
            <a:spAutoFit/>
          </a:bodyPr>
          <a:lstStyle/>
          <a:p>
            <a:r>
              <a:rPr sz="1350" b="0">
                <a:solidFill>
                  <a:srgbClr val="505050"/>
                </a:solidFill>
                <a:latin typeface="Arial"/>
              </a:rPr>
              <a:t>CHECK + DEFAULT</a:t>
            </a:r>
          </a:p>
        </p:txBody>
      </p:sp>
      <p:sp>
        <p:nvSpPr>
          <p:cNvPr id="49" name="TextBox 48"/>
          <p:cNvSpPr txBox="1"/>
          <p:nvPr/>
        </p:nvSpPr>
        <p:spPr>
          <a:xfrm>
            <a:off x="6272784" y="2898648"/>
            <a:ext cx="2148840" cy="256032"/>
          </a:xfrm>
          <a:prstGeom prst="rect">
            <a:avLst/>
          </a:prstGeom>
          <a:noFill/>
        </p:spPr>
        <p:txBody>
          <a:bodyPr wrap="square" lIns="18288" tIns="9144" rIns="18288" bIns="9144">
            <a:spAutoFit/>
          </a:bodyPr>
          <a:lstStyle/>
          <a:p>
            <a:r>
              <a:rPr sz="1300" b="1">
                <a:solidFill>
                  <a:srgbClr val="191919"/>
                </a:solidFill>
                <a:latin typeface="Arial"/>
              </a:rPr>
              <a:t>Beispiel</a:t>
            </a:r>
          </a:p>
        </p:txBody>
      </p:sp>
      <p:sp>
        <p:nvSpPr>
          <p:cNvPr id="50" name="TextBox 49"/>
          <p:cNvSpPr txBox="1"/>
          <p:nvPr/>
        </p:nvSpPr>
        <p:spPr>
          <a:xfrm>
            <a:off x="6272784" y="3172968"/>
            <a:ext cx="2148840" cy="704088"/>
          </a:xfrm>
          <a:prstGeom prst="rect">
            <a:avLst/>
          </a:prstGeom>
          <a:noFill/>
        </p:spPr>
        <p:txBody>
          <a:bodyPr wrap="square" lIns="18288" tIns="9144" rIns="18288" bIns="9144">
            <a:spAutoFit/>
          </a:bodyPr>
          <a:lstStyle/>
          <a:p>
            <a:r>
              <a:rPr sz="1320" b="0">
                <a:solidFill>
                  <a:srgbClr val="505050"/>
                </a:solidFill>
                <a:latin typeface="Arial"/>
              </a:rPr>
              <a:t>Heim ≠ Gast. Status nur aus erlaubter Liste.</a:t>
            </a:r>
          </a:p>
        </p:txBody>
      </p:sp>
      <p:sp>
        <p:nvSpPr>
          <p:cNvPr id="51" name="Rounded Rectangle 50"/>
          <p:cNvSpPr/>
          <p:nvPr/>
        </p:nvSpPr>
        <p:spPr>
          <a:xfrm>
            <a:off x="594360" y="4251960"/>
            <a:ext cx="7955279" cy="1143000"/>
          </a:xfrm>
          <a:prstGeom prst="roundRect">
            <a:avLst/>
          </a:prstGeom>
          <a:solidFill>
            <a:srgbClr val="FFFFFF"/>
          </a:solidFill>
          <a:ln w="12700">
            <a:solidFill>
              <a:srgbClr val="DCDC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94360" y="4251960"/>
            <a:ext cx="73152" cy="1143000"/>
          </a:xfrm>
          <a:prstGeom prst="rect">
            <a:avLst/>
          </a:prstGeom>
          <a:solidFill>
            <a:srgbClr val="E2001A"/>
          </a:solidFill>
          <a:ln>
            <a:solidFill>
              <a:srgbClr val="E200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22960" y="4389120"/>
            <a:ext cx="7406640" cy="868680"/>
          </a:xfrm>
          <a:prstGeom prst="rect">
            <a:avLst/>
          </a:prstGeom>
          <a:noFill/>
        </p:spPr>
        <p:txBody>
          <a:bodyPr wrap="square">
            <a:spAutoFit/>
          </a:bodyPr>
          <a:lstStyle/>
          <a:p>
            <a:r>
              <a:rPr sz="1800" b="1" dirty="0">
                <a:solidFill>
                  <a:srgbClr val="191919"/>
                </a:solidFill>
                <a:latin typeface="Arial"/>
              </a:rPr>
              <a:t>Kurz gesagt: </a:t>
            </a:r>
            <a:r>
              <a:rPr sz="1750" dirty="0">
                <a:solidFill>
                  <a:srgbClr val="191919"/>
                </a:solidFill>
                <a:latin typeface="Arial"/>
              </a:rPr>
              <a:t>Ungültige Daten werden schon beim INSERT oder UPDATE blockiert.</a:t>
            </a:r>
          </a:p>
          <a:p>
            <a:pPr>
              <a:spcBef>
                <a:spcPts val="500"/>
              </a:spcBef>
            </a:pPr>
            <a:r>
              <a:rPr sz="1400" dirty="0">
                <a:solidFill>
                  <a:srgbClr val="505050"/>
                </a:solidFill>
                <a:latin typeface="Arial"/>
              </a:rPr>
              <a:t>Die Datenqualität hängt nicht nur von einer späteren Anwendung ab.</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Views &amp; Stored Procedures</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Wofür werden sie im Projekt verwendet?</a:t>
            </a:r>
            <a:endParaRPr lang="de-CH" sz="1300" dirty="0"/>
          </a:p>
        </p:txBody>
      </p:sp>
      <p:sp>
        <p:nvSpPr>
          <p:cNvPr id="5" name="Shape 3"/>
          <p:cNvSpPr/>
          <p:nvPr/>
        </p:nvSpPr>
        <p:spPr>
          <a:xfrm>
            <a:off x="594360" y="1417320"/>
            <a:ext cx="3822192" cy="4160520"/>
          </a:xfrm>
          <a:prstGeom prst="roundRect">
            <a:avLst>
              <a:gd name="adj" fmla="val 1914"/>
            </a:avLst>
          </a:prstGeom>
          <a:solidFill>
            <a:srgbClr val="F4F5F7"/>
          </a:solidFill>
          <a:ln w="12700">
            <a:solidFill>
              <a:srgbClr val="D9DDE3"/>
            </a:solidFill>
            <a:prstDash val="solid"/>
          </a:ln>
        </p:spPr>
        <p:txBody>
          <a:bodyPr/>
          <a:lstStyle/>
          <a:p>
            <a:endParaRPr lang="de-CH"/>
          </a:p>
        </p:txBody>
      </p:sp>
      <p:sp>
        <p:nvSpPr>
          <p:cNvPr id="6" name="Shape 4"/>
          <p:cNvSpPr/>
          <p:nvPr/>
        </p:nvSpPr>
        <p:spPr>
          <a:xfrm>
            <a:off x="594360" y="1417320"/>
            <a:ext cx="109728" cy="4160520"/>
          </a:xfrm>
          <a:prstGeom prst="rect">
            <a:avLst/>
          </a:prstGeom>
          <a:solidFill>
            <a:srgbClr val="E5002B"/>
          </a:solidFill>
          <a:ln w="12700">
            <a:solidFill>
              <a:srgbClr val="E5002B"/>
            </a:solidFill>
            <a:prstDash val="solid"/>
          </a:ln>
        </p:spPr>
        <p:txBody>
          <a:bodyPr/>
          <a:lstStyle/>
          <a:p>
            <a:endParaRPr lang="de-CH"/>
          </a:p>
        </p:txBody>
      </p:sp>
      <p:sp>
        <p:nvSpPr>
          <p:cNvPr id="7" name="Text 5"/>
          <p:cNvSpPr/>
          <p:nvPr/>
        </p:nvSpPr>
        <p:spPr>
          <a:xfrm>
            <a:off x="868680" y="1664208"/>
            <a:ext cx="3154680" cy="347472"/>
          </a:xfrm>
          <a:prstGeom prst="rect">
            <a:avLst/>
          </a:prstGeom>
          <a:noFill/>
          <a:ln/>
        </p:spPr>
        <p:txBody>
          <a:bodyPr wrap="square" lIns="0" tIns="0" rIns="0" bIns="0" rtlCol="0" anchor="ctr"/>
          <a:lstStyle/>
          <a:p>
            <a:pPr marL="0" indent="0">
              <a:buNone/>
            </a:pPr>
            <a:r>
              <a:rPr lang="de-CH" sz="2500" b="1" dirty="0">
                <a:solidFill>
                  <a:srgbClr val="111111"/>
                </a:solidFill>
                <a:latin typeface="Aptos Display" pitchFamily="34" charset="0"/>
                <a:ea typeface="Aptos Display" pitchFamily="34" charset="-122"/>
                <a:cs typeface="Aptos Display" pitchFamily="34" charset="-120"/>
              </a:rPr>
              <a:t>Views</a:t>
            </a:r>
            <a:endParaRPr lang="de-CH" sz="2500" dirty="0"/>
          </a:p>
        </p:txBody>
      </p:sp>
      <p:sp>
        <p:nvSpPr>
          <p:cNvPr id="8" name="Text 6"/>
          <p:cNvSpPr/>
          <p:nvPr/>
        </p:nvSpPr>
        <p:spPr>
          <a:xfrm>
            <a:off x="868680" y="2029968"/>
            <a:ext cx="3154680" cy="256032"/>
          </a:xfrm>
          <a:prstGeom prst="rect">
            <a:avLst/>
          </a:prstGeom>
          <a:noFill/>
          <a:ln/>
        </p:spPr>
        <p:txBody>
          <a:bodyPr wrap="square" lIns="0" tIns="0" rIns="0" bIns="0" rtlCol="0" anchor="ctr"/>
          <a:lstStyle/>
          <a:p>
            <a:pPr marL="0" indent="0">
              <a:buNone/>
            </a:pPr>
            <a:r>
              <a:rPr lang="de-CH" sz="1300" b="1" dirty="0">
                <a:solidFill>
                  <a:srgbClr val="E5002B"/>
                </a:solidFill>
                <a:latin typeface="Aptos" pitchFamily="34" charset="0"/>
                <a:ea typeface="Aptos" pitchFamily="34" charset="-122"/>
                <a:cs typeface="Aptos" pitchFamily="34" charset="-120"/>
              </a:rPr>
              <a:t>Informationen anzeigen und auswerten</a:t>
            </a:r>
            <a:endParaRPr lang="de-CH" sz="1300" dirty="0"/>
          </a:p>
        </p:txBody>
      </p:sp>
      <p:sp>
        <p:nvSpPr>
          <p:cNvPr id="9" name="Text 7"/>
          <p:cNvSpPr/>
          <p:nvPr/>
        </p:nvSpPr>
        <p:spPr>
          <a:xfrm>
            <a:off x="896112" y="2487168"/>
            <a:ext cx="3520440" cy="2514600"/>
          </a:xfrm>
          <a:prstGeom prst="rect">
            <a:avLst/>
          </a:prstGeom>
          <a:noFill/>
          <a:ln/>
        </p:spPr>
        <p:txBody>
          <a:bodyPr wrap="square" lIns="635" tIns="635" rIns="635" bIns="635" rtlCol="0" anchor="t"/>
          <a:lstStyle/>
          <a:p>
            <a:pPr marL="177800" indent="-177800">
              <a:buSzPct val="100000"/>
              <a:buChar char="•"/>
            </a:pPr>
            <a:r>
              <a:rPr lang="de-CH" sz="1650" dirty="0">
                <a:solidFill>
                  <a:srgbClr val="252525"/>
                </a:solidFill>
                <a:latin typeface="Aptos" pitchFamily="34" charset="0"/>
                <a:ea typeface="Aptos" pitchFamily="34" charset="-122"/>
                <a:cs typeface="Aptos" pitchFamily="34" charset="-120"/>
              </a:rPr>
              <a:t>aktuelle Spieler anzeigen</a:t>
            </a:r>
            <a:endParaRPr lang="de-CH" sz="1650" dirty="0"/>
          </a:p>
          <a:p>
            <a:pPr marL="177800" indent="-177800">
              <a:buSzPct val="100000"/>
              <a:buChar char="•"/>
            </a:pPr>
            <a:r>
              <a:rPr lang="de-CH" sz="1650" dirty="0">
                <a:solidFill>
                  <a:srgbClr val="252525"/>
                </a:solidFill>
                <a:latin typeface="Aptos" pitchFamily="34" charset="0"/>
                <a:ea typeface="Aptos" pitchFamily="34" charset="-122"/>
                <a:cs typeface="Aptos" pitchFamily="34" charset="-120"/>
              </a:rPr>
              <a:t>Mannschaften einer Liga anzeigen</a:t>
            </a:r>
            <a:endParaRPr lang="de-CH" sz="1650" dirty="0"/>
          </a:p>
          <a:p>
            <a:pPr marL="177800" indent="-177800">
              <a:buSzPct val="100000"/>
              <a:buChar char="•"/>
            </a:pPr>
            <a:r>
              <a:rPr lang="de-CH" sz="1650" dirty="0">
                <a:solidFill>
                  <a:srgbClr val="252525"/>
                </a:solidFill>
                <a:latin typeface="Aptos" pitchFamily="34" charset="0"/>
                <a:ea typeface="Aptos" pitchFamily="34" charset="-122"/>
                <a:cs typeface="Aptos" pitchFamily="34" charset="-120"/>
              </a:rPr>
              <a:t>Begegnungen übersichtlich darstellen</a:t>
            </a:r>
            <a:endParaRPr lang="de-CH" sz="1650" dirty="0"/>
          </a:p>
          <a:p>
            <a:pPr marL="177800" indent="-177800">
              <a:buSzPct val="100000"/>
              <a:buChar char="•"/>
            </a:pPr>
            <a:r>
              <a:rPr lang="de-CH" sz="1650" dirty="0">
                <a:solidFill>
                  <a:srgbClr val="252525"/>
                </a:solidFill>
                <a:latin typeface="Aptos" pitchFamily="34" charset="0"/>
                <a:ea typeface="Aptos" pitchFamily="34" charset="-122"/>
                <a:cs typeface="Aptos" pitchFamily="34" charset="-120"/>
              </a:rPr>
              <a:t>Turnieranmeldungen zusammenfassen</a:t>
            </a:r>
            <a:endParaRPr lang="de-CH" sz="1650" dirty="0"/>
          </a:p>
          <a:p>
            <a:pPr marL="177800" indent="-177800">
              <a:buSzPct val="100000"/>
              <a:buChar char="•"/>
            </a:pPr>
            <a:r>
              <a:rPr lang="de-CH" sz="1650" dirty="0">
                <a:solidFill>
                  <a:srgbClr val="252525"/>
                </a:solidFill>
                <a:latin typeface="Aptos" pitchFamily="34" charset="0"/>
                <a:ea typeface="Aptos" pitchFamily="34" charset="-122"/>
                <a:cs typeface="Aptos" pitchFamily="34" charset="-120"/>
              </a:rPr>
              <a:t>Spielresultate auswerten</a:t>
            </a:r>
            <a:endParaRPr lang="de-CH" sz="1650" dirty="0"/>
          </a:p>
        </p:txBody>
      </p:sp>
      <p:sp>
        <p:nvSpPr>
          <p:cNvPr id="10" name="Shape 8"/>
          <p:cNvSpPr/>
          <p:nvPr/>
        </p:nvSpPr>
        <p:spPr>
          <a:xfrm>
            <a:off x="4736592" y="1417320"/>
            <a:ext cx="3822192" cy="4160520"/>
          </a:xfrm>
          <a:prstGeom prst="roundRect">
            <a:avLst>
              <a:gd name="adj" fmla="val 1914"/>
            </a:avLst>
          </a:prstGeom>
          <a:solidFill>
            <a:srgbClr val="FFF5F7"/>
          </a:solidFill>
          <a:ln w="12700">
            <a:solidFill>
              <a:srgbClr val="EFC7D0"/>
            </a:solidFill>
            <a:prstDash val="solid"/>
          </a:ln>
        </p:spPr>
        <p:txBody>
          <a:bodyPr/>
          <a:lstStyle/>
          <a:p>
            <a:endParaRPr lang="de-CH"/>
          </a:p>
        </p:txBody>
      </p:sp>
      <p:sp>
        <p:nvSpPr>
          <p:cNvPr id="11" name="Shape 9"/>
          <p:cNvSpPr/>
          <p:nvPr/>
        </p:nvSpPr>
        <p:spPr>
          <a:xfrm>
            <a:off x="4736592" y="1417320"/>
            <a:ext cx="109728" cy="4160520"/>
          </a:xfrm>
          <a:prstGeom prst="rect">
            <a:avLst/>
          </a:prstGeom>
          <a:solidFill>
            <a:srgbClr val="E5002B"/>
          </a:solidFill>
          <a:ln w="12700">
            <a:solidFill>
              <a:srgbClr val="E5002B"/>
            </a:solidFill>
            <a:prstDash val="solid"/>
          </a:ln>
        </p:spPr>
        <p:txBody>
          <a:bodyPr/>
          <a:lstStyle/>
          <a:p>
            <a:endParaRPr lang="de-CH"/>
          </a:p>
        </p:txBody>
      </p:sp>
      <p:sp>
        <p:nvSpPr>
          <p:cNvPr id="12" name="Text 10"/>
          <p:cNvSpPr/>
          <p:nvPr/>
        </p:nvSpPr>
        <p:spPr>
          <a:xfrm>
            <a:off x="5010912" y="1664208"/>
            <a:ext cx="3154680" cy="347472"/>
          </a:xfrm>
          <a:prstGeom prst="rect">
            <a:avLst/>
          </a:prstGeom>
          <a:noFill/>
          <a:ln/>
        </p:spPr>
        <p:txBody>
          <a:bodyPr wrap="square" lIns="0" tIns="0" rIns="0" bIns="0" rtlCol="0" anchor="ctr">
            <a:normAutofit lnSpcReduction="10000"/>
          </a:bodyPr>
          <a:lstStyle/>
          <a:p>
            <a:pPr marL="0" indent="0">
              <a:buNone/>
            </a:pPr>
            <a:r>
              <a:rPr lang="de-CH" sz="2300" b="1" dirty="0">
                <a:solidFill>
                  <a:srgbClr val="111111"/>
                </a:solidFill>
                <a:latin typeface="Aptos Display" pitchFamily="34" charset="0"/>
                <a:ea typeface="Aptos Display" pitchFamily="34" charset="-122"/>
                <a:cs typeface="Aptos Display" pitchFamily="34" charset="-120"/>
              </a:rPr>
              <a:t>Stored Procedures</a:t>
            </a:r>
            <a:endParaRPr lang="de-CH" sz="2300" dirty="0"/>
          </a:p>
        </p:txBody>
      </p:sp>
      <p:sp>
        <p:nvSpPr>
          <p:cNvPr id="13" name="Text 11"/>
          <p:cNvSpPr/>
          <p:nvPr/>
        </p:nvSpPr>
        <p:spPr>
          <a:xfrm>
            <a:off x="5010912" y="2029968"/>
            <a:ext cx="3182112" cy="256032"/>
          </a:xfrm>
          <a:prstGeom prst="rect">
            <a:avLst/>
          </a:prstGeom>
          <a:noFill/>
          <a:ln/>
        </p:spPr>
        <p:txBody>
          <a:bodyPr wrap="square" lIns="0" tIns="0" rIns="0" bIns="0" rtlCol="0" anchor="ctr">
            <a:normAutofit fontScale="85000" lnSpcReduction="10000"/>
          </a:bodyPr>
          <a:lstStyle/>
          <a:p>
            <a:pPr marL="0" indent="0">
              <a:buNone/>
            </a:pPr>
            <a:r>
              <a:rPr lang="de-CH" sz="1550" b="1" dirty="0">
                <a:solidFill>
                  <a:srgbClr val="E5002B"/>
                </a:solidFill>
                <a:latin typeface="Aptos" pitchFamily="34" charset="0"/>
                <a:ea typeface="Aptos" pitchFamily="34" charset="-122"/>
                <a:cs typeface="Aptos" pitchFamily="34" charset="-120"/>
              </a:rPr>
              <a:t>Geschäftsabläufe kontrolliert ausführen</a:t>
            </a:r>
            <a:endParaRPr lang="de-CH" sz="1550" dirty="0"/>
          </a:p>
        </p:txBody>
      </p:sp>
      <p:sp>
        <p:nvSpPr>
          <p:cNvPr id="14" name="Text 12"/>
          <p:cNvSpPr/>
          <p:nvPr/>
        </p:nvSpPr>
        <p:spPr>
          <a:xfrm>
            <a:off x="5029200" y="2487168"/>
            <a:ext cx="3127248" cy="2606040"/>
          </a:xfrm>
          <a:prstGeom prst="rect">
            <a:avLst/>
          </a:prstGeom>
          <a:noFill/>
          <a:ln/>
        </p:spPr>
        <p:txBody>
          <a:bodyPr wrap="square" lIns="635" tIns="635" rIns="635" bIns="635" rtlCol="0" anchor="t"/>
          <a:lstStyle/>
          <a:p>
            <a:pPr marL="177800" indent="-177800">
              <a:buSzPct val="100000"/>
              <a:buChar char="•"/>
            </a:pPr>
            <a:r>
              <a:rPr lang="de-CH" sz="1580" dirty="0">
                <a:solidFill>
                  <a:srgbClr val="252525"/>
                </a:solidFill>
                <a:latin typeface="Aptos" pitchFamily="34" charset="0"/>
                <a:ea typeface="Aptos" pitchFamily="34" charset="-122"/>
                <a:cs typeface="Aptos" pitchFamily="34" charset="-120"/>
              </a:rPr>
              <a:t>Spieler für Saison anmelden</a:t>
            </a:r>
            <a:endParaRPr lang="de-CH" sz="1580" dirty="0"/>
          </a:p>
          <a:p>
            <a:pPr marL="177800" indent="-177800">
              <a:buSzPct val="100000"/>
              <a:buChar char="•"/>
            </a:pPr>
            <a:r>
              <a:rPr lang="de-CH" sz="1580" dirty="0">
                <a:solidFill>
                  <a:srgbClr val="252525"/>
                </a:solidFill>
                <a:latin typeface="Aptos" pitchFamily="34" charset="0"/>
                <a:ea typeface="Aptos" pitchFamily="34" charset="-122"/>
                <a:cs typeface="Aptos" pitchFamily="34" charset="-120"/>
              </a:rPr>
              <a:t>Spieler einer Mannschaft zuordnen</a:t>
            </a:r>
            <a:endParaRPr lang="de-CH" sz="1580" dirty="0"/>
          </a:p>
          <a:p>
            <a:pPr marL="177800" indent="-177800">
              <a:buSzPct val="100000"/>
              <a:buChar char="•"/>
            </a:pPr>
            <a:r>
              <a:rPr lang="de-CH" sz="1580" dirty="0">
                <a:solidFill>
                  <a:srgbClr val="252525"/>
                </a:solidFill>
                <a:latin typeface="Aptos" pitchFamily="34" charset="0"/>
                <a:ea typeface="Aptos" pitchFamily="34" charset="-122"/>
                <a:cs typeface="Aptos" pitchFamily="34" charset="-120"/>
              </a:rPr>
              <a:t>Begegnung erfassen</a:t>
            </a:r>
            <a:endParaRPr lang="de-CH" sz="1580" dirty="0"/>
          </a:p>
          <a:p>
            <a:pPr marL="177800" indent="-177800">
              <a:buSzPct val="100000"/>
              <a:buChar char="•"/>
            </a:pPr>
            <a:r>
              <a:rPr lang="de-CH" sz="1580" dirty="0">
                <a:solidFill>
                  <a:srgbClr val="252525"/>
                </a:solidFill>
                <a:latin typeface="Aptos" pitchFamily="34" charset="0"/>
                <a:ea typeface="Aptos" pitchFamily="34" charset="-122"/>
                <a:cs typeface="Aptos" pitchFamily="34" charset="-120"/>
              </a:rPr>
              <a:t>Resultat abschliessen</a:t>
            </a:r>
            <a:endParaRPr lang="de-CH" sz="1580" dirty="0"/>
          </a:p>
          <a:p>
            <a:pPr marL="177800" indent="-177800">
              <a:buSzPct val="100000"/>
              <a:buChar char="•"/>
            </a:pPr>
            <a:r>
              <a:rPr lang="de-CH" sz="1580" dirty="0">
                <a:solidFill>
                  <a:srgbClr val="252525"/>
                </a:solidFill>
                <a:latin typeface="Aptos" pitchFamily="34" charset="0"/>
                <a:ea typeface="Aptos" pitchFamily="34" charset="-122"/>
                <a:cs typeface="Aptos" pitchFamily="34" charset="-120"/>
              </a:rPr>
              <a:t>Turnieranmeldung durchführen</a:t>
            </a:r>
            <a:endParaRPr lang="de-CH" sz="1580" dirty="0"/>
          </a:p>
          <a:p>
            <a:pPr marL="177800" indent="-177800">
              <a:buSzPct val="100000"/>
              <a:buChar char="•"/>
            </a:pPr>
            <a:r>
              <a:rPr lang="de-CH" sz="1580" dirty="0">
                <a:solidFill>
                  <a:srgbClr val="252525"/>
                </a:solidFill>
                <a:latin typeface="Aptos" pitchFamily="34" charset="0"/>
                <a:ea typeface="Aptos" pitchFamily="34" charset="-122"/>
                <a:cs typeface="Aptos" pitchFamily="34" charset="-120"/>
              </a:rPr>
              <a:t>Elo-Wert aktualisieren</a:t>
            </a:r>
            <a:endParaRPr lang="de-CH" sz="1580" dirty="0"/>
          </a:p>
        </p:txBody>
      </p:sp>
      <p:sp>
        <p:nvSpPr>
          <p:cNvPr id="15" name="Shape 13"/>
          <p:cNvSpPr/>
          <p:nvPr/>
        </p:nvSpPr>
        <p:spPr>
          <a:xfrm>
            <a:off x="868680" y="5687568"/>
            <a:ext cx="7406640" cy="411480"/>
          </a:xfrm>
          <a:prstGeom prst="roundRect">
            <a:avLst>
              <a:gd name="adj" fmla="val 17778"/>
            </a:avLst>
          </a:prstGeom>
          <a:solidFill>
            <a:srgbClr val="E5002B"/>
          </a:solidFill>
          <a:ln w="12700">
            <a:solidFill>
              <a:srgbClr val="E5002B"/>
            </a:solidFill>
            <a:prstDash val="solid"/>
          </a:ln>
        </p:spPr>
        <p:txBody>
          <a:bodyPr/>
          <a:lstStyle/>
          <a:p>
            <a:endParaRPr lang="de-CH"/>
          </a:p>
        </p:txBody>
      </p:sp>
      <p:sp>
        <p:nvSpPr>
          <p:cNvPr id="16" name="Text 14"/>
          <p:cNvSpPr/>
          <p:nvPr/>
        </p:nvSpPr>
        <p:spPr>
          <a:xfrm>
            <a:off x="987552" y="5806440"/>
            <a:ext cx="7178040" cy="128016"/>
          </a:xfrm>
          <a:prstGeom prst="rect">
            <a:avLst/>
          </a:prstGeom>
          <a:noFill/>
          <a:ln/>
        </p:spPr>
        <p:txBody>
          <a:bodyPr wrap="square" lIns="0" tIns="0" rIns="0" bIns="0" rtlCol="0" anchor="ctr">
            <a:normAutofit fontScale="70000" lnSpcReduction="20000"/>
          </a:bodyPr>
          <a:lstStyle/>
          <a:p>
            <a:pPr marL="0" indent="0" algn="ctr">
              <a:buNone/>
            </a:pPr>
            <a:r>
              <a:rPr lang="de-CH" sz="1420" b="1" dirty="0">
                <a:solidFill>
                  <a:srgbClr val="FFFFFF"/>
                </a:solidFill>
                <a:latin typeface="Aptos Display" pitchFamily="34" charset="0"/>
                <a:ea typeface="Aptos Display" pitchFamily="34" charset="-122"/>
                <a:cs typeface="Aptos Display" pitchFamily="34" charset="-120"/>
              </a:rPr>
              <a:t>Merksatz: Views = lesen und auswerten   |   Stored Procedures = prüfen und ändern</a:t>
            </a:r>
            <a:endParaRPr lang="de-CH" sz="1420" dirty="0"/>
          </a:p>
        </p:txBody>
      </p:sp>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6</a:t>
            </a:fld>
            <a:endParaRPr lang="de-CH"/>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566928"/>
            <a:ext cx="6126480" cy="347472"/>
          </a:xfrm>
          <a:prstGeom prst="rect">
            <a:avLst/>
          </a:prstGeom>
          <a:noFill/>
        </p:spPr>
        <p:txBody>
          <a:bodyPr wrap="none" lIns="27432" tIns="9144" rIns="27432" bIns="9144">
            <a:spAutoFit/>
          </a:bodyPr>
          <a:lstStyle/>
          <a:p>
            <a:pPr algn="l"/>
            <a:r>
              <a:rPr lang="de-CH" sz="2400" b="1">
                <a:solidFill>
                  <a:srgbClr val="202020"/>
                </a:solidFill>
                <a:latin typeface="Arial"/>
              </a:rPr>
              <a:t>Geschäftsablauf im Zusammenspiel</a:t>
            </a:r>
          </a:p>
        </p:txBody>
      </p:sp>
      <p:sp>
        <p:nvSpPr>
          <p:cNvPr id="3" name="Rectangle 2"/>
          <p:cNvSpPr/>
          <p:nvPr/>
        </p:nvSpPr>
        <p:spPr>
          <a:xfrm>
            <a:off x="512064" y="987552"/>
            <a:ext cx="1143000" cy="41148"/>
          </a:xfrm>
          <a:prstGeom prst="rect">
            <a:avLst/>
          </a:prstGeom>
          <a:solidFill>
            <a:srgbClr val="E40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106424"/>
            <a:ext cx="6126480" cy="256032"/>
          </a:xfrm>
          <a:prstGeom prst="rect">
            <a:avLst/>
          </a:prstGeom>
          <a:noFill/>
        </p:spPr>
        <p:txBody>
          <a:bodyPr wrap="none" lIns="27432" tIns="9144" rIns="27432" bIns="9144">
            <a:spAutoFit/>
          </a:bodyPr>
          <a:lstStyle/>
          <a:p>
            <a:pPr algn="l"/>
            <a:r>
              <a:rPr lang="de-CH" sz="1500" b="0">
                <a:solidFill>
                  <a:srgbClr val="5F5F5F"/>
                </a:solidFill>
                <a:latin typeface="Arial"/>
              </a:rPr>
              <a:t>Vom Resultat zur historisierten Elo-Änderung</a:t>
            </a:r>
          </a:p>
        </p:txBody>
      </p:sp>
      <p:sp>
        <p:nvSpPr>
          <p:cNvPr id="5" name="TextBox 4"/>
          <p:cNvSpPr txBox="1"/>
          <p:nvPr/>
        </p:nvSpPr>
        <p:spPr>
          <a:xfrm>
            <a:off x="594360" y="1508760"/>
            <a:ext cx="3017520" cy="274320"/>
          </a:xfrm>
          <a:prstGeom prst="rect">
            <a:avLst/>
          </a:prstGeom>
          <a:noFill/>
        </p:spPr>
        <p:txBody>
          <a:bodyPr wrap="none" lIns="27432" tIns="9144" rIns="27432" bIns="9144">
            <a:spAutoFit/>
          </a:bodyPr>
          <a:lstStyle/>
          <a:p>
            <a:pPr algn="l"/>
            <a:r>
              <a:rPr lang="de-CH" sz="1700" b="1">
                <a:solidFill>
                  <a:srgbClr val="E4002B"/>
                </a:solidFill>
                <a:latin typeface="Arial"/>
              </a:rPr>
              <a:t>Beispiel aus der Demo</a:t>
            </a:r>
          </a:p>
        </p:txBody>
      </p:sp>
      <p:cxnSp>
        <p:nvCxnSpPr>
          <p:cNvPr id="6" name="Connector 5"/>
          <p:cNvCxnSpPr/>
          <p:nvPr/>
        </p:nvCxnSpPr>
        <p:spPr>
          <a:xfrm>
            <a:off x="2212848" y="2368296"/>
            <a:ext cx="0" cy="173736"/>
          </a:xfrm>
          <a:prstGeom prst="line">
            <a:avLst/>
          </a:prstGeom>
          <a:ln w="22860">
            <a:solidFill>
              <a:srgbClr val="2D2D2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212848" y="3054096"/>
            <a:ext cx="0" cy="173736"/>
          </a:xfrm>
          <a:prstGeom prst="line">
            <a:avLst/>
          </a:prstGeom>
          <a:ln w="22860">
            <a:solidFill>
              <a:srgbClr val="2D2D2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212848" y="3739896"/>
            <a:ext cx="0" cy="173736"/>
          </a:xfrm>
          <a:prstGeom prst="line">
            <a:avLst/>
          </a:prstGeom>
          <a:ln w="22860">
            <a:solidFill>
              <a:srgbClr val="2D2D2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212848" y="4425696"/>
            <a:ext cx="0" cy="173736"/>
          </a:xfrm>
          <a:prstGeom prst="line">
            <a:avLst/>
          </a:prstGeom>
          <a:ln w="22860">
            <a:solidFill>
              <a:srgbClr val="2D2D2D"/>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50976" y="1856231"/>
            <a:ext cx="2514600" cy="512064"/>
          </a:xfrm>
          <a:prstGeom prst="roundRect">
            <a:avLst/>
          </a:prstGeom>
          <a:solidFill>
            <a:srgbClr val="FFEEF2"/>
          </a:solidFill>
          <a:ln w="12700">
            <a:solidFill>
              <a:srgbClr val="E4002B"/>
            </a:solidFill>
          </a:ln>
        </p:spPr>
        <p:style>
          <a:lnRef idx="1">
            <a:schemeClr val="accent1"/>
          </a:lnRef>
          <a:fillRef idx="3">
            <a:schemeClr val="accent1"/>
          </a:fillRef>
          <a:effectRef idx="2">
            <a:schemeClr val="accent1"/>
          </a:effectRef>
          <a:fontRef idx="minor">
            <a:schemeClr val="lt1"/>
          </a:fontRef>
        </p:style>
        <p:txBody>
          <a:bodyPr tIns="18288" bIns="18288" rtlCol="0" anchor="ctr"/>
          <a:lstStyle/>
          <a:p>
            <a:pPr algn="ctr"/>
            <a:r>
              <a:rPr lang="de-CH" sz="1350" b="1">
                <a:solidFill>
                  <a:srgbClr val="202020"/>
                </a:solidFill>
                <a:latin typeface="Arial"/>
              </a:rPr>
              <a:t>1  Einzelspiel</a:t>
            </a:r>
          </a:p>
          <a:p>
            <a:pPr algn="ctr"/>
            <a:r>
              <a:rPr lang="de-CH" sz="1150">
                <a:solidFill>
                  <a:srgbClr val="5F5F5F"/>
                </a:solidFill>
                <a:latin typeface="Arial"/>
              </a:rPr>
              <a:t>Leon vs. Daniel</a:t>
            </a:r>
          </a:p>
        </p:txBody>
      </p:sp>
      <p:sp>
        <p:nvSpPr>
          <p:cNvPr id="11" name="Rounded Rectangle 10"/>
          <p:cNvSpPr/>
          <p:nvPr/>
        </p:nvSpPr>
        <p:spPr>
          <a:xfrm>
            <a:off x="950976" y="2542032"/>
            <a:ext cx="2514600" cy="512064"/>
          </a:xfrm>
          <a:prstGeom prst="roundRect">
            <a:avLst/>
          </a:prstGeom>
          <a:solidFill>
            <a:srgbClr val="FFFFFF"/>
          </a:solidFill>
          <a:ln w="12700">
            <a:solidFill>
              <a:srgbClr val="B9B9B9"/>
            </a:solidFill>
          </a:ln>
        </p:spPr>
        <p:style>
          <a:lnRef idx="1">
            <a:schemeClr val="accent1"/>
          </a:lnRef>
          <a:fillRef idx="3">
            <a:schemeClr val="accent1"/>
          </a:fillRef>
          <a:effectRef idx="2">
            <a:schemeClr val="accent1"/>
          </a:effectRef>
          <a:fontRef idx="minor">
            <a:schemeClr val="lt1"/>
          </a:fontRef>
        </p:style>
        <p:txBody>
          <a:bodyPr tIns="18288" bIns="18288" rtlCol="0" anchor="ctr"/>
          <a:lstStyle/>
          <a:p>
            <a:pPr algn="ctr"/>
            <a:r>
              <a:rPr lang="de-CH" sz="1350" b="1">
                <a:solidFill>
                  <a:srgbClr val="202020"/>
                </a:solidFill>
                <a:latin typeface="Arial"/>
              </a:rPr>
              <a:t>2  Resultat gespeichert</a:t>
            </a:r>
          </a:p>
          <a:p>
            <a:pPr algn="ctr"/>
            <a:r>
              <a:rPr lang="de-CH" sz="1150">
                <a:solidFill>
                  <a:srgbClr val="5F5F5F"/>
                </a:solidFill>
                <a:latin typeface="Arial"/>
              </a:rPr>
              <a:t>3:1 für Leon</a:t>
            </a:r>
          </a:p>
        </p:txBody>
      </p:sp>
      <p:sp>
        <p:nvSpPr>
          <p:cNvPr id="12" name="Rounded Rectangle 11"/>
          <p:cNvSpPr/>
          <p:nvPr/>
        </p:nvSpPr>
        <p:spPr>
          <a:xfrm>
            <a:off x="950976" y="3227832"/>
            <a:ext cx="2514600" cy="512064"/>
          </a:xfrm>
          <a:prstGeom prst="roundRect">
            <a:avLst/>
          </a:prstGeom>
          <a:solidFill>
            <a:srgbClr val="FFEEF2"/>
          </a:solidFill>
          <a:ln w="12700">
            <a:solidFill>
              <a:srgbClr val="E4002B"/>
            </a:solidFill>
          </a:ln>
        </p:spPr>
        <p:style>
          <a:lnRef idx="1">
            <a:schemeClr val="accent1"/>
          </a:lnRef>
          <a:fillRef idx="3">
            <a:schemeClr val="accent1"/>
          </a:fillRef>
          <a:effectRef idx="2">
            <a:schemeClr val="accent1"/>
          </a:effectRef>
          <a:fontRef idx="minor">
            <a:schemeClr val="lt1"/>
          </a:fontRef>
        </p:style>
        <p:txBody>
          <a:bodyPr tIns="18288" bIns="18288" rtlCol="0" anchor="ctr"/>
          <a:lstStyle/>
          <a:p>
            <a:pPr algn="ctr"/>
            <a:r>
              <a:rPr lang="de-CH" sz="1350" b="1">
                <a:solidFill>
                  <a:srgbClr val="202020"/>
                </a:solidFill>
                <a:latin typeface="Arial"/>
              </a:rPr>
              <a:t>3  sp_EloAktualisieren</a:t>
            </a:r>
          </a:p>
          <a:p>
            <a:pPr algn="ctr"/>
            <a:r>
              <a:rPr lang="de-CH" sz="1150">
                <a:solidFill>
                  <a:srgbClr val="5F5F5F"/>
                </a:solidFill>
                <a:latin typeface="Arial"/>
              </a:rPr>
              <a:t>prüft und verarbeitet</a:t>
            </a:r>
          </a:p>
        </p:txBody>
      </p:sp>
      <p:sp>
        <p:nvSpPr>
          <p:cNvPr id="13" name="Rounded Rectangle 12"/>
          <p:cNvSpPr/>
          <p:nvPr/>
        </p:nvSpPr>
        <p:spPr>
          <a:xfrm>
            <a:off x="950976" y="3913632"/>
            <a:ext cx="2514600" cy="512064"/>
          </a:xfrm>
          <a:prstGeom prst="roundRect">
            <a:avLst/>
          </a:prstGeom>
          <a:solidFill>
            <a:srgbClr val="FFFFFF"/>
          </a:solidFill>
          <a:ln w="12700">
            <a:solidFill>
              <a:srgbClr val="B9B9B9"/>
            </a:solidFill>
          </a:ln>
        </p:spPr>
        <p:style>
          <a:lnRef idx="1">
            <a:schemeClr val="accent1"/>
          </a:lnRef>
          <a:fillRef idx="3">
            <a:schemeClr val="accent1"/>
          </a:fillRef>
          <a:effectRef idx="2">
            <a:schemeClr val="accent1"/>
          </a:effectRef>
          <a:fontRef idx="minor">
            <a:schemeClr val="lt1"/>
          </a:fontRef>
        </p:style>
        <p:txBody>
          <a:bodyPr tIns="18288" bIns="18288" rtlCol="0" anchor="ctr"/>
          <a:lstStyle/>
          <a:p>
            <a:pPr algn="ctr"/>
            <a:r>
              <a:rPr lang="de-CH" sz="1350" b="1">
                <a:solidFill>
                  <a:srgbClr val="202020"/>
                </a:solidFill>
                <a:latin typeface="Arial"/>
              </a:rPr>
              <a:t>4  EloProtokoll</a:t>
            </a:r>
          </a:p>
          <a:p>
            <a:pPr algn="ctr"/>
            <a:r>
              <a:rPr lang="de-CH" sz="1150">
                <a:solidFill>
                  <a:srgbClr val="5F5F5F"/>
                </a:solidFill>
                <a:latin typeface="Arial"/>
              </a:rPr>
              <a:t>Änderung nachvollziehbar</a:t>
            </a:r>
          </a:p>
        </p:txBody>
      </p:sp>
      <p:sp>
        <p:nvSpPr>
          <p:cNvPr id="14" name="Rounded Rectangle 13"/>
          <p:cNvSpPr/>
          <p:nvPr/>
        </p:nvSpPr>
        <p:spPr>
          <a:xfrm>
            <a:off x="950976" y="4599432"/>
            <a:ext cx="2514600" cy="512064"/>
          </a:xfrm>
          <a:prstGeom prst="roundRect">
            <a:avLst/>
          </a:prstGeom>
          <a:solidFill>
            <a:srgbClr val="EBF7F1"/>
          </a:solidFill>
          <a:ln w="12700">
            <a:solidFill>
              <a:srgbClr val="218754"/>
            </a:solidFill>
          </a:ln>
        </p:spPr>
        <p:style>
          <a:lnRef idx="1">
            <a:schemeClr val="accent1"/>
          </a:lnRef>
          <a:fillRef idx="3">
            <a:schemeClr val="accent1"/>
          </a:fillRef>
          <a:effectRef idx="2">
            <a:schemeClr val="accent1"/>
          </a:effectRef>
          <a:fontRef idx="minor">
            <a:schemeClr val="lt1"/>
          </a:fontRef>
        </p:style>
        <p:txBody>
          <a:bodyPr tIns="18288" bIns="18288" rtlCol="0" anchor="ctr"/>
          <a:lstStyle/>
          <a:p>
            <a:pPr algn="ctr"/>
            <a:r>
              <a:rPr lang="de-CH" sz="1350" b="1">
                <a:solidFill>
                  <a:srgbClr val="202020"/>
                </a:solidFill>
                <a:latin typeface="Arial"/>
              </a:rPr>
              <a:t>5  SpielerElo</a:t>
            </a:r>
          </a:p>
          <a:p>
            <a:pPr algn="ctr"/>
            <a:r>
              <a:rPr lang="de-CH" sz="1150">
                <a:solidFill>
                  <a:srgbClr val="5F5F5F"/>
                </a:solidFill>
                <a:latin typeface="Arial"/>
              </a:rPr>
              <a:t>neuer Monatswert</a:t>
            </a:r>
          </a:p>
        </p:txBody>
      </p:sp>
      <p:sp>
        <p:nvSpPr>
          <p:cNvPr id="15" name="Rounded Rectangle 14"/>
          <p:cNvSpPr/>
          <p:nvPr/>
        </p:nvSpPr>
        <p:spPr>
          <a:xfrm>
            <a:off x="4251960" y="1627632"/>
            <a:ext cx="4343400" cy="3383280"/>
          </a:xfrm>
          <a:prstGeom prst="roundRect">
            <a:avLst/>
          </a:prstGeom>
          <a:solidFill>
            <a:srgbClr val="F7F7F8"/>
          </a:solidFill>
          <a:ln w="12700">
            <a:solidFill>
              <a:srgbClr val="D2D2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80560" y="1847088"/>
            <a:ext cx="3474720" cy="274320"/>
          </a:xfrm>
          <a:prstGeom prst="rect">
            <a:avLst/>
          </a:prstGeom>
          <a:noFill/>
        </p:spPr>
        <p:txBody>
          <a:bodyPr wrap="none" lIns="27432" tIns="9144" rIns="27432" bIns="9144">
            <a:spAutoFit/>
          </a:bodyPr>
          <a:lstStyle/>
          <a:p>
            <a:pPr algn="l"/>
            <a:r>
              <a:rPr lang="de-CH" sz="1900" b="1">
                <a:solidFill>
                  <a:srgbClr val="E4002B"/>
                </a:solidFill>
                <a:latin typeface="Arial"/>
              </a:rPr>
              <a:t>Was zeigt dieses Beispiel?</a:t>
            </a:r>
          </a:p>
        </p:txBody>
      </p:sp>
      <p:sp>
        <p:nvSpPr>
          <p:cNvPr id="17" name="Rectangle 16"/>
          <p:cNvSpPr/>
          <p:nvPr/>
        </p:nvSpPr>
        <p:spPr>
          <a:xfrm>
            <a:off x="4526280" y="2386584"/>
            <a:ext cx="73152" cy="73152"/>
          </a:xfrm>
          <a:prstGeom prst="rect">
            <a:avLst/>
          </a:prstGeom>
          <a:solidFill>
            <a:srgbClr val="E40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681728" y="2331720"/>
            <a:ext cx="3566160" cy="201168"/>
          </a:xfrm>
          <a:prstGeom prst="rect">
            <a:avLst/>
          </a:prstGeom>
          <a:noFill/>
        </p:spPr>
        <p:txBody>
          <a:bodyPr wrap="none" lIns="27432" tIns="9144" rIns="27432" bIns="9144">
            <a:spAutoFit/>
          </a:bodyPr>
          <a:lstStyle/>
          <a:p>
            <a:pPr algn="l"/>
            <a:r>
              <a:rPr lang="de-CH" sz="1280" b="1">
                <a:solidFill>
                  <a:srgbClr val="202020"/>
                </a:solidFill>
                <a:latin typeface="Arial"/>
              </a:rPr>
              <a:t>Mehrere Tabellen arbeiten zusammen</a:t>
            </a:r>
          </a:p>
        </p:txBody>
      </p:sp>
      <p:sp>
        <p:nvSpPr>
          <p:cNvPr id="19" name="TextBox 18"/>
          <p:cNvSpPr txBox="1"/>
          <p:nvPr/>
        </p:nvSpPr>
        <p:spPr>
          <a:xfrm>
            <a:off x="4681728" y="2560320"/>
            <a:ext cx="3611880" cy="210312"/>
          </a:xfrm>
          <a:prstGeom prst="rect">
            <a:avLst/>
          </a:prstGeom>
          <a:noFill/>
        </p:spPr>
        <p:txBody>
          <a:bodyPr wrap="none" lIns="27432" tIns="9144" rIns="27432" bIns="9144">
            <a:spAutoFit/>
          </a:bodyPr>
          <a:lstStyle/>
          <a:p>
            <a:pPr algn="l"/>
            <a:r>
              <a:rPr lang="de-CH" sz="1160" b="0">
                <a:solidFill>
                  <a:srgbClr val="5F5F5F"/>
                </a:solidFill>
                <a:latin typeface="Arial"/>
              </a:rPr>
              <a:t>Einzelspiel · EloProtokoll · SpielerElo</a:t>
            </a:r>
          </a:p>
        </p:txBody>
      </p:sp>
      <p:sp>
        <p:nvSpPr>
          <p:cNvPr id="20" name="Rectangle 19"/>
          <p:cNvSpPr/>
          <p:nvPr/>
        </p:nvSpPr>
        <p:spPr>
          <a:xfrm>
            <a:off x="4526280" y="3008376"/>
            <a:ext cx="73152" cy="73152"/>
          </a:xfrm>
          <a:prstGeom prst="rect">
            <a:avLst/>
          </a:prstGeom>
          <a:solidFill>
            <a:srgbClr val="E40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81728" y="2953512"/>
            <a:ext cx="3566160" cy="201168"/>
          </a:xfrm>
          <a:prstGeom prst="rect">
            <a:avLst/>
          </a:prstGeom>
          <a:noFill/>
        </p:spPr>
        <p:txBody>
          <a:bodyPr wrap="none" lIns="27432" tIns="9144" rIns="27432" bIns="9144">
            <a:spAutoFit/>
          </a:bodyPr>
          <a:lstStyle/>
          <a:p>
            <a:pPr algn="l"/>
            <a:r>
              <a:rPr lang="de-CH" sz="1280" b="1">
                <a:solidFill>
                  <a:srgbClr val="202020"/>
                </a:solidFill>
                <a:latin typeface="Arial"/>
              </a:rPr>
              <a:t>Procedure steuert die Geschäftsregel</a:t>
            </a:r>
          </a:p>
        </p:txBody>
      </p:sp>
      <p:sp>
        <p:nvSpPr>
          <p:cNvPr id="22" name="TextBox 21"/>
          <p:cNvSpPr txBox="1"/>
          <p:nvPr/>
        </p:nvSpPr>
        <p:spPr>
          <a:xfrm>
            <a:off x="4681728" y="3182112"/>
            <a:ext cx="3611880" cy="210312"/>
          </a:xfrm>
          <a:prstGeom prst="rect">
            <a:avLst/>
          </a:prstGeom>
          <a:noFill/>
        </p:spPr>
        <p:txBody>
          <a:bodyPr wrap="none" lIns="27432" tIns="9144" rIns="27432" bIns="9144">
            <a:spAutoFit/>
          </a:bodyPr>
          <a:lstStyle/>
          <a:p>
            <a:pPr algn="l"/>
            <a:r>
              <a:rPr lang="de-CH" sz="1160" b="0">
                <a:solidFill>
                  <a:srgbClr val="5F5F5F"/>
                </a:solidFill>
                <a:latin typeface="Arial"/>
              </a:rPr>
              <a:t>prüfen · berechnen · speichern</a:t>
            </a:r>
          </a:p>
        </p:txBody>
      </p:sp>
      <p:sp>
        <p:nvSpPr>
          <p:cNvPr id="23" name="Rectangle 22"/>
          <p:cNvSpPr/>
          <p:nvPr/>
        </p:nvSpPr>
        <p:spPr>
          <a:xfrm>
            <a:off x="4526280" y="3630168"/>
            <a:ext cx="73152" cy="73152"/>
          </a:xfrm>
          <a:prstGeom prst="rect">
            <a:avLst/>
          </a:prstGeom>
          <a:solidFill>
            <a:srgbClr val="E40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81728" y="3575304"/>
            <a:ext cx="3566160" cy="201168"/>
          </a:xfrm>
          <a:prstGeom prst="rect">
            <a:avLst/>
          </a:prstGeom>
          <a:noFill/>
        </p:spPr>
        <p:txBody>
          <a:bodyPr wrap="none" lIns="27432" tIns="9144" rIns="27432" bIns="9144">
            <a:spAutoFit/>
          </a:bodyPr>
          <a:lstStyle/>
          <a:p>
            <a:pPr algn="l"/>
            <a:r>
              <a:rPr lang="de-CH" sz="1280" b="1">
                <a:solidFill>
                  <a:srgbClr val="202020"/>
                </a:solidFill>
                <a:latin typeface="Arial"/>
              </a:rPr>
              <a:t>Transaktion schützt den Ablauf</a:t>
            </a:r>
          </a:p>
        </p:txBody>
      </p:sp>
      <p:sp>
        <p:nvSpPr>
          <p:cNvPr id="25" name="TextBox 24"/>
          <p:cNvSpPr txBox="1"/>
          <p:nvPr/>
        </p:nvSpPr>
        <p:spPr>
          <a:xfrm>
            <a:off x="4681728" y="3803904"/>
            <a:ext cx="3611880" cy="210312"/>
          </a:xfrm>
          <a:prstGeom prst="rect">
            <a:avLst/>
          </a:prstGeom>
          <a:noFill/>
        </p:spPr>
        <p:txBody>
          <a:bodyPr wrap="none" lIns="27432" tIns="9144" rIns="27432" bIns="9144">
            <a:spAutoFit/>
          </a:bodyPr>
          <a:lstStyle/>
          <a:p>
            <a:pPr algn="l"/>
            <a:r>
              <a:rPr lang="de-CH" sz="1160" b="0">
                <a:solidFill>
                  <a:srgbClr val="5F5F5F"/>
                </a:solidFill>
                <a:latin typeface="Arial"/>
              </a:rPr>
              <a:t>entweder alles oder nichts</a:t>
            </a:r>
          </a:p>
        </p:txBody>
      </p:sp>
      <p:sp>
        <p:nvSpPr>
          <p:cNvPr id="26" name="Rectangle 25"/>
          <p:cNvSpPr/>
          <p:nvPr/>
        </p:nvSpPr>
        <p:spPr>
          <a:xfrm>
            <a:off x="4526280" y="4251959"/>
            <a:ext cx="73152" cy="73152"/>
          </a:xfrm>
          <a:prstGeom prst="rect">
            <a:avLst/>
          </a:prstGeom>
          <a:solidFill>
            <a:srgbClr val="E40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681728" y="4197096"/>
            <a:ext cx="3566160" cy="201168"/>
          </a:xfrm>
          <a:prstGeom prst="rect">
            <a:avLst/>
          </a:prstGeom>
          <a:noFill/>
        </p:spPr>
        <p:txBody>
          <a:bodyPr wrap="none" lIns="27432" tIns="9144" rIns="27432" bIns="9144">
            <a:spAutoFit/>
          </a:bodyPr>
          <a:lstStyle/>
          <a:p>
            <a:pPr algn="l"/>
            <a:r>
              <a:rPr lang="de-CH" sz="1280" b="1">
                <a:solidFill>
                  <a:srgbClr val="202020"/>
                </a:solidFill>
                <a:latin typeface="Arial"/>
              </a:rPr>
              <a:t>Historie bleibt nachvollziehbar</a:t>
            </a:r>
          </a:p>
        </p:txBody>
      </p:sp>
      <p:sp>
        <p:nvSpPr>
          <p:cNvPr id="28" name="TextBox 27"/>
          <p:cNvSpPr txBox="1"/>
          <p:nvPr/>
        </p:nvSpPr>
        <p:spPr>
          <a:xfrm>
            <a:off x="4681728" y="4425696"/>
            <a:ext cx="3611880" cy="210312"/>
          </a:xfrm>
          <a:prstGeom prst="rect">
            <a:avLst/>
          </a:prstGeom>
          <a:noFill/>
        </p:spPr>
        <p:txBody>
          <a:bodyPr wrap="none" lIns="27432" tIns="9144" rIns="27432" bIns="9144">
            <a:spAutoFit/>
          </a:bodyPr>
          <a:lstStyle/>
          <a:p>
            <a:pPr algn="l"/>
            <a:r>
              <a:rPr lang="de-CH" sz="1160" b="0">
                <a:solidFill>
                  <a:srgbClr val="5F5F5F"/>
                </a:solidFill>
                <a:latin typeface="Arial"/>
              </a:rPr>
              <a:t>Ausgangswerte und neue Werte bleiben erklärbar</a:t>
            </a:r>
          </a:p>
        </p:txBody>
      </p:sp>
      <p:sp>
        <p:nvSpPr>
          <p:cNvPr id="29" name="Rounded Rectangle 28"/>
          <p:cNvSpPr/>
          <p:nvPr/>
        </p:nvSpPr>
        <p:spPr>
          <a:xfrm>
            <a:off x="4343400" y="5321808"/>
            <a:ext cx="4069080" cy="457200"/>
          </a:xfrm>
          <a:prstGeom prst="roundRect">
            <a:avLst/>
          </a:prstGeom>
          <a:solidFill>
            <a:srgbClr val="FFFFFF"/>
          </a:solidFill>
          <a:ln w="12700">
            <a:solidFill>
              <a:srgbClr val="D2D2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354830" y="5468112"/>
            <a:ext cx="1005981" cy="176972"/>
          </a:xfrm>
          <a:prstGeom prst="rect">
            <a:avLst/>
          </a:prstGeom>
          <a:noFill/>
        </p:spPr>
        <p:txBody>
          <a:bodyPr wrap="none" lIns="27432" tIns="0" rIns="27432" bIns="0">
            <a:spAutoFit/>
          </a:bodyPr>
          <a:lstStyle/>
          <a:p>
            <a:r>
              <a:rPr lang="de-CH" sz="1150" b="1" dirty="0">
                <a:solidFill>
                  <a:srgbClr val="5F5F5F"/>
                </a:solidFill>
                <a:latin typeface="Arial"/>
              </a:rPr>
              <a:t>Elo Ergebnis:</a:t>
            </a:r>
          </a:p>
        </p:txBody>
      </p:sp>
      <p:sp>
        <p:nvSpPr>
          <p:cNvPr id="31" name="TextBox 30"/>
          <p:cNvSpPr txBox="1"/>
          <p:nvPr/>
        </p:nvSpPr>
        <p:spPr>
          <a:xfrm>
            <a:off x="5715000" y="5468112"/>
            <a:ext cx="1097280" cy="173736"/>
          </a:xfrm>
          <a:prstGeom prst="rect">
            <a:avLst/>
          </a:prstGeom>
          <a:noFill/>
        </p:spPr>
        <p:txBody>
          <a:bodyPr wrap="none" lIns="27432" tIns="0" rIns="27432" bIns="0">
            <a:spAutoFit/>
          </a:bodyPr>
          <a:lstStyle/>
          <a:p>
            <a:r>
              <a:rPr lang="de-CH" sz="1220" b="1" dirty="0">
                <a:solidFill>
                  <a:srgbClr val="218754"/>
                </a:solidFill>
                <a:latin typeface="Arial"/>
              </a:rPr>
              <a:t>Leon +9.590</a:t>
            </a:r>
          </a:p>
        </p:txBody>
      </p:sp>
      <p:sp>
        <p:nvSpPr>
          <p:cNvPr id="32" name="TextBox 31"/>
          <p:cNvSpPr txBox="1"/>
          <p:nvPr/>
        </p:nvSpPr>
        <p:spPr>
          <a:xfrm>
            <a:off x="6903720" y="5468112"/>
            <a:ext cx="1280160" cy="173736"/>
          </a:xfrm>
          <a:prstGeom prst="rect">
            <a:avLst/>
          </a:prstGeom>
          <a:noFill/>
        </p:spPr>
        <p:txBody>
          <a:bodyPr wrap="none" lIns="27432" tIns="0" rIns="27432" bIns="0">
            <a:spAutoFit/>
          </a:bodyPr>
          <a:lstStyle/>
          <a:p>
            <a:r>
              <a:rPr lang="de-CH" sz="1220" b="1" dirty="0">
                <a:solidFill>
                  <a:srgbClr val="E4002B"/>
                </a:solidFill>
                <a:latin typeface="Arial"/>
              </a:rPr>
              <a:t>Daniel −9.590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Qualitätssicherung</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Rebuild als technischer Abschlussnachweis</a:t>
            </a:r>
            <a:endParaRPr lang="de-CH" sz="1300" dirty="0"/>
          </a:p>
        </p:txBody>
      </p:sp>
      <p:sp>
        <p:nvSpPr>
          <p:cNvPr id="5" name="Text 3"/>
          <p:cNvSpPr/>
          <p:nvPr/>
        </p:nvSpPr>
        <p:spPr>
          <a:xfrm>
            <a:off x="594360" y="1371600"/>
            <a:ext cx="8046720" cy="2057400"/>
          </a:xfrm>
          <a:prstGeom prst="rect">
            <a:avLst/>
          </a:prstGeom>
          <a:noFill/>
          <a:ln/>
        </p:spPr>
        <p:txBody>
          <a:bodyPr wrap="square" lIns="635" tIns="635" rIns="635" bIns="635" rtlCol="0" anchor="t"/>
          <a:lstStyle/>
          <a:p>
            <a:pPr marL="177800" indent="-177800">
              <a:buSzPct val="100000"/>
              <a:buChar char="•"/>
            </a:pPr>
            <a:r>
              <a:rPr lang="de-CH" sz="2000" dirty="0">
                <a:solidFill>
                  <a:srgbClr val="252525"/>
                </a:solidFill>
                <a:latin typeface="Aptos" pitchFamily="34" charset="0"/>
                <a:ea typeface="Aptos" pitchFamily="34" charset="-122"/>
                <a:cs typeface="Aptos" pitchFamily="34" charset="-120"/>
              </a:rPr>
              <a:t>Positiv- und Negativtests für die sechs Stored Procedures</a:t>
            </a:r>
            <a:endParaRPr lang="de-CH" sz="2000" dirty="0"/>
          </a:p>
          <a:p>
            <a:pPr marL="177800" indent="-177800">
              <a:buSzPct val="100000"/>
              <a:buChar char="•"/>
            </a:pPr>
            <a:r>
              <a:rPr lang="de-CH" sz="2000" dirty="0">
                <a:solidFill>
                  <a:srgbClr val="252525"/>
                </a:solidFill>
                <a:latin typeface="Aptos" pitchFamily="34" charset="0"/>
                <a:ea typeface="Aptos" pitchFamily="34" charset="-122"/>
                <a:cs typeface="Aptos" pitchFamily="34" charset="-120"/>
              </a:rPr>
              <a:t>Prüfung von Constraints, Fremdschlüsseln und Seed-Daten</a:t>
            </a:r>
            <a:endParaRPr lang="de-CH" sz="2000" dirty="0"/>
          </a:p>
          <a:p>
            <a:pPr marL="177800" indent="-177800">
              <a:buSzPct val="100000"/>
              <a:buChar char="•"/>
            </a:pPr>
            <a:r>
              <a:rPr lang="de-CH" sz="2000" dirty="0">
                <a:solidFill>
                  <a:srgbClr val="252525"/>
                </a:solidFill>
                <a:latin typeface="Aptos" pitchFamily="34" charset="0"/>
                <a:ea typeface="Aptos" pitchFamily="34" charset="-122"/>
                <a:cs typeface="Aptos" pitchFamily="34" charset="-120"/>
              </a:rPr>
              <a:t>Ausführung aller fünf Views</a:t>
            </a:r>
            <a:endParaRPr lang="de-CH" sz="2000" dirty="0"/>
          </a:p>
          <a:p>
            <a:pPr marL="177800" indent="-177800">
              <a:buSzPct val="100000"/>
              <a:buChar char="•"/>
            </a:pPr>
            <a:r>
              <a:rPr lang="de-CH" sz="2000" dirty="0">
                <a:solidFill>
                  <a:srgbClr val="252525"/>
                </a:solidFill>
                <a:latin typeface="Aptos" pitchFamily="34" charset="0"/>
                <a:ea typeface="Aptos" pitchFamily="34" charset="-122"/>
                <a:cs typeface="Aptos" pitchFamily="34" charset="-120"/>
              </a:rPr>
              <a:t>Vollständiger Neuaufbau in einer separaten Testdatenbank</a:t>
            </a:r>
            <a:endParaRPr lang="de-CH" sz="2000" dirty="0"/>
          </a:p>
        </p:txBody>
      </p:sp>
      <p:sp>
        <p:nvSpPr>
          <p:cNvPr id="6" name="Shape 4"/>
          <p:cNvSpPr/>
          <p:nvPr/>
        </p:nvSpPr>
        <p:spPr>
          <a:xfrm>
            <a:off x="914400" y="3794760"/>
            <a:ext cx="7315200" cy="1554480"/>
          </a:xfrm>
          <a:prstGeom prst="roundRect">
            <a:avLst/>
          </a:prstGeom>
          <a:solidFill>
            <a:srgbClr val="F2FBF6"/>
          </a:solidFill>
          <a:ln w="15240">
            <a:solidFill>
              <a:srgbClr val="A9D9BE"/>
            </a:solidFill>
            <a:prstDash val="solid"/>
          </a:ln>
        </p:spPr>
        <p:txBody>
          <a:bodyPr/>
          <a:lstStyle/>
          <a:p>
            <a:endParaRPr lang="de-CH"/>
          </a:p>
        </p:txBody>
      </p:sp>
      <p:sp>
        <p:nvSpPr>
          <p:cNvPr id="7" name="Text 5"/>
          <p:cNvSpPr/>
          <p:nvPr/>
        </p:nvSpPr>
        <p:spPr>
          <a:xfrm>
            <a:off x="1143000" y="4096512"/>
            <a:ext cx="6858000" cy="365760"/>
          </a:xfrm>
          <a:prstGeom prst="rect">
            <a:avLst/>
          </a:prstGeom>
          <a:noFill/>
          <a:ln/>
        </p:spPr>
        <p:txBody>
          <a:bodyPr wrap="square" lIns="0" tIns="0" rIns="0" bIns="0" rtlCol="0" anchor="ctr"/>
          <a:lstStyle/>
          <a:p>
            <a:pPr marL="0" indent="0" algn="ctr">
              <a:buNone/>
            </a:pPr>
            <a:r>
              <a:rPr lang="de-CH" sz="2400" b="1" dirty="0">
                <a:solidFill>
                  <a:srgbClr val="16844B"/>
                </a:solidFill>
                <a:latin typeface="Aptos Display" pitchFamily="34" charset="0"/>
                <a:ea typeface="Aptos Display" pitchFamily="34" charset="-122"/>
                <a:cs typeface="Aptos Display" pitchFamily="34" charset="-120"/>
              </a:rPr>
              <a:t>ALLE REBUILD-PRUEFUNGEN ERFOLGREICH</a:t>
            </a:r>
            <a:endParaRPr lang="de-CH" sz="2400" dirty="0"/>
          </a:p>
        </p:txBody>
      </p:sp>
      <p:sp>
        <p:nvSpPr>
          <p:cNvPr id="8" name="Text 6"/>
          <p:cNvSpPr/>
          <p:nvPr/>
        </p:nvSpPr>
        <p:spPr>
          <a:xfrm>
            <a:off x="1143000" y="4617720"/>
            <a:ext cx="6858000" cy="32004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39 Tabellen   ·   5 Views   ·   6 Stored Procedures   ·   Seeds korrekt</a:t>
            </a:r>
            <a:endParaRPr lang="de-CH" sz="1700" dirty="0"/>
          </a:p>
        </p:txBody>
      </p:sp>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8</a:t>
            </a:fld>
            <a:endParaRPr lang="de-CH"/>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Live-Demo</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Reproduzierbarer fachlicher Ablauf</a:t>
            </a:r>
            <a:endParaRPr lang="de-CH" sz="1300" dirty="0"/>
          </a:p>
        </p:txBody>
      </p:sp>
      <p:sp>
        <p:nvSpPr>
          <p:cNvPr id="5" name="Shape 3"/>
          <p:cNvSpPr/>
          <p:nvPr/>
        </p:nvSpPr>
        <p:spPr>
          <a:xfrm>
            <a:off x="548640" y="1600200"/>
            <a:ext cx="1783080" cy="1005840"/>
          </a:xfrm>
          <a:prstGeom prst="roundRect">
            <a:avLst/>
          </a:prstGeom>
          <a:solidFill>
            <a:srgbClr val="FFF1F4"/>
          </a:solidFill>
          <a:ln w="15240">
            <a:solidFill>
              <a:srgbClr val="E5002B"/>
            </a:solidFill>
            <a:prstDash val="solid"/>
          </a:ln>
        </p:spPr>
        <p:txBody>
          <a:bodyPr/>
          <a:lstStyle/>
          <a:p>
            <a:endParaRPr lang="de-CH"/>
          </a:p>
        </p:txBody>
      </p:sp>
      <p:sp>
        <p:nvSpPr>
          <p:cNvPr id="6" name="Text 4"/>
          <p:cNvSpPr/>
          <p:nvPr/>
        </p:nvSpPr>
        <p:spPr>
          <a:xfrm>
            <a:off x="658368" y="170992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1</a:t>
            </a:r>
            <a:endParaRPr lang="de-CH" sz="1800" dirty="0"/>
          </a:p>
        </p:txBody>
      </p:sp>
      <p:sp>
        <p:nvSpPr>
          <p:cNvPr id="7" name="Text 5"/>
          <p:cNvSpPr/>
          <p:nvPr/>
        </p:nvSpPr>
        <p:spPr>
          <a:xfrm>
            <a:off x="987552" y="178308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Demo-Daten</a:t>
            </a:r>
            <a:endParaRPr lang="de-CH" sz="1700" dirty="0"/>
          </a:p>
        </p:txBody>
      </p:sp>
      <p:sp>
        <p:nvSpPr>
          <p:cNvPr id="8" name="Shape 6"/>
          <p:cNvSpPr/>
          <p:nvPr/>
        </p:nvSpPr>
        <p:spPr>
          <a:xfrm>
            <a:off x="2697480" y="1600200"/>
            <a:ext cx="1783080" cy="1005840"/>
          </a:xfrm>
          <a:prstGeom prst="roundRect">
            <a:avLst/>
          </a:prstGeom>
          <a:solidFill>
            <a:srgbClr val="F4F5F7"/>
          </a:solidFill>
          <a:ln w="15240">
            <a:solidFill>
              <a:srgbClr val="D9DDE3"/>
            </a:solidFill>
            <a:prstDash val="solid"/>
          </a:ln>
        </p:spPr>
        <p:txBody>
          <a:bodyPr/>
          <a:lstStyle/>
          <a:p>
            <a:endParaRPr lang="de-CH"/>
          </a:p>
        </p:txBody>
      </p:sp>
      <p:sp>
        <p:nvSpPr>
          <p:cNvPr id="9" name="Text 7"/>
          <p:cNvSpPr/>
          <p:nvPr/>
        </p:nvSpPr>
        <p:spPr>
          <a:xfrm>
            <a:off x="2807208" y="170992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2</a:t>
            </a:r>
            <a:endParaRPr lang="de-CH" sz="1800" dirty="0"/>
          </a:p>
        </p:txBody>
      </p:sp>
      <p:sp>
        <p:nvSpPr>
          <p:cNvPr id="10" name="Text 8"/>
          <p:cNvSpPr/>
          <p:nvPr/>
        </p:nvSpPr>
        <p:spPr>
          <a:xfrm>
            <a:off x="3136392" y="178308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Spieler</a:t>
            </a:r>
            <a:endParaRPr lang="de-CH" sz="1700" dirty="0"/>
          </a:p>
          <a:p>
            <a:pPr marL="0" indent="0" algn="ctr">
              <a:buNone/>
            </a:pPr>
            <a:r>
              <a:rPr lang="de-CH" sz="1700" b="1" dirty="0">
                <a:solidFill>
                  <a:srgbClr val="252525"/>
                </a:solidFill>
                <a:latin typeface="Aptos" pitchFamily="34" charset="0"/>
                <a:ea typeface="Aptos" pitchFamily="34" charset="-122"/>
                <a:cs typeface="Aptos" pitchFamily="34" charset="-120"/>
              </a:rPr>
              <a:t>anmelden</a:t>
            </a:r>
            <a:endParaRPr lang="de-CH" sz="1700" dirty="0"/>
          </a:p>
        </p:txBody>
      </p:sp>
      <p:sp>
        <p:nvSpPr>
          <p:cNvPr id="11" name="Shape 9"/>
          <p:cNvSpPr/>
          <p:nvPr/>
        </p:nvSpPr>
        <p:spPr>
          <a:xfrm>
            <a:off x="4846320" y="1600200"/>
            <a:ext cx="1783080" cy="1005840"/>
          </a:xfrm>
          <a:prstGeom prst="roundRect">
            <a:avLst/>
          </a:prstGeom>
          <a:solidFill>
            <a:srgbClr val="F4F5F7"/>
          </a:solidFill>
          <a:ln w="15240">
            <a:solidFill>
              <a:srgbClr val="D9DDE3"/>
            </a:solidFill>
            <a:prstDash val="solid"/>
          </a:ln>
        </p:spPr>
        <p:txBody>
          <a:bodyPr/>
          <a:lstStyle/>
          <a:p>
            <a:endParaRPr lang="de-CH"/>
          </a:p>
        </p:txBody>
      </p:sp>
      <p:sp>
        <p:nvSpPr>
          <p:cNvPr id="12" name="Text 10"/>
          <p:cNvSpPr/>
          <p:nvPr/>
        </p:nvSpPr>
        <p:spPr>
          <a:xfrm>
            <a:off x="4956048" y="170992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3</a:t>
            </a:r>
            <a:endParaRPr lang="de-CH" sz="1800" dirty="0"/>
          </a:p>
        </p:txBody>
      </p:sp>
      <p:sp>
        <p:nvSpPr>
          <p:cNvPr id="13" name="Text 11"/>
          <p:cNvSpPr/>
          <p:nvPr/>
        </p:nvSpPr>
        <p:spPr>
          <a:xfrm>
            <a:off x="5285232" y="178308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Mannschaft</a:t>
            </a:r>
            <a:endParaRPr lang="de-CH" sz="1700" dirty="0"/>
          </a:p>
          <a:p>
            <a:pPr marL="0" indent="0" algn="ctr">
              <a:buNone/>
            </a:pPr>
            <a:r>
              <a:rPr lang="de-CH" sz="1700" b="1" dirty="0">
                <a:solidFill>
                  <a:srgbClr val="252525"/>
                </a:solidFill>
                <a:latin typeface="Aptos" pitchFamily="34" charset="0"/>
                <a:ea typeface="Aptos" pitchFamily="34" charset="-122"/>
                <a:cs typeface="Aptos" pitchFamily="34" charset="-120"/>
              </a:rPr>
              <a:t>zuordnen</a:t>
            </a:r>
            <a:endParaRPr lang="de-CH" sz="1700" dirty="0"/>
          </a:p>
        </p:txBody>
      </p:sp>
      <p:sp>
        <p:nvSpPr>
          <p:cNvPr id="14" name="Shape 12"/>
          <p:cNvSpPr/>
          <p:nvPr/>
        </p:nvSpPr>
        <p:spPr>
          <a:xfrm>
            <a:off x="6995160" y="1600200"/>
            <a:ext cx="1783080" cy="1005840"/>
          </a:xfrm>
          <a:prstGeom prst="roundRect">
            <a:avLst/>
          </a:prstGeom>
          <a:solidFill>
            <a:srgbClr val="F4F5F7"/>
          </a:solidFill>
          <a:ln w="15240">
            <a:solidFill>
              <a:srgbClr val="D9DDE3"/>
            </a:solidFill>
            <a:prstDash val="solid"/>
          </a:ln>
        </p:spPr>
        <p:txBody>
          <a:bodyPr/>
          <a:lstStyle/>
          <a:p>
            <a:endParaRPr lang="de-CH"/>
          </a:p>
        </p:txBody>
      </p:sp>
      <p:sp>
        <p:nvSpPr>
          <p:cNvPr id="15" name="Text 13"/>
          <p:cNvSpPr/>
          <p:nvPr/>
        </p:nvSpPr>
        <p:spPr>
          <a:xfrm>
            <a:off x="7104888" y="170992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4</a:t>
            </a:r>
            <a:endParaRPr lang="de-CH" sz="1800" dirty="0"/>
          </a:p>
        </p:txBody>
      </p:sp>
      <p:sp>
        <p:nvSpPr>
          <p:cNvPr id="16" name="Text 14"/>
          <p:cNvSpPr/>
          <p:nvPr/>
        </p:nvSpPr>
        <p:spPr>
          <a:xfrm>
            <a:off x="7434072" y="178308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Begegnung</a:t>
            </a:r>
            <a:endParaRPr lang="de-CH" sz="1700" dirty="0"/>
          </a:p>
          <a:p>
            <a:pPr marL="0" indent="0" algn="ctr">
              <a:buNone/>
            </a:pPr>
            <a:r>
              <a:rPr lang="de-CH" sz="1700" b="1" dirty="0">
                <a:solidFill>
                  <a:srgbClr val="252525"/>
                </a:solidFill>
                <a:latin typeface="Aptos" pitchFamily="34" charset="0"/>
                <a:ea typeface="Aptos" pitchFamily="34" charset="-122"/>
                <a:cs typeface="Aptos" pitchFamily="34" charset="-120"/>
              </a:rPr>
              <a:t>erfassen</a:t>
            </a:r>
            <a:endParaRPr lang="de-CH" sz="1700" dirty="0"/>
          </a:p>
        </p:txBody>
      </p:sp>
      <p:sp>
        <p:nvSpPr>
          <p:cNvPr id="17" name="Shape 15"/>
          <p:cNvSpPr/>
          <p:nvPr/>
        </p:nvSpPr>
        <p:spPr>
          <a:xfrm>
            <a:off x="548640" y="3566160"/>
            <a:ext cx="1783080" cy="1005840"/>
          </a:xfrm>
          <a:prstGeom prst="roundRect">
            <a:avLst/>
          </a:prstGeom>
          <a:solidFill>
            <a:srgbClr val="F4F5F7"/>
          </a:solidFill>
          <a:ln w="15240">
            <a:solidFill>
              <a:srgbClr val="D9DDE3"/>
            </a:solidFill>
            <a:prstDash val="solid"/>
          </a:ln>
        </p:spPr>
        <p:txBody>
          <a:bodyPr/>
          <a:lstStyle/>
          <a:p>
            <a:endParaRPr lang="de-CH"/>
          </a:p>
        </p:txBody>
      </p:sp>
      <p:sp>
        <p:nvSpPr>
          <p:cNvPr id="18" name="Text 16"/>
          <p:cNvSpPr/>
          <p:nvPr/>
        </p:nvSpPr>
        <p:spPr>
          <a:xfrm>
            <a:off x="658368" y="367588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5</a:t>
            </a:r>
            <a:endParaRPr lang="de-CH" sz="1800" dirty="0"/>
          </a:p>
        </p:txBody>
      </p:sp>
      <p:sp>
        <p:nvSpPr>
          <p:cNvPr id="19" name="Text 17"/>
          <p:cNvSpPr/>
          <p:nvPr/>
        </p:nvSpPr>
        <p:spPr>
          <a:xfrm>
            <a:off x="987552" y="374904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Resultat</a:t>
            </a:r>
            <a:endParaRPr lang="de-CH" sz="1700" dirty="0"/>
          </a:p>
        </p:txBody>
      </p:sp>
      <p:sp>
        <p:nvSpPr>
          <p:cNvPr id="20" name="Shape 18"/>
          <p:cNvSpPr/>
          <p:nvPr/>
        </p:nvSpPr>
        <p:spPr>
          <a:xfrm>
            <a:off x="2697480" y="3566160"/>
            <a:ext cx="1783080" cy="1005840"/>
          </a:xfrm>
          <a:prstGeom prst="roundRect">
            <a:avLst/>
          </a:prstGeom>
          <a:solidFill>
            <a:srgbClr val="F4F5F7"/>
          </a:solidFill>
          <a:ln w="15240">
            <a:solidFill>
              <a:srgbClr val="D9DDE3"/>
            </a:solidFill>
            <a:prstDash val="solid"/>
          </a:ln>
        </p:spPr>
        <p:txBody>
          <a:bodyPr/>
          <a:lstStyle/>
          <a:p>
            <a:endParaRPr lang="de-CH"/>
          </a:p>
        </p:txBody>
      </p:sp>
      <p:sp>
        <p:nvSpPr>
          <p:cNvPr id="21" name="Text 19"/>
          <p:cNvSpPr/>
          <p:nvPr/>
        </p:nvSpPr>
        <p:spPr>
          <a:xfrm>
            <a:off x="2807208" y="367588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6</a:t>
            </a:r>
            <a:endParaRPr lang="de-CH" sz="1800" dirty="0"/>
          </a:p>
        </p:txBody>
      </p:sp>
      <p:sp>
        <p:nvSpPr>
          <p:cNvPr id="22" name="Text 20"/>
          <p:cNvSpPr/>
          <p:nvPr/>
        </p:nvSpPr>
        <p:spPr>
          <a:xfrm>
            <a:off x="3136392" y="374904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Elo</a:t>
            </a:r>
            <a:endParaRPr lang="de-CH" sz="1700" dirty="0"/>
          </a:p>
        </p:txBody>
      </p:sp>
      <p:sp>
        <p:nvSpPr>
          <p:cNvPr id="23" name="Shape 21"/>
          <p:cNvSpPr/>
          <p:nvPr/>
        </p:nvSpPr>
        <p:spPr>
          <a:xfrm>
            <a:off x="4846320" y="3566160"/>
            <a:ext cx="1783080" cy="1005840"/>
          </a:xfrm>
          <a:prstGeom prst="roundRect">
            <a:avLst/>
          </a:prstGeom>
          <a:solidFill>
            <a:srgbClr val="F4F5F7"/>
          </a:solidFill>
          <a:ln w="15240">
            <a:solidFill>
              <a:srgbClr val="D9DDE3"/>
            </a:solidFill>
            <a:prstDash val="solid"/>
          </a:ln>
        </p:spPr>
        <p:txBody>
          <a:bodyPr/>
          <a:lstStyle/>
          <a:p>
            <a:endParaRPr lang="de-CH"/>
          </a:p>
        </p:txBody>
      </p:sp>
      <p:sp>
        <p:nvSpPr>
          <p:cNvPr id="24" name="Text 22"/>
          <p:cNvSpPr/>
          <p:nvPr/>
        </p:nvSpPr>
        <p:spPr>
          <a:xfrm>
            <a:off x="4956048" y="367588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7</a:t>
            </a:r>
            <a:endParaRPr lang="de-CH" sz="1800" dirty="0"/>
          </a:p>
        </p:txBody>
      </p:sp>
      <p:sp>
        <p:nvSpPr>
          <p:cNvPr id="25" name="Text 23"/>
          <p:cNvSpPr/>
          <p:nvPr/>
        </p:nvSpPr>
        <p:spPr>
          <a:xfrm>
            <a:off x="5285232" y="374904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Turnier</a:t>
            </a:r>
            <a:endParaRPr lang="de-CH" sz="1700" dirty="0"/>
          </a:p>
        </p:txBody>
      </p:sp>
      <p:sp>
        <p:nvSpPr>
          <p:cNvPr id="26" name="Shape 24"/>
          <p:cNvSpPr/>
          <p:nvPr/>
        </p:nvSpPr>
        <p:spPr>
          <a:xfrm>
            <a:off x="6995160" y="3566160"/>
            <a:ext cx="1783080" cy="1005840"/>
          </a:xfrm>
          <a:prstGeom prst="roundRect">
            <a:avLst/>
          </a:prstGeom>
          <a:solidFill>
            <a:srgbClr val="F4F5F7"/>
          </a:solidFill>
          <a:ln w="15240">
            <a:solidFill>
              <a:srgbClr val="D9DDE3"/>
            </a:solidFill>
            <a:prstDash val="solid"/>
          </a:ln>
        </p:spPr>
        <p:txBody>
          <a:bodyPr/>
          <a:lstStyle/>
          <a:p>
            <a:endParaRPr lang="de-CH"/>
          </a:p>
        </p:txBody>
      </p:sp>
      <p:sp>
        <p:nvSpPr>
          <p:cNvPr id="27" name="Text 25"/>
          <p:cNvSpPr/>
          <p:nvPr/>
        </p:nvSpPr>
        <p:spPr>
          <a:xfrm>
            <a:off x="7104888" y="3675888"/>
            <a:ext cx="320040" cy="320040"/>
          </a:xfrm>
          <a:prstGeom prst="rect">
            <a:avLst/>
          </a:prstGeom>
          <a:noFill/>
          <a:ln/>
        </p:spPr>
        <p:txBody>
          <a:bodyPr wrap="square" lIns="0" tIns="0" rIns="0" bIns="0" rtlCol="0" anchor="ctr"/>
          <a:lstStyle/>
          <a:p>
            <a:pPr marL="0" indent="0" algn="ctr">
              <a:buNone/>
            </a:pPr>
            <a:r>
              <a:rPr lang="de-CH" sz="1800" b="1" dirty="0">
                <a:solidFill>
                  <a:srgbClr val="E5002B"/>
                </a:solidFill>
                <a:latin typeface="Aptos Display" pitchFamily="34" charset="0"/>
                <a:ea typeface="Aptos Display" pitchFamily="34" charset="-122"/>
                <a:cs typeface="Aptos Display" pitchFamily="34" charset="-120"/>
              </a:rPr>
              <a:t>8</a:t>
            </a:r>
            <a:endParaRPr lang="de-CH" sz="1800" dirty="0"/>
          </a:p>
        </p:txBody>
      </p:sp>
      <p:sp>
        <p:nvSpPr>
          <p:cNvPr id="28" name="Text 26"/>
          <p:cNvSpPr/>
          <p:nvPr/>
        </p:nvSpPr>
        <p:spPr>
          <a:xfrm>
            <a:off x="7434072" y="3749040"/>
            <a:ext cx="1207008" cy="64008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Views</a:t>
            </a:r>
            <a:endParaRPr lang="de-CH" sz="1700" dirty="0"/>
          </a:p>
        </p:txBody>
      </p:sp>
      <p:sp>
        <p:nvSpPr>
          <p:cNvPr id="29" name="Text 27"/>
          <p:cNvSpPr/>
          <p:nvPr/>
        </p:nvSpPr>
        <p:spPr>
          <a:xfrm>
            <a:off x="1188720" y="5623560"/>
            <a:ext cx="6766560" cy="347472"/>
          </a:xfrm>
          <a:prstGeom prst="rect">
            <a:avLst/>
          </a:prstGeom>
          <a:noFill/>
          <a:ln/>
        </p:spPr>
        <p:txBody>
          <a:bodyPr wrap="square" lIns="0" tIns="0" rIns="0" bIns="0" rtlCol="0" anchor="ctr"/>
          <a:lstStyle/>
          <a:p>
            <a:pPr marL="0" indent="0" algn="ctr">
              <a:buNone/>
            </a:pPr>
            <a:r>
              <a:rPr lang="de-CH" sz="1800" b="1" dirty="0">
                <a:solidFill>
                  <a:srgbClr val="E5002B"/>
                </a:solidFill>
                <a:latin typeface="Aptos" pitchFamily="34" charset="0"/>
                <a:ea typeface="Aptos" pitchFamily="34" charset="-122"/>
                <a:cs typeface="Aptos" pitchFamily="34" charset="-120"/>
              </a:rPr>
              <a:t>01_DemoDaten.sql  →  02_DemoAblauf.sql</a:t>
            </a:r>
            <a:endParaRPr lang="de-CH" sz="1800" dirty="0"/>
          </a:p>
        </p:txBody>
      </p:sp>
      <p:sp>
        <p:nvSpPr>
          <p:cNvPr id="30"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9</a:t>
            </a:fld>
            <a:endParaRPr lang="de-CH"/>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Herausforderungen &amp; Lerngewinn</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Was über das reine Tabellen-Anlegen hinausging</a:t>
            </a:r>
            <a:endParaRPr lang="de-CH" sz="1300" dirty="0"/>
          </a:p>
        </p:txBody>
      </p:sp>
      <p:sp>
        <p:nvSpPr>
          <p:cNvPr id="5" name="Shape 3"/>
          <p:cNvSpPr/>
          <p:nvPr/>
        </p:nvSpPr>
        <p:spPr>
          <a:xfrm>
            <a:off x="548640" y="1417320"/>
            <a:ext cx="3840480" cy="4526280"/>
          </a:xfrm>
          <a:prstGeom prst="roundRect">
            <a:avLst>
              <a:gd name="adj" fmla="val 1429"/>
            </a:avLst>
          </a:prstGeom>
          <a:solidFill>
            <a:srgbClr val="F4F5F7"/>
          </a:solidFill>
          <a:ln w="12700">
            <a:solidFill>
              <a:srgbClr val="D9DDE3"/>
            </a:solidFill>
            <a:prstDash val="solid"/>
          </a:ln>
        </p:spPr>
        <p:txBody>
          <a:bodyPr/>
          <a:lstStyle/>
          <a:p>
            <a:endParaRPr lang="de-CH"/>
          </a:p>
        </p:txBody>
      </p:sp>
      <p:sp>
        <p:nvSpPr>
          <p:cNvPr id="6" name="Shape 4"/>
          <p:cNvSpPr/>
          <p:nvPr/>
        </p:nvSpPr>
        <p:spPr>
          <a:xfrm>
            <a:off x="548640" y="1417320"/>
            <a:ext cx="73152" cy="4526280"/>
          </a:xfrm>
          <a:prstGeom prst="rect">
            <a:avLst/>
          </a:prstGeom>
          <a:solidFill>
            <a:srgbClr val="E5002B"/>
          </a:solidFill>
          <a:ln w="12700">
            <a:solidFill>
              <a:srgbClr val="E5002B"/>
            </a:solidFill>
            <a:prstDash val="solid"/>
          </a:ln>
        </p:spPr>
        <p:txBody>
          <a:bodyPr/>
          <a:lstStyle/>
          <a:p>
            <a:endParaRPr lang="de-CH"/>
          </a:p>
        </p:txBody>
      </p:sp>
      <p:sp>
        <p:nvSpPr>
          <p:cNvPr id="7" name="Text 5"/>
          <p:cNvSpPr/>
          <p:nvPr/>
        </p:nvSpPr>
        <p:spPr>
          <a:xfrm>
            <a:off x="749808" y="1581912"/>
            <a:ext cx="3511296" cy="320040"/>
          </a:xfrm>
          <a:prstGeom prst="rect">
            <a:avLst/>
          </a:prstGeom>
          <a:noFill/>
          <a:ln/>
        </p:spPr>
        <p:txBody>
          <a:bodyPr wrap="square" lIns="0" tIns="0" rIns="0" bIns="0" rtlCol="0" anchor="ctr"/>
          <a:lstStyle/>
          <a:p>
            <a:pPr marL="0" indent="0">
              <a:buNone/>
            </a:pPr>
            <a:r>
              <a:rPr lang="de-CH" sz="2200" b="1" dirty="0">
                <a:solidFill>
                  <a:srgbClr val="111111"/>
                </a:solidFill>
                <a:latin typeface="Aptos Display" pitchFamily="34" charset="0"/>
                <a:ea typeface="Aptos Display" pitchFamily="34" charset="-122"/>
                <a:cs typeface="Aptos Display" pitchFamily="34" charset="-120"/>
              </a:rPr>
              <a:t>Herausforderungen</a:t>
            </a:r>
            <a:endParaRPr lang="de-CH" sz="2200" dirty="0"/>
          </a:p>
        </p:txBody>
      </p:sp>
      <p:sp>
        <p:nvSpPr>
          <p:cNvPr id="8" name="Text 6"/>
          <p:cNvSpPr/>
          <p:nvPr/>
        </p:nvSpPr>
        <p:spPr>
          <a:xfrm>
            <a:off x="749808" y="2011680"/>
            <a:ext cx="3511296" cy="3776472"/>
          </a:xfrm>
          <a:prstGeom prst="rect">
            <a:avLst/>
          </a:prstGeom>
          <a:noFill/>
          <a:ln/>
        </p:spPr>
        <p:txBody>
          <a:bodyPr wrap="square" lIns="127" tIns="127" rIns="127" bIns="127" rtlCol="0" anchor="t"/>
          <a:lstStyle/>
          <a:p>
            <a:pPr marL="0" indent="0">
              <a:buNone/>
            </a:pPr>
            <a:r>
              <a:rPr lang="de-CH" sz="1800" dirty="0">
                <a:solidFill>
                  <a:srgbClr val="252525"/>
                </a:solidFill>
                <a:latin typeface="Aptos" pitchFamily="34" charset="0"/>
                <a:ea typeface="Aptos" pitchFamily="34" charset="-122"/>
                <a:cs typeface="Aptos" pitchFamily="34" charset="-120"/>
              </a:rPr>
              <a:t>• Fremdschlüssel-Abhängigkeiten</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Rebuild-Reihenfolge</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Constraint oder Procedure?</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Historisierung von Elo</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Lesbares ER-Modell</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Reproduzierbare Demo</a:t>
            </a:r>
            <a:endParaRPr lang="de-CH" sz="1800" dirty="0"/>
          </a:p>
        </p:txBody>
      </p:sp>
      <p:sp>
        <p:nvSpPr>
          <p:cNvPr id="9" name="Shape 7"/>
          <p:cNvSpPr/>
          <p:nvPr/>
        </p:nvSpPr>
        <p:spPr>
          <a:xfrm>
            <a:off x="4709160" y="1417320"/>
            <a:ext cx="3840480" cy="4526280"/>
          </a:xfrm>
          <a:prstGeom prst="roundRect">
            <a:avLst>
              <a:gd name="adj" fmla="val 1429"/>
            </a:avLst>
          </a:prstGeom>
          <a:solidFill>
            <a:srgbClr val="FFF5F7"/>
          </a:solidFill>
          <a:ln w="12700">
            <a:solidFill>
              <a:srgbClr val="D9DDE3"/>
            </a:solidFill>
            <a:prstDash val="solid"/>
          </a:ln>
        </p:spPr>
        <p:txBody>
          <a:bodyPr/>
          <a:lstStyle/>
          <a:p>
            <a:endParaRPr lang="de-CH"/>
          </a:p>
        </p:txBody>
      </p:sp>
      <p:sp>
        <p:nvSpPr>
          <p:cNvPr id="10" name="Shape 8"/>
          <p:cNvSpPr/>
          <p:nvPr/>
        </p:nvSpPr>
        <p:spPr>
          <a:xfrm>
            <a:off x="4709160" y="1417320"/>
            <a:ext cx="73152" cy="4526280"/>
          </a:xfrm>
          <a:prstGeom prst="rect">
            <a:avLst/>
          </a:prstGeom>
          <a:solidFill>
            <a:srgbClr val="E5002B"/>
          </a:solidFill>
          <a:ln w="12700">
            <a:solidFill>
              <a:srgbClr val="E5002B"/>
            </a:solidFill>
            <a:prstDash val="solid"/>
          </a:ln>
        </p:spPr>
        <p:txBody>
          <a:bodyPr/>
          <a:lstStyle/>
          <a:p>
            <a:endParaRPr lang="de-CH"/>
          </a:p>
        </p:txBody>
      </p:sp>
      <p:sp>
        <p:nvSpPr>
          <p:cNvPr id="11" name="Text 9"/>
          <p:cNvSpPr/>
          <p:nvPr/>
        </p:nvSpPr>
        <p:spPr>
          <a:xfrm>
            <a:off x="4910328" y="1581912"/>
            <a:ext cx="3511296" cy="320040"/>
          </a:xfrm>
          <a:prstGeom prst="rect">
            <a:avLst/>
          </a:prstGeom>
          <a:noFill/>
          <a:ln/>
        </p:spPr>
        <p:txBody>
          <a:bodyPr wrap="square" lIns="0" tIns="0" rIns="0" bIns="0" rtlCol="0" anchor="ctr"/>
          <a:lstStyle/>
          <a:p>
            <a:pPr marL="0" indent="0">
              <a:buNone/>
            </a:pPr>
            <a:r>
              <a:rPr lang="de-CH" sz="2200" b="1" dirty="0">
                <a:solidFill>
                  <a:srgbClr val="111111"/>
                </a:solidFill>
                <a:latin typeface="Aptos Display" pitchFamily="34" charset="0"/>
                <a:ea typeface="Aptos Display" pitchFamily="34" charset="-122"/>
                <a:cs typeface="Aptos Display" pitchFamily="34" charset="-120"/>
              </a:rPr>
              <a:t>Vertiefung</a:t>
            </a:r>
            <a:endParaRPr lang="de-CH" sz="2200" dirty="0"/>
          </a:p>
        </p:txBody>
      </p:sp>
      <p:sp>
        <p:nvSpPr>
          <p:cNvPr id="12" name="Text 10"/>
          <p:cNvSpPr/>
          <p:nvPr/>
        </p:nvSpPr>
        <p:spPr>
          <a:xfrm>
            <a:off x="4910328" y="2011680"/>
            <a:ext cx="3511296" cy="3776472"/>
          </a:xfrm>
          <a:prstGeom prst="rect">
            <a:avLst/>
          </a:prstGeom>
          <a:noFill/>
          <a:ln/>
        </p:spPr>
        <p:txBody>
          <a:bodyPr wrap="square" lIns="127" tIns="127" rIns="127" bIns="127" rtlCol="0" anchor="t"/>
          <a:lstStyle/>
          <a:p>
            <a:pPr marL="0" indent="0">
              <a:buNone/>
            </a:pPr>
            <a:r>
              <a:rPr lang="de-CH" sz="1800" dirty="0">
                <a:solidFill>
                  <a:srgbClr val="252525"/>
                </a:solidFill>
                <a:latin typeface="Aptos" pitchFamily="34" charset="0"/>
                <a:ea typeface="Aptos" pitchFamily="34" charset="-122"/>
                <a:cs typeface="Aptos" pitchFamily="34" charset="-120"/>
              </a:rPr>
              <a:t>• Gefilterte UNIQUE-Indizes</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Persistierte Spalten</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Stored Procedures</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Transaktionen</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TRY/CATCH + THROW</a:t>
            </a:r>
            <a:endParaRPr lang="de-CH" sz="1800" dirty="0"/>
          </a:p>
          <a:p>
            <a:pPr marL="0" indent="0">
              <a:buNone/>
            </a:pPr>
            <a:r>
              <a:rPr lang="de-CH" sz="1800" dirty="0">
                <a:solidFill>
                  <a:srgbClr val="252525"/>
                </a:solidFill>
                <a:latin typeface="Aptos" pitchFamily="34" charset="0"/>
                <a:ea typeface="Aptos" pitchFamily="34" charset="-122"/>
                <a:cs typeface="Aptos" pitchFamily="34" charset="-120"/>
              </a:rPr>
              <a:t>• SQLCMD + Vagrant</a:t>
            </a:r>
            <a:endParaRPr lang="de-CH" sz="1800" dirty="0"/>
          </a:p>
        </p:txBody>
      </p:sp>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10</a:t>
            </a:fld>
            <a:endParaRPr lang="de-CH"/>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438912"/>
            <a:ext cx="6537960" cy="420624"/>
          </a:xfrm>
          <a:prstGeom prst="rect">
            <a:avLst/>
          </a:prstGeom>
          <a:noFill/>
          <a:ln/>
        </p:spPr>
        <p:txBody>
          <a:bodyPr wrap="square" lIns="0" tIns="0" rIns="0" bIns="0" rtlCol="0" anchor="ctr"/>
          <a:lstStyle/>
          <a:p>
            <a:pPr marL="0" indent="0">
              <a:buNone/>
            </a:pPr>
            <a:r>
              <a:rPr lang="de-CH" sz="2900" b="1" dirty="0">
                <a:solidFill>
                  <a:srgbClr val="111111"/>
                </a:solidFill>
                <a:latin typeface="Aptos Display" pitchFamily="34" charset="0"/>
                <a:ea typeface="Aptos Display" pitchFamily="34" charset="-122"/>
                <a:cs typeface="Aptos Display" pitchFamily="34" charset="-120"/>
              </a:rPr>
              <a:t>Fazit</a:t>
            </a:r>
            <a:endParaRPr lang="de-CH" sz="2900" dirty="0"/>
          </a:p>
        </p:txBody>
      </p:sp>
      <p:sp>
        <p:nvSpPr>
          <p:cNvPr id="3" name="Shape 1"/>
          <p:cNvSpPr/>
          <p:nvPr/>
        </p:nvSpPr>
        <p:spPr>
          <a:xfrm>
            <a:off x="502920" y="960120"/>
            <a:ext cx="1143000" cy="0"/>
          </a:xfrm>
          <a:prstGeom prst="line">
            <a:avLst/>
          </a:prstGeom>
          <a:noFill/>
          <a:ln w="38100">
            <a:solidFill>
              <a:srgbClr val="E5002B"/>
            </a:solidFill>
            <a:prstDash val="solid"/>
          </a:ln>
        </p:spPr>
        <p:txBody>
          <a:bodyPr/>
          <a:lstStyle/>
          <a:p>
            <a:endParaRPr lang="de-CH"/>
          </a:p>
        </p:txBody>
      </p:sp>
      <p:sp>
        <p:nvSpPr>
          <p:cNvPr id="4" name="Text 2"/>
          <p:cNvSpPr/>
          <p:nvPr/>
        </p:nvSpPr>
        <p:spPr>
          <a:xfrm>
            <a:off x="502920" y="1069848"/>
            <a:ext cx="6400800" cy="219456"/>
          </a:xfrm>
          <a:prstGeom prst="rect">
            <a:avLst/>
          </a:prstGeom>
          <a:noFill/>
          <a:ln/>
        </p:spPr>
        <p:txBody>
          <a:bodyPr wrap="square" lIns="0" tIns="0" rIns="0" bIns="0" rtlCol="0" anchor="ctr"/>
          <a:lstStyle/>
          <a:p>
            <a:pPr marL="0" indent="0">
              <a:buNone/>
            </a:pPr>
            <a:r>
              <a:rPr lang="de-CH" sz="1300" dirty="0">
                <a:solidFill>
                  <a:srgbClr val="666666"/>
                </a:solidFill>
                <a:latin typeface="Aptos" pitchFamily="34" charset="0"/>
                <a:ea typeface="Aptos" pitchFamily="34" charset="-122"/>
                <a:cs typeface="Aptos" pitchFamily="34" charset="-120"/>
              </a:rPr>
              <a:t>Finaler Projektstand</a:t>
            </a:r>
            <a:endParaRPr lang="de-CH" sz="1300" dirty="0"/>
          </a:p>
        </p:txBody>
      </p:sp>
      <p:sp>
        <p:nvSpPr>
          <p:cNvPr id="5" name="Text 3"/>
          <p:cNvSpPr/>
          <p:nvPr/>
        </p:nvSpPr>
        <p:spPr>
          <a:xfrm>
            <a:off x="731520" y="1600200"/>
            <a:ext cx="1325880" cy="685800"/>
          </a:xfrm>
          <a:prstGeom prst="rect">
            <a:avLst/>
          </a:prstGeom>
          <a:noFill/>
          <a:ln/>
        </p:spPr>
        <p:txBody>
          <a:bodyPr wrap="square" lIns="0" tIns="0" rIns="0" bIns="0" rtlCol="0" anchor="ctr"/>
          <a:lstStyle/>
          <a:p>
            <a:pPr marL="0" indent="0" algn="ctr">
              <a:buNone/>
            </a:pPr>
            <a:r>
              <a:rPr lang="de-CH" sz="4000" b="1" dirty="0">
                <a:solidFill>
                  <a:srgbClr val="E5002B"/>
                </a:solidFill>
                <a:latin typeface="Aptos Display" pitchFamily="34" charset="0"/>
                <a:ea typeface="Aptos Display" pitchFamily="34" charset="-122"/>
                <a:cs typeface="Aptos Display" pitchFamily="34" charset="-120"/>
              </a:rPr>
              <a:t>39</a:t>
            </a:r>
            <a:endParaRPr lang="de-CH" sz="4000" dirty="0"/>
          </a:p>
        </p:txBody>
      </p:sp>
      <p:sp>
        <p:nvSpPr>
          <p:cNvPr id="6" name="Text 4"/>
          <p:cNvSpPr/>
          <p:nvPr/>
        </p:nvSpPr>
        <p:spPr>
          <a:xfrm>
            <a:off x="731520" y="2331720"/>
            <a:ext cx="1325880" cy="27432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Tabellen</a:t>
            </a:r>
            <a:endParaRPr lang="de-CH" sz="1700" dirty="0"/>
          </a:p>
        </p:txBody>
      </p:sp>
      <p:sp>
        <p:nvSpPr>
          <p:cNvPr id="7" name="Text 5"/>
          <p:cNvSpPr/>
          <p:nvPr/>
        </p:nvSpPr>
        <p:spPr>
          <a:xfrm>
            <a:off x="2743200" y="1600200"/>
            <a:ext cx="1325880" cy="685800"/>
          </a:xfrm>
          <a:prstGeom prst="rect">
            <a:avLst/>
          </a:prstGeom>
          <a:noFill/>
          <a:ln/>
        </p:spPr>
        <p:txBody>
          <a:bodyPr wrap="square" lIns="0" tIns="0" rIns="0" bIns="0" rtlCol="0" anchor="ctr"/>
          <a:lstStyle/>
          <a:p>
            <a:pPr marL="0" indent="0" algn="ctr">
              <a:buNone/>
            </a:pPr>
            <a:r>
              <a:rPr lang="de-CH" sz="4000" b="1" dirty="0">
                <a:solidFill>
                  <a:srgbClr val="E5002B"/>
                </a:solidFill>
                <a:latin typeface="Aptos Display" pitchFamily="34" charset="0"/>
                <a:ea typeface="Aptos Display" pitchFamily="34" charset="-122"/>
                <a:cs typeface="Aptos Display" pitchFamily="34" charset="-120"/>
              </a:rPr>
              <a:t>5</a:t>
            </a:r>
            <a:endParaRPr lang="de-CH" sz="4000" dirty="0"/>
          </a:p>
        </p:txBody>
      </p:sp>
      <p:sp>
        <p:nvSpPr>
          <p:cNvPr id="8" name="Text 6"/>
          <p:cNvSpPr/>
          <p:nvPr/>
        </p:nvSpPr>
        <p:spPr>
          <a:xfrm>
            <a:off x="2743200" y="2331720"/>
            <a:ext cx="1325880" cy="27432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Views</a:t>
            </a:r>
            <a:endParaRPr lang="de-CH" sz="1700" dirty="0"/>
          </a:p>
        </p:txBody>
      </p:sp>
      <p:sp>
        <p:nvSpPr>
          <p:cNvPr id="9" name="Text 7"/>
          <p:cNvSpPr/>
          <p:nvPr/>
        </p:nvSpPr>
        <p:spPr>
          <a:xfrm>
            <a:off x="4754880" y="1600200"/>
            <a:ext cx="1325880" cy="685800"/>
          </a:xfrm>
          <a:prstGeom prst="rect">
            <a:avLst/>
          </a:prstGeom>
          <a:noFill/>
          <a:ln/>
        </p:spPr>
        <p:txBody>
          <a:bodyPr wrap="square" lIns="0" tIns="0" rIns="0" bIns="0" rtlCol="0" anchor="ctr"/>
          <a:lstStyle/>
          <a:p>
            <a:pPr marL="0" indent="0" algn="ctr">
              <a:buNone/>
            </a:pPr>
            <a:r>
              <a:rPr lang="de-CH" sz="4000" b="1" dirty="0">
                <a:solidFill>
                  <a:srgbClr val="E5002B"/>
                </a:solidFill>
                <a:latin typeface="Aptos Display" pitchFamily="34" charset="0"/>
                <a:ea typeface="Aptos Display" pitchFamily="34" charset="-122"/>
                <a:cs typeface="Aptos Display" pitchFamily="34" charset="-120"/>
              </a:rPr>
              <a:t>6</a:t>
            </a:r>
            <a:endParaRPr lang="de-CH" sz="4000" dirty="0"/>
          </a:p>
        </p:txBody>
      </p:sp>
      <p:sp>
        <p:nvSpPr>
          <p:cNvPr id="10" name="Text 8"/>
          <p:cNvSpPr/>
          <p:nvPr/>
        </p:nvSpPr>
        <p:spPr>
          <a:xfrm>
            <a:off x="4754880" y="2331720"/>
            <a:ext cx="1325880" cy="27432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Procedures</a:t>
            </a:r>
            <a:endParaRPr lang="de-CH" sz="1700" dirty="0"/>
          </a:p>
        </p:txBody>
      </p:sp>
      <p:sp>
        <p:nvSpPr>
          <p:cNvPr id="11" name="Text 9"/>
          <p:cNvSpPr/>
          <p:nvPr/>
        </p:nvSpPr>
        <p:spPr>
          <a:xfrm>
            <a:off x="6766560" y="1600200"/>
            <a:ext cx="1325880" cy="685800"/>
          </a:xfrm>
          <a:prstGeom prst="rect">
            <a:avLst/>
          </a:prstGeom>
          <a:noFill/>
          <a:ln/>
        </p:spPr>
        <p:txBody>
          <a:bodyPr wrap="square" lIns="0" tIns="0" rIns="0" bIns="0" rtlCol="0" anchor="ctr"/>
          <a:lstStyle/>
          <a:p>
            <a:pPr marL="0" indent="0" algn="ctr">
              <a:buNone/>
            </a:pPr>
            <a:r>
              <a:rPr lang="de-CH" sz="4000" b="1" dirty="0">
                <a:solidFill>
                  <a:srgbClr val="E5002B"/>
                </a:solidFill>
                <a:latin typeface="Aptos Display" pitchFamily="34" charset="0"/>
                <a:ea typeface="Aptos Display" pitchFamily="34" charset="-122"/>
                <a:cs typeface="Aptos Display" pitchFamily="34" charset="-120"/>
              </a:rPr>
              <a:t>2</a:t>
            </a:r>
            <a:endParaRPr lang="de-CH" sz="4000" dirty="0"/>
          </a:p>
        </p:txBody>
      </p:sp>
      <p:sp>
        <p:nvSpPr>
          <p:cNvPr id="12" name="Text 10"/>
          <p:cNvSpPr/>
          <p:nvPr/>
        </p:nvSpPr>
        <p:spPr>
          <a:xfrm>
            <a:off x="6629400" y="2331720"/>
            <a:ext cx="1600200" cy="274320"/>
          </a:xfrm>
          <a:prstGeom prst="rect">
            <a:avLst/>
          </a:prstGeom>
          <a:noFill/>
          <a:ln/>
        </p:spPr>
        <p:txBody>
          <a:bodyPr wrap="square" lIns="0" tIns="0" rIns="0" bIns="0" rtlCol="0" anchor="ctr"/>
          <a:lstStyle/>
          <a:p>
            <a:pPr marL="0" indent="0" algn="ctr">
              <a:buNone/>
            </a:pPr>
            <a:r>
              <a:rPr lang="de-CH" sz="1700" b="1" dirty="0">
                <a:solidFill>
                  <a:srgbClr val="252525"/>
                </a:solidFill>
                <a:latin typeface="Aptos" pitchFamily="34" charset="0"/>
                <a:ea typeface="Aptos" pitchFamily="34" charset="-122"/>
                <a:cs typeface="Aptos" pitchFamily="34" charset="-120"/>
              </a:rPr>
              <a:t>Demo-Skripte</a:t>
            </a:r>
            <a:endParaRPr lang="de-CH" sz="1700" dirty="0"/>
          </a:p>
        </p:txBody>
      </p:sp>
      <p:sp>
        <p:nvSpPr>
          <p:cNvPr id="13" name="Shape 11"/>
          <p:cNvSpPr/>
          <p:nvPr/>
        </p:nvSpPr>
        <p:spPr>
          <a:xfrm>
            <a:off x="777240" y="3154680"/>
            <a:ext cx="7589520" cy="1417320"/>
          </a:xfrm>
          <a:prstGeom prst="roundRect">
            <a:avLst>
              <a:gd name="adj" fmla="val 3871"/>
            </a:avLst>
          </a:prstGeom>
          <a:solidFill>
            <a:srgbClr val="FFF5F7"/>
          </a:solidFill>
          <a:ln w="12700">
            <a:solidFill>
              <a:srgbClr val="D9DDE3"/>
            </a:solidFill>
            <a:prstDash val="solid"/>
          </a:ln>
        </p:spPr>
        <p:txBody>
          <a:bodyPr/>
          <a:lstStyle/>
          <a:p>
            <a:endParaRPr lang="de-CH"/>
          </a:p>
        </p:txBody>
      </p:sp>
      <p:sp>
        <p:nvSpPr>
          <p:cNvPr id="14" name="Shape 12"/>
          <p:cNvSpPr/>
          <p:nvPr/>
        </p:nvSpPr>
        <p:spPr>
          <a:xfrm>
            <a:off x="777240" y="3154680"/>
            <a:ext cx="73152" cy="1417320"/>
          </a:xfrm>
          <a:prstGeom prst="rect">
            <a:avLst/>
          </a:prstGeom>
          <a:solidFill>
            <a:srgbClr val="E5002B"/>
          </a:solidFill>
          <a:ln w="12700">
            <a:solidFill>
              <a:srgbClr val="E5002B"/>
            </a:solidFill>
            <a:prstDash val="solid"/>
          </a:ln>
        </p:spPr>
        <p:txBody>
          <a:bodyPr/>
          <a:lstStyle/>
          <a:p>
            <a:endParaRPr lang="de-CH"/>
          </a:p>
        </p:txBody>
      </p:sp>
      <p:sp>
        <p:nvSpPr>
          <p:cNvPr id="15" name="Text 13"/>
          <p:cNvSpPr/>
          <p:nvPr/>
        </p:nvSpPr>
        <p:spPr>
          <a:xfrm>
            <a:off x="978408" y="3319272"/>
            <a:ext cx="7260336" cy="320040"/>
          </a:xfrm>
          <a:prstGeom prst="rect">
            <a:avLst/>
          </a:prstGeom>
          <a:noFill/>
          <a:ln/>
        </p:spPr>
        <p:txBody>
          <a:bodyPr wrap="square" lIns="0" tIns="0" rIns="0" bIns="0" rtlCol="0" anchor="ctr"/>
          <a:lstStyle/>
          <a:p>
            <a:pPr marL="0" indent="0">
              <a:buNone/>
            </a:pPr>
            <a:r>
              <a:rPr lang="de-CH" sz="2100" b="1" dirty="0">
                <a:solidFill>
                  <a:srgbClr val="111111"/>
                </a:solidFill>
                <a:latin typeface="Aptos Display" pitchFamily="34" charset="0"/>
                <a:ea typeface="Aptos Display" pitchFamily="34" charset="-122"/>
                <a:cs typeface="Aptos Display" pitchFamily="34" charset="-120"/>
              </a:rPr>
              <a:t>Ergebnis</a:t>
            </a:r>
            <a:endParaRPr lang="de-CH" sz="2100" dirty="0"/>
          </a:p>
        </p:txBody>
      </p:sp>
      <p:sp>
        <p:nvSpPr>
          <p:cNvPr id="16" name="Text 14"/>
          <p:cNvSpPr/>
          <p:nvPr/>
        </p:nvSpPr>
        <p:spPr>
          <a:xfrm>
            <a:off x="978408" y="3749040"/>
            <a:ext cx="7260336" cy="667512"/>
          </a:xfrm>
          <a:prstGeom prst="rect">
            <a:avLst/>
          </a:prstGeom>
          <a:noFill/>
          <a:ln/>
        </p:spPr>
        <p:txBody>
          <a:bodyPr wrap="square" lIns="127" tIns="127" rIns="127" bIns="127" rtlCol="0" anchor="t"/>
          <a:lstStyle/>
          <a:p>
            <a:pPr marL="0" indent="0">
              <a:buNone/>
            </a:pPr>
            <a:r>
              <a:rPr lang="de-CH" sz="1900" dirty="0">
                <a:solidFill>
                  <a:srgbClr val="252525"/>
                </a:solidFill>
                <a:latin typeface="Aptos" pitchFamily="34" charset="0"/>
                <a:ea typeface="Aptos" pitchFamily="34" charset="-122"/>
                <a:cs typeface="Aptos" pitchFamily="34" charset="-120"/>
              </a:rPr>
              <a:t>Ein umfangreicher, getesteter, dokumentierter und reproduzierbarer Datenbankkern für zentrale Bereiche von Swiss Table Tennis.</a:t>
            </a:r>
            <a:endParaRPr lang="de-CH" sz="1900" dirty="0"/>
          </a:p>
        </p:txBody>
      </p:sp>
      <p:sp>
        <p:nvSpPr>
          <p:cNvPr id="17" name="Text 15"/>
          <p:cNvSpPr/>
          <p:nvPr/>
        </p:nvSpPr>
        <p:spPr>
          <a:xfrm>
            <a:off x="822960" y="4983480"/>
            <a:ext cx="2194560" cy="502920"/>
          </a:xfrm>
          <a:prstGeom prst="rect">
            <a:avLst/>
          </a:prstGeom>
          <a:noFill/>
          <a:ln/>
        </p:spPr>
        <p:txBody>
          <a:bodyPr wrap="square" lIns="0" tIns="0" rIns="0" bIns="0" rtlCol="0" anchor="ctr"/>
          <a:lstStyle/>
          <a:p>
            <a:pPr marL="0" indent="0">
              <a:buNone/>
            </a:pPr>
            <a:r>
              <a:rPr lang="de-CH" sz="2800" b="1" dirty="0">
                <a:solidFill>
                  <a:srgbClr val="111111"/>
                </a:solidFill>
                <a:latin typeface="Aptos Display" pitchFamily="34" charset="0"/>
                <a:ea typeface="Aptos Display" pitchFamily="34" charset="-122"/>
                <a:cs typeface="Aptos Display" pitchFamily="34" charset="-120"/>
              </a:rPr>
              <a:t>Fragen?</a:t>
            </a:r>
            <a:endParaRPr lang="de-CH" sz="2800" dirty="0"/>
          </a:p>
        </p:txBody>
      </p:sp>
      <p:sp>
        <p:nvSpPr>
          <p:cNvPr id="18" name="Text 16"/>
          <p:cNvSpPr/>
          <p:nvPr/>
        </p:nvSpPr>
        <p:spPr>
          <a:xfrm>
            <a:off x="3657600" y="5102352"/>
            <a:ext cx="4572000" cy="310896"/>
          </a:xfrm>
          <a:prstGeom prst="rect">
            <a:avLst/>
          </a:prstGeom>
          <a:noFill/>
          <a:ln/>
        </p:spPr>
        <p:txBody>
          <a:bodyPr wrap="square" lIns="0" tIns="0" rIns="0" bIns="0" rtlCol="0" anchor="ctr"/>
          <a:lstStyle/>
          <a:p>
            <a:pPr marL="0" indent="0" algn="r">
              <a:buNone/>
            </a:pPr>
            <a:r>
              <a:rPr lang="de-CH" sz="1500" dirty="0">
                <a:solidFill>
                  <a:srgbClr val="E5002B"/>
                </a:solidFill>
                <a:latin typeface="Aptos" pitchFamily="34" charset="0"/>
                <a:ea typeface="Aptos" pitchFamily="34" charset="-122"/>
                <a:cs typeface="Aptos" pitchFamily="34" charset="-120"/>
              </a:rPr>
              <a:t>github.com/19boboy97/STT-DB_Modularbeit2</a:t>
            </a:r>
            <a:endParaRPr lang="de-CH" sz="1500" dirty="0"/>
          </a:p>
        </p:txBody>
      </p:sp>
      <p:sp>
        <p:nvSpPr>
          <p:cNvPr id="25" name="Slide Number Placeholder 0"/>
          <p:cNvSpPr>
            <a:spLocks noGrp="1"/>
          </p:cNvSpPr>
          <p:nvPr>
            <p:ph type="sldNum" sz="quarter" idx="4294967295"/>
          </p:nvPr>
        </p:nvSpPr>
        <p:spPr>
          <a:xfrm>
            <a:off x="8796528"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lang="de-CH" sz="900">
                <a:solidFill>
                  <a:srgbClr val="777777"/>
                </a:solidFill>
                <a:latin typeface="Aptos"/>
                <a:ea typeface="Aptos"/>
                <a:cs typeface="Aptos"/>
              </a:defRPr>
            </a:lvl1pPr>
          </a:lstStyle>
          <a:p>
            <a:pPr algn="l"/>
            <a:fld id="{F7021451-1387-4CA6-816F-3879F97B5CBC}" type="slidenum">
              <a:rPr lang="de-CH" b="0"/>
              <a:t>11</a:t>
            </a:fld>
            <a:endParaRPr lang="de-CH"/>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1877</Words>
  <Application>Microsoft Office PowerPoint</Application>
  <PresentationFormat>Bildschirmpräsentation (4:3)</PresentationFormat>
  <Paragraphs>276</Paragraphs>
  <Slides>11</Slides>
  <Notes>11</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11</vt:i4>
      </vt:variant>
    </vt:vector>
  </HeadingPairs>
  <TitlesOfParts>
    <vt:vector size="15" baseType="lpstr">
      <vt:lpstr>Aptos</vt:lpstr>
      <vt:lpstr>Aptos Display</vt:lpstr>
      <vt:lpstr>Arial</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STT-DB Modulararbeit 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STT-DB – Relationale Datenbank für Swiss Table Tennis</dc:title>
  <dc:subject>STT-DB Modulararbeit II</dc:subject>
  <dc:creator>Christian Abbühl</dc:creator>
  <cp:lastModifiedBy>christian abbühl</cp:lastModifiedBy>
  <cp:revision>2</cp:revision>
  <dcterms:created xsi:type="dcterms:W3CDTF">2026-09-07T18:22:51Z</dcterms:created>
  <dcterms:modified xsi:type="dcterms:W3CDTF">2026-09-07T19:11:41Z</dcterms:modified>
</cp:coreProperties>
</file>